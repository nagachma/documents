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</p:sldIdLst>
  <p:sldSz cx="7772400" cy="10058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1F6E77-8877-45D9-A8DE-892C25E5AA6C}" v="2" dt="2023-12-01T12:53:27.2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7158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1216" y="-14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microsoft.com/office/2015/10/relationships/revisionInfo" Target="revisionInfo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llela, Nagababu" userId="3d08fe6f-58a6-4128-aff7-2b718f1945c7" providerId="ADAL" clId="{2F1F6E77-8877-45D9-A8DE-892C25E5AA6C}"/>
    <pc:docChg chg="modSld">
      <pc:chgData name="Mallela, Nagababu" userId="3d08fe6f-58a6-4128-aff7-2b718f1945c7" providerId="ADAL" clId="{2F1F6E77-8877-45D9-A8DE-892C25E5AA6C}" dt="2023-12-01T12:53:27.251" v="1" actId="20578"/>
      <pc:docMkLst>
        <pc:docMk/>
      </pc:docMkLst>
      <pc:sldChg chg="modSp">
        <pc:chgData name="Mallela, Nagababu" userId="3d08fe6f-58a6-4128-aff7-2b718f1945c7" providerId="ADAL" clId="{2F1F6E77-8877-45D9-A8DE-892C25E5AA6C}" dt="2023-12-01T12:53:27.251" v="1" actId="20578"/>
        <pc:sldMkLst>
          <pc:docMk/>
          <pc:sldMk cId="0" sldId="273"/>
        </pc:sldMkLst>
        <pc:spChg chg="mod">
          <ac:chgData name="Mallela, Nagababu" userId="3d08fe6f-58a6-4128-aff7-2b718f1945c7" providerId="ADAL" clId="{2F1F6E77-8877-45D9-A8DE-892C25E5AA6C}" dt="2023-12-01T12:53:27.251" v="1" actId="20578"/>
          <ac:spMkLst>
            <pc:docMk/>
            <pc:sldMk cId="0" sldId="273"/>
            <ac:spMk id="14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56DD26-32A4-2A43-990A-6F7E5E73786E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hyperlink" Target="http://technet.microsoft.com/en-us/library/ms184364.aspx" TargetMode="External"/><Relationship Id="rId3" Type="http://schemas.openxmlformats.org/officeDocument/2006/relationships/hyperlink" Target="http://technet.microsoft.com/en-us/library/ms179873.aspx" TargetMode="External"/><Relationship Id="rId7" Type="http://schemas.openxmlformats.org/officeDocument/2006/relationships/hyperlink" Target="http://technet.microsoft.com/en-us/library/ms189808.aspx" TargetMode="External"/><Relationship Id="rId2" Type="http://schemas.openxmlformats.org/officeDocument/2006/relationships/hyperlink" Target="http://technet.microsoft.com/en-us/library/ms178590.aspx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technet.microsoft.com/en-us/library/ms190296.aspx" TargetMode="External"/><Relationship Id="rId5" Type="http://schemas.openxmlformats.org/officeDocument/2006/relationships/hyperlink" Target="http://technet.microsoft.com/en-us/library/ms174978.aspx" TargetMode="External"/><Relationship Id="rId4" Type="http://schemas.openxmlformats.org/officeDocument/2006/relationships/hyperlink" Target="http://technet.microsoft.com/en-us/library/ms181567.aspx" TargetMode="Externa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bakings.com/sqldatabase/SQLTCLCommands.aspx" TargetMode="Externa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bakings.com/sqldatabase/SQLTCLCommands.aspx" TargetMode="Externa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hyperlink" Target="http://databases.about.com/library/glossary/bldef-column.htm" TargetMode="Externa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hyperlink" Target="http://databases.about.com/library/glossary/bldef-primarykey.htm" TargetMode="External"/><Relationship Id="rId2" Type="http://schemas.openxmlformats.org/officeDocument/2006/relationships/hyperlink" Target="http://databases.about.com/library/glossary/bldef-row.htm" TargetMode="Externa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0"/>
          <p:cNvSpPr txBox="1"/>
          <p:nvPr/>
        </p:nvSpPr>
        <p:spPr>
          <a:xfrm>
            <a:off x="1702561" y="3682687"/>
            <a:ext cx="4380346" cy="8883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400936">
              <a:lnSpc>
                <a:spcPct val="100000"/>
              </a:lnSpc>
            </a:pPr>
            <a:r>
              <a:rPr lang="en-US" altLang="zh-CN" sz="20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ICROSOFT</a:t>
            </a:r>
          </a:p>
          <a:p>
            <a:pPr>
              <a:lnSpc>
                <a:spcPts val="123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2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SQL</a:t>
            </a:r>
            <a:r>
              <a:rPr lang="en-US" altLang="zh-CN" sz="2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SERVER</a:t>
            </a:r>
            <a:r>
              <a:rPr lang="en-US" altLang="zh-CN" sz="28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NOTES-2014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704" y="905578"/>
            <a:ext cx="5856254" cy="75778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341069">
              <a:lnSpc>
                <a:spcPct val="100000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INTRODUCTION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DBMS</a:t>
            </a:r>
          </a:p>
          <a:p>
            <a:pPr>
              <a:lnSpc>
                <a:spcPts val="1105"/>
              </a:lnSpc>
            </a:pPr>
            <a:endParaRPr lang="en-US" dirty="0"/>
          </a:p>
          <a:p>
            <a:pPr marL="0" hangingPunct="0">
              <a:lnSpc>
                <a:spcPct val="110416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Why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DBMS: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Human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needs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increased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tremendously.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people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doing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composite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tasks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before.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society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become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complex.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person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huge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amount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information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every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day.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order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enormous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information,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system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manipulate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share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information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world.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reasons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introducing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Management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Systems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(DBMS)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well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Management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Systems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(RDBMS)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now-a-days.</a:t>
            </a:r>
          </a:p>
          <a:p>
            <a:pPr>
              <a:lnSpc>
                <a:spcPts val="1039"/>
              </a:lnSpc>
            </a:pPr>
            <a:endParaRPr lang="en-US" dirty="0"/>
          </a:p>
          <a:p>
            <a:pPr marL="0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clear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manipulate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information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various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storing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various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information.</a:t>
            </a:r>
          </a:p>
          <a:p>
            <a:pPr>
              <a:lnSpc>
                <a:spcPts val="108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a:</a:t>
            </a:r>
          </a:p>
          <a:p>
            <a:pPr>
              <a:lnSpc>
                <a:spcPts val="1150"/>
              </a:lnSpc>
            </a:pPr>
            <a:endParaRPr lang="en-US" dirty="0"/>
          </a:p>
          <a:p>
            <a:pPr marL="457149" indent="-228549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Whatever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inputting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keyboard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known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Data.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RAWFACTS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FIGURES</a:t>
            </a:r>
          </a:p>
          <a:p>
            <a:pPr marL="0" indent="228600">
              <a:lnSpc>
                <a:spcPct val="100000"/>
              </a:lnSpc>
              <a:spcBef>
                <a:spcPts val="10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9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never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provides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meaning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</a:t>
            </a:r>
          </a:p>
          <a:p>
            <a:pPr>
              <a:lnSpc>
                <a:spcPts val="115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Info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rmation:</a:t>
            </a:r>
          </a:p>
          <a:p>
            <a:pPr>
              <a:lnSpc>
                <a:spcPts val="123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2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Processed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known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Information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2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Information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always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gives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meaning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Data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base:</a:t>
            </a:r>
          </a:p>
          <a:p>
            <a:pPr>
              <a:lnSpc>
                <a:spcPts val="1130"/>
              </a:lnSpc>
            </a:pPr>
            <a:endParaRPr lang="en-US" dirty="0"/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2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Collection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information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belongs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particular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topic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(an</a:t>
            </a:r>
            <a:r>
              <a:rPr lang="en-US" altLang="zh-CN" sz="1400" spc="-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organization)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written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predetermined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manner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particular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place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atabase.</a:t>
            </a:r>
          </a:p>
          <a:p>
            <a:pPr>
              <a:lnSpc>
                <a:spcPts val="110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DBMS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(Data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Base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Management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System):</a:t>
            </a:r>
          </a:p>
          <a:p>
            <a:pPr>
              <a:lnSpc>
                <a:spcPts val="1130"/>
              </a:lnSpc>
            </a:pPr>
            <a:endParaRPr lang="en-US" dirty="0"/>
          </a:p>
          <a:p>
            <a:pPr marL="457149" indent="-228549" hangingPunct="0">
              <a:lnSpc>
                <a:spcPct val="110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8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software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present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inside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database,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maintain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manage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704" y="905891"/>
            <a:ext cx="5992093" cy="60813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Types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of</a:t>
            </a:r>
            <a:r>
              <a:rPr lang="en-US" altLang="zh-CN" sz="18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DBMS:</a:t>
            </a:r>
          </a:p>
          <a:p>
            <a:pPr>
              <a:lnSpc>
                <a:spcPts val="123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1)</a:t>
            </a:r>
            <a:r>
              <a:rPr lang="en-US" altLang="zh-CN" sz="1400" b="1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FMS</a:t>
            </a:r>
            <a:r>
              <a:rPr lang="en-US" altLang="zh-CN" sz="1400" b="1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400" b="1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FDMS</a:t>
            </a:r>
            <a:r>
              <a:rPr lang="en-US" altLang="zh-CN" sz="1400" b="1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(File</a:t>
            </a:r>
            <a:r>
              <a:rPr lang="en-US" altLang="zh-CN" sz="1400" b="1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Management</a:t>
            </a:r>
            <a:r>
              <a:rPr lang="en-US" altLang="zh-CN" sz="1400" b="1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System</a:t>
            </a:r>
            <a:r>
              <a:rPr lang="en-US" altLang="zh-CN" sz="1400" b="1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/File</a:t>
            </a:r>
            <a:r>
              <a:rPr lang="en-US" altLang="zh-CN" sz="1400" b="1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Management</a:t>
            </a:r>
            <a:r>
              <a:rPr lang="en-US" altLang="zh-CN" sz="1400" b="1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Sys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tem):</a:t>
            </a:r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8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first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model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released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market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1950‟s.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model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there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always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arranged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continue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stream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(or)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sequential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fashion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(or)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manner.</a:t>
            </a:r>
          </a:p>
          <a:p>
            <a:pPr>
              <a:lnSpc>
                <a:spcPts val="1094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Di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sadvantages:</a:t>
            </a:r>
          </a:p>
          <a:p>
            <a:pPr>
              <a:lnSpc>
                <a:spcPts val="1085"/>
              </a:lnSpc>
            </a:pPr>
            <a:endParaRPr lang="en-US" dirty="0"/>
          </a:p>
          <a:p>
            <a:pPr marL="457149" indent="-228549" hangingPunct="0">
              <a:lnSpc>
                <a:spcPct val="110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8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Main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disadvantage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model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whenever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need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retrieve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searching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beginning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so,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automatically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leads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increases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searching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time.</a:t>
            </a:r>
          </a:p>
          <a:p>
            <a:pPr marL="0" indent="228600">
              <a:lnSpc>
                <a:spcPct val="100000"/>
              </a:lnSpc>
            </a:pPr>
            <a:r>
              <a:rPr lang="en-US" altLang="zh-CN" sz="1400" spc="-6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6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spc="-35" dirty="0">
                <a:solidFill>
                  <a:srgbClr val="000000"/>
                </a:solidFill>
                <a:latin typeface="Times New Roman"/>
                <a:ea typeface="Times New Roman"/>
              </a:rPr>
              <a:t>Costly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35" dirty="0">
                <a:solidFill>
                  <a:srgbClr val="000000"/>
                </a:solidFill>
                <a:latin typeface="Times New Roman"/>
                <a:ea typeface="Times New Roman"/>
              </a:rPr>
              <a:t>maintains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40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Required</a:t>
            </a:r>
            <a:r>
              <a:rPr lang="en-US" altLang="zh-CN" sz="1400" spc="-1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more</a:t>
            </a:r>
            <a:r>
              <a:rPr lang="en-US" altLang="zh-CN" sz="1400" spc="-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</a:t>
            </a:r>
            <a:r>
              <a:rPr lang="en-US" altLang="zh-CN" sz="1400" spc="-10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power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40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There</a:t>
            </a:r>
            <a:r>
              <a:rPr lang="en-US" altLang="zh-CN" sz="1400" spc="-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1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</a:t>
            </a:r>
            <a:r>
              <a:rPr lang="en-US" altLang="zh-CN" sz="1400" spc="-1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security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2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2)</a:t>
            </a:r>
            <a:r>
              <a:rPr lang="en-US" altLang="zh-CN" sz="1400" b="1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HMS/HDMS</a:t>
            </a:r>
            <a:r>
              <a:rPr lang="en-US" altLang="zh-CN" sz="1400" b="1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(Hierarchy</a:t>
            </a:r>
            <a:r>
              <a:rPr lang="en-US" altLang="zh-CN" sz="1400" b="1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Management</a:t>
            </a:r>
            <a:r>
              <a:rPr lang="en-US" altLang="zh-CN" sz="1400" b="1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System</a:t>
            </a:r>
            <a:r>
              <a:rPr lang="en-US" altLang="zh-CN" sz="1400" b="1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400" b="1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Hierarchy</a:t>
            </a:r>
            <a:r>
              <a:rPr lang="en-US" altLang="zh-CN" sz="1400" b="1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Management</a:t>
            </a:r>
            <a:r>
              <a:rPr lang="en-US" altLang="zh-CN" sz="1400" b="1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System):</a:t>
            </a:r>
          </a:p>
          <a:p>
            <a:pPr marL="0" indent="228600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2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model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developed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IBM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1960‟s,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they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developed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</a:p>
          <a:p>
            <a:pPr marL="0" indent="457149">
              <a:lnSpc>
                <a:spcPct val="100000"/>
              </a:lnSpc>
              <a:spcBef>
                <a:spcPts val="17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project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IMS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(Information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Management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System)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6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model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always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arranged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form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tree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structure</a:t>
            </a:r>
            <a:r>
              <a:rPr lang="en-US" altLang="zh-CN" sz="1400" spc="-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different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levels</a:t>
            </a:r>
          </a:p>
          <a:p>
            <a:pPr marL="0" indent="228600">
              <a:lnSpc>
                <a:spcPct val="10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8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top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level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root.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zh-CN" sz="900" dirty="0">
                <a:solidFill>
                  <a:srgbClr val="000000"/>
                </a:solidFill>
                <a:latin typeface="Times New Roman"/>
                <a:ea typeface="Times New Roman"/>
              </a:rPr>
              <a:t>nd</a:t>
            </a:r>
            <a:r>
              <a:rPr lang="en-US" altLang="zh-CN" sz="9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,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r>
              <a:rPr lang="en-US" altLang="zh-CN" sz="900" dirty="0">
                <a:solidFill>
                  <a:srgbClr val="000000"/>
                </a:solidFill>
                <a:latin typeface="Times New Roman"/>
                <a:ea typeface="Times New Roman"/>
              </a:rPr>
              <a:t>rd</a:t>
            </a:r>
            <a:r>
              <a:rPr lang="en-US" altLang="zh-CN" sz="9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parent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</a:p>
          <a:p>
            <a:pPr marL="0" indent="457149">
              <a:lnSpc>
                <a:spcPct val="100000"/>
              </a:lnSpc>
              <a:spcBef>
                <a:spcPts val="21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child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levels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respectively</a:t>
            </a:r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8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main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advantage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model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easily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retrieve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without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wasting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much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</a:p>
        </p:txBody>
      </p:sp>
      <p:graphicFrame>
        <p:nvGraphicFramePr>
          <p:cNvPr id="3" name="object 2"/>
          <p:cNvGraphicFramePr>
            <a:graphicFrameLocks noGrp="1"/>
          </p:cNvGraphicFramePr>
          <p:nvPr/>
        </p:nvGraphicFramePr>
        <p:xfrm>
          <a:off x="1285875" y="7197090"/>
          <a:ext cx="4857750" cy="17525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6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765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ts val="440"/>
                        </a:lnSpc>
                      </a:pPr>
                      <a:endParaRPr lang="en-US" dirty="0"/>
                    </a:p>
                    <a:p>
                      <a:pPr marL="0" indent="309626">
                        <a:lnSpc>
                          <a:spcPct val="100000"/>
                        </a:lnSpc>
                      </a:pPr>
                      <a:r>
                        <a:rPr lang="en-US" altLang="zh-CN" sz="1100" b="1" spc="-3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RO</a:t>
                      </a:r>
                      <a:r>
                        <a:rPr lang="en-US" altLang="zh-CN" sz="1100" b="1" spc="-2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OT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70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265">
                <a:tc gridSpan="7">
                  <a:txBody>
                    <a:bodyPr/>
                    <a:lstStyle/>
                    <a:p>
                      <a:pPr marL="0" indent="351154">
                        <a:lnSpc>
                          <a:spcPct val="100000"/>
                        </a:lnSpc>
                        <a:spcBef>
                          <a:spcPts val="365"/>
                        </a:spcBef>
                        <a:tabLst>
                          <a:tab pos="1770379" algn="l"/>
                          <a:tab pos="3294634" algn="l"/>
                        </a:tabLst>
                      </a:pPr>
                      <a:r>
                        <a:rPr lang="en-US" altLang="zh-CN" sz="1100" b="1" spc="-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Parent	Parent	</a:t>
                      </a:r>
                      <a:r>
                        <a:rPr lang="en-US" altLang="zh-CN" sz="1100" b="1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Parent</a:t>
                      </a: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ts val="440"/>
                        </a:lnSpc>
                      </a:pPr>
                      <a:endParaRPr lang="en-US" dirty="0"/>
                    </a:p>
                    <a:p>
                      <a:pPr marL="0" indent="404876">
                        <a:lnSpc>
                          <a:spcPct val="100000"/>
                        </a:lnSpc>
                      </a:pPr>
                      <a:r>
                        <a:rPr lang="en-US" altLang="zh-CN" sz="1100" b="1" spc="-2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Ch</a:t>
                      </a:r>
                      <a:r>
                        <a:rPr lang="en-US" altLang="zh-CN" sz="1100" b="1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ild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89"/>
                        </a:lnSpc>
                      </a:pPr>
                      <a:endParaRPr lang="en-US" dirty="0"/>
                    </a:p>
                    <a:p>
                      <a:pPr marL="0" indent="372745">
                        <a:lnSpc>
                          <a:spcPct val="100000"/>
                        </a:lnSpc>
                      </a:pPr>
                      <a:r>
                        <a:rPr lang="en-US" altLang="zh-CN" sz="1100" b="1" spc="-2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Ch</a:t>
                      </a:r>
                      <a:r>
                        <a:rPr lang="en-US" altLang="zh-CN" sz="1100" b="1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ild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1539494" y="7902193"/>
            <a:ext cx="1178305" cy="403605"/>
          </a:xfrm>
          <a:custGeom>
            <a:avLst/>
            <a:gdLst>
              <a:gd name="connsiteX0" fmla="*/ 13080 w 1178305"/>
              <a:gd name="connsiteY0" fmla="*/ 409321 h 403605"/>
              <a:gd name="connsiteX1" fmla="*/ 1184655 w 1178305"/>
              <a:gd name="connsiteY1" fmla="*/ 409321 h 403605"/>
              <a:gd name="connsiteX2" fmla="*/ 1184655 w 1178305"/>
              <a:gd name="connsiteY2" fmla="*/ 18796 h 403605"/>
              <a:gd name="connsiteX3" fmla="*/ 13080 w 1178305"/>
              <a:gd name="connsiteY3" fmla="*/ 18796 h 403605"/>
              <a:gd name="connsiteX4" fmla="*/ 13080 w 1178305"/>
              <a:gd name="connsiteY4" fmla="*/ 409321 h 403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8305" h="403605">
                <a:moveTo>
                  <a:pt x="13080" y="409321"/>
                </a:moveTo>
                <a:lnTo>
                  <a:pt x="1184655" y="409321"/>
                </a:lnTo>
                <a:lnTo>
                  <a:pt x="1184655" y="18796"/>
                </a:lnTo>
                <a:lnTo>
                  <a:pt x="13080" y="18796"/>
                </a:lnTo>
                <a:lnTo>
                  <a:pt x="13080" y="40932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539494" y="8702293"/>
            <a:ext cx="1178305" cy="403605"/>
          </a:xfrm>
          <a:custGeom>
            <a:avLst/>
            <a:gdLst>
              <a:gd name="connsiteX0" fmla="*/ 13080 w 1178305"/>
              <a:gd name="connsiteY0" fmla="*/ 409321 h 403605"/>
              <a:gd name="connsiteX1" fmla="*/ 1184655 w 1178305"/>
              <a:gd name="connsiteY1" fmla="*/ 409321 h 403605"/>
              <a:gd name="connsiteX2" fmla="*/ 1184655 w 1178305"/>
              <a:gd name="connsiteY2" fmla="*/ 18796 h 403605"/>
              <a:gd name="connsiteX3" fmla="*/ 13080 w 1178305"/>
              <a:gd name="connsiteY3" fmla="*/ 18796 h 403605"/>
              <a:gd name="connsiteX4" fmla="*/ 13080 w 1178305"/>
              <a:gd name="connsiteY4" fmla="*/ 409321 h 403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8305" h="403605">
                <a:moveTo>
                  <a:pt x="13080" y="409321"/>
                </a:moveTo>
                <a:lnTo>
                  <a:pt x="1184655" y="409321"/>
                </a:lnTo>
                <a:lnTo>
                  <a:pt x="1184655" y="18796"/>
                </a:lnTo>
                <a:lnTo>
                  <a:pt x="13080" y="18796"/>
                </a:lnTo>
                <a:lnTo>
                  <a:pt x="13080" y="409321"/>
                </a:lnTo>
                <a:close/>
              </a:path>
            </a:pathLst>
          </a:custGeom>
          <a:solidFill>
            <a:srgbClr val="00005A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3596894" y="8702293"/>
            <a:ext cx="1178305" cy="403605"/>
          </a:xfrm>
          <a:custGeom>
            <a:avLst/>
            <a:gdLst>
              <a:gd name="connsiteX0" fmla="*/ 13080 w 1178305"/>
              <a:gd name="connsiteY0" fmla="*/ 409321 h 403605"/>
              <a:gd name="connsiteX1" fmla="*/ 1184655 w 1178305"/>
              <a:gd name="connsiteY1" fmla="*/ 409321 h 403605"/>
              <a:gd name="connsiteX2" fmla="*/ 1184655 w 1178305"/>
              <a:gd name="connsiteY2" fmla="*/ 18796 h 403605"/>
              <a:gd name="connsiteX3" fmla="*/ 13080 w 1178305"/>
              <a:gd name="connsiteY3" fmla="*/ 18796 h 403605"/>
              <a:gd name="connsiteX4" fmla="*/ 13080 w 1178305"/>
              <a:gd name="connsiteY4" fmla="*/ 409321 h 403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8305" h="403605">
                <a:moveTo>
                  <a:pt x="13080" y="409321"/>
                </a:moveTo>
                <a:lnTo>
                  <a:pt x="1184655" y="409321"/>
                </a:lnTo>
                <a:lnTo>
                  <a:pt x="1184655" y="18796"/>
                </a:lnTo>
                <a:lnTo>
                  <a:pt x="13080" y="18796"/>
                </a:lnTo>
                <a:lnTo>
                  <a:pt x="13080" y="40932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3596894" y="7902193"/>
            <a:ext cx="1178305" cy="403605"/>
          </a:xfrm>
          <a:custGeom>
            <a:avLst/>
            <a:gdLst>
              <a:gd name="connsiteX0" fmla="*/ 13080 w 1178305"/>
              <a:gd name="connsiteY0" fmla="*/ 409321 h 403605"/>
              <a:gd name="connsiteX1" fmla="*/ 1184655 w 1178305"/>
              <a:gd name="connsiteY1" fmla="*/ 409321 h 403605"/>
              <a:gd name="connsiteX2" fmla="*/ 1184655 w 1178305"/>
              <a:gd name="connsiteY2" fmla="*/ 18796 h 403605"/>
              <a:gd name="connsiteX3" fmla="*/ 13080 w 1178305"/>
              <a:gd name="connsiteY3" fmla="*/ 18796 h 403605"/>
              <a:gd name="connsiteX4" fmla="*/ 13080 w 1178305"/>
              <a:gd name="connsiteY4" fmla="*/ 409321 h 403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8305" h="403605">
                <a:moveTo>
                  <a:pt x="13080" y="409321"/>
                </a:moveTo>
                <a:lnTo>
                  <a:pt x="1184655" y="409321"/>
                </a:lnTo>
                <a:lnTo>
                  <a:pt x="1184655" y="18796"/>
                </a:lnTo>
                <a:lnTo>
                  <a:pt x="13080" y="18796"/>
                </a:lnTo>
                <a:lnTo>
                  <a:pt x="13080" y="40932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680" y="8031480"/>
            <a:ext cx="762000" cy="9906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680" y="8869680"/>
            <a:ext cx="762000" cy="83820"/>
          </a:xfrm>
          <a:prstGeom prst="rect">
            <a:avLst/>
          </a:prstGeom>
        </p:spPr>
      </p:pic>
      <p:sp>
        <p:nvSpPr>
          <p:cNvPr id="2" name="TextBox 10"/>
          <p:cNvSpPr txBox="1"/>
          <p:nvPr/>
        </p:nvSpPr>
        <p:spPr>
          <a:xfrm>
            <a:off x="914704" y="907727"/>
            <a:ext cx="5898431" cy="68662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228600">
              <a:lnSpc>
                <a:spcPct val="100000"/>
              </a:lnSpc>
            </a:pPr>
            <a:r>
              <a:rPr lang="en-US" altLang="zh-CN" sz="16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Drawb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ack:</a:t>
            </a:r>
          </a:p>
          <a:p>
            <a:pPr>
              <a:lnSpc>
                <a:spcPts val="1194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6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person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share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simultaneously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spc="-9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0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ea typeface="Times New Roman"/>
              </a:rPr>
              <a:t>No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45" dirty="0">
                <a:solidFill>
                  <a:srgbClr val="000000"/>
                </a:solidFill>
                <a:latin typeface="Times New Roman"/>
                <a:ea typeface="Times New Roman"/>
              </a:rPr>
              <a:t>security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14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3)</a:t>
            </a:r>
            <a:r>
              <a:rPr lang="en-US" altLang="zh-CN" sz="1400" b="1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NDBMS</a:t>
            </a:r>
            <a:r>
              <a:rPr lang="en-US" altLang="zh-CN" sz="1400" b="1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(Network</a:t>
            </a:r>
            <a:r>
              <a:rPr lang="en-US" altLang="zh-CN" sz="1400" b="1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b="1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Management</a:t>
            </a:r>
            <a:r>
              <a:rPr lang="en-US" altLang="zh-CN" sz="1400" b="1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System):</a:t>
            </a:r>
          </a:p>
          <a:p>
            <a:pPr marL="0" indent="228600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model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developed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IBM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1969,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developing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project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IMS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(Information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Management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System)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9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model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developed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Operating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System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</a:p>
          <a:p>
            <a:pPr marL="0" indent="457149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MULTICS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(Multiplex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Information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Computing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System)</a:t>
            </a:r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8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main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advantage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model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more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person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share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concurrently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(Simultaneously)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6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Di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sadvantage:</a:t>
            </a:r>
          </a:p>
          <a:p>
            <a:pPr>
              <a:lnSpc>
                <a:spcPts val="118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4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There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proper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security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centralized</a:t>
            </a:r>
            <a:r>
              <a:rPr lang="en-US" altLang="zh-CN" sz="1400" spc="-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</a:p>
          <a:p>
            <a:pPr marL="0" indent="228600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2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Redundancy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increased</a:t>
            </a:r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9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occupies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memory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leads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decrease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system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performance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increase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inconsistency.</a:t>
            </a:r>
          </a:p>
          <a:p>
            <a:pPr>
              <a:lnSpc>
                <a:spcPts val="194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4)</a:t>
            </a:r>
            <a:r>
              <a:rPr lang="en-US" altLang="zh-CN" sz="1400" b="1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RDMS</a:t>
            </a:r>
            <a:r>
              <a:rPr lang="en-US" altLang="zh-CN" sz="1400" b="1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(Relational</a:t>
            </a:r>
            <a:r>
              <a:rPr lang="en-US" altLang="zh-CN" sz="1400" b="1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b="1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Management</a:t>
            </a:r>
            <a:r>
              <a:rPr lang="en-US" altLang="zh-CN" sz="1400" b="1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System):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8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model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developed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German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scientist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Mr.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EF.CODD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1970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0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Here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defined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commonness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between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objects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relations</a:t>
            </a:r>
          </a:p>
          <a:p>
            <a:pPr marL="0" indent="457149">
              <a:lnSpc>
                <a:spcPct val="10000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classified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</a:t>
            </a:r>
          </a:p>
          <a:p>
            <a:pPr marL="0" indent="685749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spc="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</a:t>
            </a:r>
          </a:p>
          <a:p>
            <a:pPr marL="0" indent="685749">
              <a:lnSpc>
                <a:spcPts val="1720"/>
              </a:lnSpc>
              <a:spcBef>
                <a:spcPts val="23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spc="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</a:t>
            </a:r>
          </a:p>
          <a:p>
            <a:pPr marL="0" indent="685749">
              <a:lnSpc>
                <a:spcPts val="172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Many</a:t>
            </a:r>
            <a:r>
              <a:rPr lang="en-US" altLang="zh-CN" sz="1400" spc="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</a:t>
            </a:r>
          </a:p>
          <a:p>
            <a:pPr>
              <a:lnSpc>
                <a:spcPts val="121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One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–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One</a:t>
            </a:r>
            <a:r>
              <a:rPr lang="en-US" altLang="zh-CN" sz="1600" b="1" u="sng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relationship:</a:t>
            </a:r>
          </a:p>
          <a:p>
            <a:pPr>
              <a:lnSpc>
                <a:spcPts val="120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9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relationship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object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relationship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another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object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09242" y="7987030"/>
            <a:ext cx="554480" cy="967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94487">
              <a:lnSpc>
                <a:spcPct val="100000"/>
              </a:lnSpc>
            </a:pPr>
            <a:r>
              <a:rPr lang="en-US" altLang="zh-CN" sz="1100" b="1" spc="-10" dirty="0">
                <a:solidFill>
                  <a:srgbClr val="000000"/>
                </a:solidFill>
                <a:latin typeface="Calibri"/>
                <a:ea typeface="Calibri"/>
              </a:rPr>
              <a:t>EMP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9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100" b="1" spc="-10" dirty="0">
                <a:solidFill>
                  <a:srgbClr val="000000"/>
                </a:solidFill>
                <a:latin typeface="Calibri"/>
                <a:ea typeface="Calibri"/>
              </a:rPr>
              <a:t>STU</a:t>
            </a:r>
            <a:r>
              <a:rPr lang="en-US" altLang="zh-CN" sz="1100" b="1" dirty="0">
                <a:solidFill>
                  <a:srgbClr val="000000"/>
                </a:solidFill>
                <a:latin typeface="Calibri"/>
                <a:ea typeface="Calibri"/>
              </a:rPr>
              <a:t>DENT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961510" y="7987030"/>
            <a:ext cx="532967" cy="967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0479">
              <a:lnSpc>
                <a:spcPct val="100000"/>
              </a:lnSpc>
            </a:pPr>
            <a:r>
              <a:rPr lang="en-US" altLang="zh-CN" sz="1100" b="1" spc="-5" dirty="0">
                <a:solidFill>
                  <a:srgbClr val="000000"/>
                </a:solidFill>
                <a:latin typeface="Calibri"/>
                <a:ea typeface="Calibri"/>
              </a:rPr>
              <a:t>EM</a:t>
            </a:r>
            <a:r>
              <a:rPr lang="en-US" altLang="zh-CN" sz="1100" b="1" dirty="0">
                <a:solidFill>
                  <a:srgbClr val="000000"/>
                </a:solidFill>
                <a:latin typeface="Calibri"/>
                <a:ea typeface="Calibri"/>
              </a:rPr>
              <a:t>PID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9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100" b="1" dirty="0">
                <a:solidFill>
                  <a:srgbClr val="000000"/>
                </a:solidFill>
                <a:latin typeface="Calibri"/>
                <a:ea typeface="Calibri"/>
              </a:rPr>
              <a:t>HALL</a:t>
            </a:r>
            <a:r>
              <a:rPr lang="en-US" altLang="zh-CN" sz="1100" b="1" spc="-5" dirty="0">
                <a:solidFill>
                  <a:srgbClr val="000000"/>
                </a:solidFill>
                <a:latin typeface="Calibri"/>
                <a:ea typeface="Calibri"/>
              </a:rPr>
              <a:t>-NO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3"/>
          <p:cNvSpPr/>
          <p:nvPr/>
        </p:nvSpPr>
        <p:spPr>
          <a:xfrm>
            <a:off x="1196594" y="2428494"/>
            <a:ext cx="1013205" cy="340105"/>
          </a:xfrm>
          <a:custGeom>
            <a:avLst/>
            <a:gdLst>
              <a:gd name="connsiteX0" fmla="*/ 13080 w 1013205"/>
              <a:gd name="connsiteY0" fmla="*/ 349631 h 340105"/>
              <a:gd name="connsiteX1" fmla="*/ 1013205 w 1013205"/>
              <a:gd name="connsiteY1" fmla="*/ 349631 h 340105"/>
              <a:gd name="connsiteX2" fmla="*/ 1013205 w 1013205"/>
              <a:gd name="connsiteY2" fmla="*/ 16256 h 340105"/>
              <a:gd name="connsiteX3" fmla="*/ 13080 w 1013205"/>
              <a:gd name="connsiteY3" fmla="*/ 16256 h 340105"/>
              <a:gd name="connsiteX4" fmla="*/ 13080 w 1013205"/>
              <a:gd name="connsiteY4" fmla="*/ 349631 h 340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3205" h="340105">
                <a:moveTo>
                  <a:pt x="13080" y="349631"/>
                </a:moveTo>
                <a:lnTo>
                  <a:pt x="1013205" y="349631"/>
                </a:lnTo>
                <a:lnTo>
                  <a:pt x="1013205" y="16256"/>
                </a:lnTo>
                <a:lnTo>
                  <a:pt x="13080" y="16256"/>
                </a:lnTo>
                <a:lnTo>
                  <a:pt x="13080" y="3496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2771394" y="3101594"/>
            <a:ext cx="1000505" cy="340105"/>
          </a:xfrm>
          <a:custGeom>
            <a:avLst/>
            <a:gdLst>
              <a:gd name="connsiteX0" fmla="*/ 9905 w 1000505"/>
              <a:gd name="connsiteY0" fmla="*/ 343281 h 340105"/>
              <a:gd name="connsiteX1" fmla="*/ 1010030 w 1000505"/>
              <a:gd name="connsiteY1" fmla="*/ 343281 h 340105"/>
              <a:gd name="connsiteX2" fmla="*/ 1010030 w 1000505"/>
              <a:gd name="connsiteY2" fmla="*/ 9906 h 340105"/>
              <a:gd name="connsiteX3" fmla="*/ 9905 w 1000505"/>
              <a:gd name="connsiteY3" fmla="*/ 9906 h 340105"/>
              <a:gd name="connsiteX4" fmla="*/ 9905 w 1000505"/>
              <a:gd name="connsiteY4" fmla="*/ 343281 h 340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505" h="340105">
                <a:moveTo>
                  <a:pt x="9905" y="343281"/>
                </a:moveTo>
                <a:lnTo>
                  <a:pt x="1010030" y="343281"/>
                </a:lnTo>
                <a:lnTo>
                  <a:pt x="1010030" y="9906"/>
                </a:lnTo>
                <a:lnTo>
                  <a:pt x="9905" y="9906"/>
                </a:lnTo>
                <a:lnTo>
                  <a:pt x="9905" y="34328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2771394" y="2428494"/>
            <a:ext cx="1000505" cy="340105"/>
          </a:xfrm>
          <a:custGeom>
            <a:avLst/>
            <a:gdLst>
              <a:gd name="connsiteX0" fmla="*/ 9905 w 1000505"/>
              <a:gd name="connsiteY0" fmla="*/ 349631 h 340105"/>
              <a:gd name="connsiteX1" fmla="*/ 1010030 w 1000505"/>
              <a:gd name="connsiteY1" fmla="*/ 349631 h 340105"/>
              <a:gd name="connsiteX2" fmla="*/ 1010030 w 1000505"/>
              <a:gd name="connsiteY2" fmla="*/ 16256 h 340105"/>
              <a:gd name="connsiteX3" fmla="*/ 9905 w 1000505"/>
              <a:gd name="connsiteY3" fmla="*/ 16256 h 340105"/>
              <a:gd name="connsiteX4" fmla="*/ 9905 w 1000505"/>
              <a:gd name="connsiteY4" fmla="*/ 349631 h 340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505" h="340105">
                <a:moveTo>
                  <a:pt x="9905" y="349631"/>
                </a:moveTo>
                <a:lnTo>
                  <a:pt x="1010030" y="349631"/>
                </a:lnTo>
                <a:lnTo>
                  <a:pt x="1010030" y="16256"/>
                </a:lnTo>
                <a:lnTo>
                  <a:pt x="9905" y="16256"/>
                </a:lnTo>
                <a:lnTo>
                  <a:pt x="9905" y="3496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2771394" y="1755394"/>
            <a:ext cx="1000505" cy="340105"/>
          </a:xfrm>
          <a:custGeom>
            <a:avLst/>
            <a:gdLst>
              <a:gd name="connsiteX0" fmla="*/ 9905 w 1000505"/>
              <a:gd name="connsiteY0" fmla="*/ 346456 h 340105"/>
              <a:gd name="connsiteX1" fmla="*/ 1010030 w 1000505"/>
              <a:gd name="connsiteY1" fmla="*/ 346456 h 340105"/>
              <a:gd name="connsiteX2" fmla="*/ 1010030 w 1000505"/>
              <a:gd name="connsiteY2" fmla="*/ 13081 h 340105"/>
              <a:gd name="connsiteX3" fmla="*/ 9905 w 1000505"/>
              <a:gd name="connsiteY3" fmla="*/ 13081 h 340105"/>
              <a:gd name="connsiteX4" fmla="*/ 9905 w 1000505"/>
              <a:gd name="connsiteY4" fmla="*/ 346456 h 340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505" h="340105">
                <a:moveTo>
                  <a:pt x="9905" y="346456"/>
                </a:moveTo>
                <a:lnTo>
                  <a:pt x="1010030" y="346456"/>
                </a:lnTo>
                <a:lnTo>
                  <a:pt x="1010030" y="13081"/>
                </a:lnTo>
                <a:lnTo>
                  <a:pt x="9905" y="13081"/>
                </a:lnTo>
                <a:lnTo>
                  <a:pt x="9905" y="34645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5476494" y="1653794"/>
            <a:ext cx="1013205" cy="352805"/>
          </a:xfrm>
          <a:custGeom>
            <a:avLst/>
            <a:gdLst>
              <a:gd name="connsiteX0" fmla="*/ 19430 w 1013205"/>
              <a:gd name="connsiteY0" fmla="*/ 352806 h 352805"/>
              <a:gd name="connsiteX1" fmla="*/ 1019555 w 1013205"/>
              <a:gd name="connsiteY1" fmla="*/ 352806 h 352805"/>
              <a:gd name="connsiteX2" fmla="*/ 1019555 w 1013205"/>
              <a:gd name="connsiteY2" fmla="*/ 19431 h 352805"/>
              <a:gd name="connsiteX3" fmla="*/ 19430 w 1013205"/>
              <a:gd name="connsiteY3" fmla="*/ 19431 h 352805"/>
              <a:gd name="connsiteX4" fmla="*/ 19430 w 1013205"/>
              <a:gd name="connsiteY4" fmla="*/ 352806 h 352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3205" h="352805">
                <a:moveTo>
                  <a:pt x="19430" y="352806"/>
                </a:moveTo>
                <a:lnTo>
                  <a:pt x="1019555" y="352806"/>
                </a:lnTo>
                <a:lnTo>
                  <a:pt x="1019555" y="19431"/>
                </a:lnTo>
                <a:lnTo>
                  <a:pt x="19430" y="19431"/>
                </a:lnTo>
                <a:lnTo>
                  <a:pt x="19430" y="35280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3990594" y="2428494"/>
            <a:ext cx="1013205" cy="340105"/>
          </a:xfrm>
          <a:custGeom>
            <a:avLst/>
            <a:gdLst>
              <a:gd name="connsiteX0" fmla="*/ 19430 w 1013205"/>
              <a:gd name="connsiteY0" fmla="*/ 349631 h 340105"/>
              <a:gd name="connsiteX1" fmla="*/ 1019555 w 1013205"/>
              <a:gd name="connsiteY1" fmla="*/ 349631 h 340105"/>
              <a:gd name="connsiteX2" fmla="*/ 1019555 w 1013205"/>
              <a:gd name="connsiteY2" fmla="*/ 16256 h 340105"/>
              <a:gd name="connsiteX3" fmla="*/ 19430 w 1013205"/>
              <a:gd name="connsiteY3" fmla="*/ 16256 h 340105"/>
              <a:gd name="connsiteX4" fmla="*/ 19430 w 1013205"/>
              <a:gd name="connsiteY4" fmla="*/ 349631 h 340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3205" h="340105">
                <a:moveTo>
                  <a:pt x="19430" y="349631"/>
                </a:moveTo>
                <a:lnTo>
                  <a:pt x="1019555" y="349631"/>
                </a:lnTo>
                <a:lnTo>
                  <a:pt x="1019555" y="16256"/>
                </a:lnTo>
                <a:lnTo>
                  <a:pt x="19430" y="16256"/>
                </a:lnTo>
                <a:lnTo>
                  <a:pt x="19430" y="3496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5476494" y="3101594"/>
            <a:ext cx="1013205" cy="340105"/>
          </a:xfrm>
          <a:custGeom>
            <a:avLst/>
            <a:gdLst>
              <a:gd name="connsiteX0" fmla="*/ 19430 w 1013205"/>
              <a:gd name="connsiteY0" fmla="*/ 343281 h 340105"/>
              <a:gd name="connsiteX1" fmla="*/ 1019555 w 1013205"/>
              <a:gd name="connsiteY1" fmla="*/ 343281 h 340105"/>
              <a:gd name="connsiteX2" fmla="*/ 1019555 w 1013205"/>
              <a:gd name="connsiteY2" fmla="*/ 9906 h 340105"/>
              <a:gd name="connsiteX3" fmla="*/ 19430 w 1013205"/>
              <a:gd name="connsiteY3" fmla="*/ 9906 h 340105"/>
              <a:gd name="connsiteX4" fmla="*/ 19430 w 1013205"/>
              <a:gd name="connsiteY4" fmla="*/ 343281 h 340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3205" h="340105">
                <a:moveTo>
                  <a:pt x="19430" y="343281"/>
                </a:moveTo>
                <a:lnTo>
                  <a:pt x="1019555" y="343281"/>
                </a:lnTo>
                <a:lnTo>
                  <a:pt x="1019555" y="9906"/>
                </a:lnTo>
                <a:lnTo>
                  <a:pt x="19430" y="9906"/>
                </a:lnTo>
                <a:lnTo>
                  <a:pt x="19430" y="34328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5476494" y="2428494"/>
            <a:ext cx="1013205" cy="340105"/>
          </a:xfrm>
          <a:custGeom>
            <a:avLst/>
            <a:gdLst>
              <a:gd name="connsiteX0" fmla="*/ 19430 w 1013205"/>
              <a:gd name="connsiteY0" fmla="*/ 349631 h 340105"/>
              <a:gd name="connsiteX1" fmla="*/ 1019555 w 1013205"/>
              <a:gd name="connsiteY1" fmla="*/ 349631 h 340105"/>
              <a:gd name="connsiteX2" fmla="*/ 1019555 w 1013205"/>
              <a:gd name="connsiteY2" fmla="*/ 16256 h 340105"/>
              <a:gd name="connsiteX3" fmla="*/ 19430 w 1013205"/>
              <a:gd name="connsiteY3" fmla="*/ 16256 h 340105"/>
              <a:gd name="connsiteX4" fmla="*/ 19430 w 1013205"/>
              <a:gd name="connsiteY4" fmla="*/ 349631 h 340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3205" h="340105">
                <a:moveTo>
                  <a:pt x="19430" y="349631"/>
                </a:moveTo>
                <a:lnTo>
                  <a:pt x="1019555" y="349631"/>
                </a:lnTo>
                <a:lnTo>
                  <a:pt x="1019555" y="16256"/>
                </a:lnTo>
                <a:lnTo>
                  <a:pt x="19430" y="16256"/>
                </a:lnTo>
                <a:lnTo>
                  <a:pt x="19430" y="3496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80" y="1950720"/>
            <a:ext cx="441959" cy="50292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8380" y="2522220"/>
            <a:ext cx="403860" cy="9906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8380" y="2712720"/>
            <a:ext cx="441959" cy="48768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9680" y="1859280"/>
            <a:ext cx="365760" cy="63246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9680" y="2575560"/>
            <a:ext cx="365760" cy="9144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9680" y="2750820"/>
            <a:ext cx="365760" cy="525780"/>
          </a:xfrm>
          <a:prstGeom prst="rect">
            <a:avLst/>
          </a:prstGeom>
        </p:spPr>
      </p:pic>
      <p:sp>
        <p:nvSpPr>
          <p:cNvPr id="5" name="Freeform 27"/>
          <p:cNvSpPr/>
          <p:nvPr/>
        </p:nvSpPr>
        <p:spPr>
          <a:xfrm>
            <a:off x="2504694" y="5184394"/>
            <a:ext cx="1114805" cy="822705"/>
          </a:xfrm>
          <a:custGeom>
            <a:avLst/>
            <a:gdLst>
              <a:gd name="connsiteX0" fmla="*/ 19430 w 1114805"/>
              <a:gd name="connsiteY0" fmla="*/ 14986 h 822705"/>
              <a:gd name="connsiteX1" fmla="*/ 1114805 w 1114805"/>
              <a:gd name="connsiteY1" fmla="*/ 824611 h 8227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14805" h="822705">
                <a:moveTo>
                  <a:pt x="19430" y="14986"/>
                </a:moveTo>
                <a:lnTo>
                  <a:pt x="1114805" y="824611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2504694" y="5184394"/>
            <a:ext cx="1114805" cy="1699005"/>
          </a:xfrm>
          <a:custGeom>
            <a:avLst/>
            <a:gdLst>
              <a:gd name="connsiteX0" fmla="*/ 19430 w 1114805"/>
              <a:gd name="connsiteY0" fmla="*/ 14986 h 1699005"/>
              <a:gd name="connsiteX1" fmla="*/ 1114805 w 1114805"/>
              <a:gd name="connsiteY1" fmla="*/ 1710436 h 1699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14805" h="1699005">
                <a:moveTo>
                  <a:pt x="19430" y="14986"/>
                </a:moveTo>
                <a:lnTo>
                  <a:pt x="1114805" y="1710436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2466594" y="5184394"/>
            <a:ext cx="1152905" cy="822705"/>
          </a:xfrm>
          <a:custGeom>
            <a:avLst/>
            <a:gdLst>
              <a:gd name="connsiteX0" fmla="*/ 1152905 w 1152905"/>
              <a:gd name="connsiteY0" fmla="*/ 14986 h 822705"/>
              <a:gd name="connsiteX1" fmla="*/ 9905 w 1152905"/>
              <a:gd name="connsiteY1" fmla="*/ 824611 h 8227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52905" h="822705">
                <a:moveTo>
                  <a:pt x="1152905" y="14986"/>
                </a:moveTo>
                <a:lnTo>
                  <a:pt x="9905" y="824611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2466594" y="5184394"/>
            <a:ext cx="1152905" cy="1699005"/>
          </a:xfrm>
          <a:custGeom>
            <a:avLst/>
            <a:gdLst>
              <a:gd name="connsiteX0" fmla="*/ 1152905 w 1152905"/>
              <a:gd name="connsiteY0" fmla="*/ 14986 h 1699005"/>
              <a:gd name="connsiteX1" fmla="*/ 9905 w 1152905"/>
              <a:gd name="connsiteY1" fmla="*/ 1710436 h 1699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52905" h="1699005">
                <a:moveTo>
                  <a:pt x="1152905" y="14986"/>
                </a:moveTo>
                <a:lnTo>
                  <a:pt x="9905" y="1710436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2466594" y="5997194"/>
            <a:ext cx="1152905" cy="886205"/>
          </a:xfrm>
          <a:custGeom>
            <a:avLst/>
            <a:gdLst>
              <a:gd name="connsiteX0" fmla="*/ 9905 w 1152905"/>
              <a:gd name="connsiteY0" fmla="*/ 12446 h 886205"/>
              <a:gd name="connsiteX1" fmla="*/ 1152905 w 1152905"/>
              <a:gd name="connsiteY1" fmla="*/ 898271 h 886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52905" h="886205">
                <a:moveTo>
                  <a:pt x="9905" y="12446"/>
                </a:moveTo>
                <a:lnTo>
                  <a:pt x="1152905" y="898271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 32"/>
          <p:cNvSpPr/>
          <p:nvPr/>
        </p:nvSpPr>
        <p:spPr>
          <a:xfrm>
            <a:off x="2466594" y="5997194"/>
            <a:ext cx="1152905" cy="886205"/>
          </a:xfrm>
          <a:custGeom>
            <a:avLst/>
            <a:gdLst>
              <a:gd name="connsiteX0" fmla="*/ 9905 w 1152905"/>
              <a:gd name="connsiteY0" fmla="*/ 898271 h 886205"/>
              <a:gd name="connsiteX1" fmla="*/ 1152905 w 1152905"/>
              <a:gd name="connsiteY1" fmla="*/ 12446 h 886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52905" h="886205">
                <a:moveTo>
                  <a:pt x="9905" y="898271"/>
                </a:moveTo>
                <a:lnTo>
                  <a:pt x="1152905" y="12446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3"/>
          <p:cNvSpPr txBox="1"/>
          <p:nvPr/>
        </p:nvSpPr>
        <p:spPr>
          <a:xfrm>
            <a:off x="914704" y="907727"/>
            <a:ext cx="5606004" cy="6092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One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-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Many</a:t>
            </a:r>
            <a:r>
              <a:rPr lang="en-US" altLang="zh-CN" sz="1600" b="1" u="sng" spc="-34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relationships:</a:t>
            </a:r>
          </a:p>
          <a:p>
            <a:pPr>
              <a:lnSpc>
                <a:spcPts val="1194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0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relationship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object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relationship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many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objects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34338" y="2510282"/>
            <a:ext cx="469733" cy="167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100" b="1" spc="-5" dirty="0">
                <a:solidFill>
                  <a:srgbClr val="000000"/>
                </a:solidFill>
                <a:latin typeface="Calibri"/>
                <a:ea typeface="Calibri"/>
              </a:rPr>
              <a:t>Stud</a:t>
            </a:r>
            <a:r>
              <a:rPr lang="en-US" altLang="zh-CN" sz="1100" b="1" dirty="0">
                <a:solidFill>
                  <a:srgbClr val="000000"/>
                </a:solidFill>
                <a:latin typeface="Calibri"/>
                <a:ea typeface="Calibri"/>
              </a:rPr>
              <a:t>ent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100451" y="1833625"/>
            <a:ext cx="295066" cy="1510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100" b="1" spc="-5" dirty="0">
                <a:solidFill>
                  <a:srgbClr val="000000"/>
                </a:solidFill>
                <a:latin typeface="Calibri"/>
                <a:ea typeface="Calibri"/>
              </a:rPr>
              <a:t>.N</a:t>
            </a:r>
            <a:r>
              <a:rPr lang="en-US" altLang="zh-CN" sz="1100" b="1" dirty="0">
                <a:solidFill>
                  <a:srgbClr val="000000"/>
                </a:solidFill>
                <a:latin typeface="Calibri"/>
                <a:ea typeface="Calibri"/>
              </a:rPr>
              <a:t>et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5"/>
              </a:lnSpc>
            </a:pPr>
            <a:endParaRPr lang="en-US" dirty="0"/>
          </a:p>
          <a:p>
            <a:pPr marL="0" indent="32003">
              <a:lnSpc>
                <a:spcPct val="100000"/>
              </a:lnSpc>
            </a:pPr>
            <a:r>
              <a:rPr lang="en-US" altLang="zh-CN" sz="1100" b="1" spc="-5" dirty="0">
                <a:solidFill>
                  <a:srgbClr val="000000"/>
                </a:solidFill>
                <a:latin typeface="Calibri"/>
                <a:ea typeface="Calibri"/>
              </a:rPr>
              <a:t>Ja</a:t>
            </a:r>
            <a:r>
              <a:rPr lang="en-US" altLang="zh-CN" sz="1100" b="1" dirty="0">
                <a:solidFill>
                  <a:srgbClr val="000000"/>
                </a:solidFill>
                <a:latin typeface="Calibri"/>
                <a:ea typeface="Calibri"/>
              </a:rPr>
              <a:t>va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925"/>
              </a:lnSpc>
            </a:pPr>
            <a:endParaRPr lang="en-US" dirty="0"/>
          </a:p>
          <a:p>
            <a:pPr marL="0" indent="32003">
              <a:lnSpc>
                <a:spcPct val="100000"/>
              </a:lnSpc>
            </a:pPr>
            <a:r>
              <a:rPr lang="en-US" altLang="zh-CN" sz="1100" b="1" spc="-5" dirty="0">
                <a:solidFill>
                  <a:srgbClr val="000000"/>
                </a:solidFill>
                <a:latin typeface="Calibri"/>
                <a:ea typeface="Calibri"/>
              </a:rPr>
              <a:t>PHP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268089" y="2510282"/>
            <a:ext cx="426401" cy="167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100" b="1" spc="-5" dirty="0">
                <a:solidFill>
                  <a:srgbClr val="000000"/>
                </a:solidFill>
                <a:latin typeface="Calibri"/>
                <a:ea typeface="Calibri"/>
              </a:rPr>
              <a:t>Facul</a:t>
            </a:r>
            <a:r>
              <a:rPr lang="en-US" altLang="zh-CN" sz="1100" b="1" dirty="0">
                <a:solidFill>
                  <a:srgbClr val="000000"/>
                </a:solidFill>
                <a:latin typeface="Calibri"/>
                <a:ea typeface="Calibri"/>
              </a:rPr>
              <a:t>ty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879338" y="1737613"/>
            <a:ext cx="327070" cy="16066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2003">
              <a:lnSpc>
                <a:spcPct val="100000"/>
              </a:lnSpc>
            </a:pPr>
            <a:r>
              <a:rPr lang="en-US" altLang="zh-CN" sz="1100" b="1" spc="-5" dirty="0">
                <a:solidFill>
                  <a:srgbClr val="000000"/>
                </a:solidFill>
                <a:latin typeface="Calibri"/>
                <a:ea typeface="Calibri"/>
              </a:rPr>
              <a:t>SQL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7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100" b="1" spc="-5" dirty="0">
                <a:solidFill>
                  <a:srgbClr val="000000"/>
                </a:solidFill>
                <a:latin typeface="Calibri"/>
                <a:ea typeface="Calibri"/>
              </a:rPr>
              <a:t>.N</a:t>
            </a:r>
            <a:r>
              <a:rPr lang="en-US" altLang="zh-CN" sz="1100" b="1" dirty="0">
                <a:solidFill>
                  <a:srgbClr val="000000"/>
                </a:solidFill>
                <a:latin typeface="Calibri"/>
                <a:ea typeface="Calibri"/>
              </a:rPr>
              <a:t>et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925"/>
              </a:lnSpc>
            </a:pPr>
            <a:endParaRPr lang="en-US" dirty="0"/>
          </a:p>
          <a:p>
            <a:pPr marL="0" indent="64008">
              <a:lnSpc>
                <a:spcPct val="100000"/>
              </a:lnSpc>
            </a:pPr>
            <a:r>
              <a:rPr lang="en-US" altLang="zh-CN" sz="1100" b="1" spc="-5" dirty="0">
                <a:solidFill>
                  <a:srgbClr val="000000"/>
                </a:solidFill>
                <a:latin typeface="Calibri"/>
                <a:ea typeface="Calibri"/>
              </a:rPr>
              <a:t>Ja</a:t>
            </a:r>
            <a:r>
              <a:rPr lang="en-US" altLang="zh-CN" sz="1100" b="1" dirty="0">
                <a:solidFill>
                  <a:srgbClr val="000000"/>
                </a:solidFill>
                <a:latin typeface="Calibri"/>
                <a:ea typeface="Calibri"/>
              </a:rPr>
              <a:t>va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14704" y="3838760"/>
            <a:ext cx="5718770" cy="42233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Many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–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Many</a:t>
            </a:r>
            <a:r>
              <a:rPr lang="en-US" altLang="zh-CN" sz="1600" b="1" u="sng" spc="-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relationship:</a:t>
            </a:r>
          </a:p>
          <a:p>
            <a:pPr>
              <a:lnSpc>
                <a:spcPts val="1110"/>
              </a:lnSpc>
            </a:pPr>
            <a:endParaRPr lang="en-US" dirty="0"/>
          </a:p>
          <a:p>
            <a:pPr marL="457149" indent="-228549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2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relationship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many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vendors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(or)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many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objects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relationship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other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objects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7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0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above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relationships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“Degree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Relationships”</a:t>
            </a:r>
          </a:p>
          <a:p>
            <a:pPr marL="457149" indent="-228549" hangingPunct="0">
              <a:lnSpc>
                <a:spcPct val="110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8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model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developed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mathematical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concept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“Relation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Algebra”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(i.e.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&amp;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Relations)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14450" y="5038090"/>
          <a:ext cx="3524250" cy="3905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1289">
                <a:tc rowSpan="2">
                  <a:txBody>
                    <a:bodyPr/>
                    <a:lstStyle/>
                    <a:p>
                      <a:pPr>
                        <a:lnSpc>
                          <a:spcPts val="434"/>
                        </a:lnSpc>
                      </a:pPr>
                      <a:endParaRPr lang="en-US" dirty="0"/>
                    </a:p>
                    <a:p>
                      <a:pPr marL="0" indent="247522">
                        <a:lnSpc>
                          <a:spcPct val="100000"/>
                        </a:lnSpc>
                      </a:pPr>
                      <a:r>
                        <a:rPr lang="en-US" altLang="zh-CN" sz="1100" b="1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Vendor</a:t>
                      </a:r>
                      <a:r>
                        <a:rPr lang="en-US" altLang="zh-CN" sz="1100" b="1" spc="-1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1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ts val="434"/>
                        </a:lnSpc>
                      </a:pPr>
                      <a:endParaRPr lang="en-US" dirty="0"/>
                    </a:p>
                    <a:p>
                      <a:pPr marL="0" indent="562864">
                        <a:lnSpc>
                          <a:spcPct val="100000"/>
                        </a:lnSpc>
                      </a:pPr>
                      <a:r>
                        <a:rPr lang="en-US" altLang="zh-CN" sz="1100" b="1" spc="-5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P1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23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66825" y="5799455"/>
          <a:ext cx="3571875" cy="3905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0185">
                <a:tc rowSpan="2">
                  <a:txBody>
                    <a:bodyPr/>
                    <a:lstStyle/>
                    <a:p>
                      <a:pPr>
                        <a:lnSpc>
                          <a:spcPts val="440"/>
                        </a:lnSpc>
                      </a:pPr>
                      <a:endParaRPr lang="en-US" dirty="0"/>
                    </a:p>
                    <a:p>
                      <a:pPr marL="0" indent="247903">
                        <a:lnSpc>
                          <a:spcPct val="100000"/>
                        </a:lnSpc>
                      </a:pPr>
                      <a:r>
                        <a:rPr lang="en-US" altLang="zh-CN" sz="1100" b="1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Vendor</a:t>
                      </a:r>
                      <a:r>
                        <a:rPr lang="en-US" altLang="zh-CN" sz="1100" b="1" spc="-1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1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ts val="440"/>
                        </a:lnSpc>
                      </a:pPr>
                      <a:endParaRPr lang="en-US" dirty="0"/>
                    </a:p>
                    <a:p>
                      <a:pPr marL="0" indent="562864">
                        <a:lnSpc>
                          <a:spcPct val="100000"/>
                        </a:lnSpc>
                      </a:pPr>
                      <a:r>
                        <a:rPr lang="en-US" altLang="zh-CN" sz="1100" b="1" spc="-5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P2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33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66825" y="6666230"/>
          <a:ext cx="3571875" cy="390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 rowSpan="2">
                  <a:txBody>
                    <a:bodyPr/>
                    <a:lstStyle/>
                    <a:p>
                      <a:pPr>
                        <a:lnSpc>
                          <a:spcPts val="430"/>
                        </a:lnSpc>
                      </a:pPr>
                      <a:endParaRPr lang="en-US" dirty="0"/>
                    </a:p>
                    <a:p>
                      <a:pPr marL="0" indent="247903">
                        <a:lnSpc>
                          <a:spcPct val="100000"/>
                        </a:lnSpc>
                      </a:pPr>
                      <a:r>
                        <a:rPr lang="en-US" altLang="zh-CN" sz="1100" b="1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Vendor</a:t>
                      </a:r>
                      <a:r>
                        <a:rPr lang="en-US" altLang="zh-CN" sz="1100" b="1" spc="-1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1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3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ts val="430"/>
                        </a:lnSpc>
                      </a:pPr>
                      <a:endParaRPr lang="en-US" dirty="0"/>
                    </a:p>
                    <a:p>
                      <a:pPr marL="0" indent="562864">
                        <a:lnSpc>
                          <a:spcPct val="100000"/>
                        </a:lnSpc>
                      </a:pPr>
                      <a:r>
                        <a:rPr lang="en-US" altLang="zh-CN" sz="1100" b="1" spc="-5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P3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2"/>
          <p:cNvSpPr txBox="1"/>
          <p:nvPr/>
        </p:nvSpPr>
        <p:spPr>
          <a:xfrm>
            <a:off x="914704" y="891468"/>
            <a:ext cx="6001957" cy="80686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0416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CODD</a:t>
            </a:r>
            <a:r>
              <a:rPr lang="en-US" altLang="zh-CN" sz="1800" b="1" u="sng" spc="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RULES:</a:t>
            </a:r>
            <a:r>
              <a:rPr lang="en-US" altLang="zh-CN" sz="1800" b="1" spc="1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E.F.</a:t>
            </a:r>
            <a:r>
              <a:rPr lang="en-US" altLang="zh-CN" sz="1400" b="1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Codd,</a:t>
            </a:r>
            <a:r>
              <a:rPr lang="en-US" altLang="zh-CN" sz="1400" b="1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famous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mathematician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has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introduced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12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rules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model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commonly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known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Codd's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rules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rules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mainly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define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required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DBMS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considered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i.e.</a:t>
            </a:r>
            <a:r>
              <a:rPr lang="en-US" altLang="zh-CN" sz="14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RDBMS.</a:t>
            </a:r>
            <a:r>
              <a:rPr lang="en-US" altLang="zh-CN" sz="14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rules</a:t>
            </a:r>
            <a:r>
              <a:rPr lang="en-US" altLang="zh-CN" sz="14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follows:-</a:t>
            </a:r>
          </a:p>
          <a:p>
            <a:pPr>
              <a:lnSpc>
                <a:spcPts val="151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Rule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0: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Foundation</a:t>
            </a:r>
            <a:r>
              <a:rPr lang="en-US" altLang="zh-CN" sz="1400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Rule</a:t>
            </a:r>
          </a:p>
          <a:p>
            <a:pPr>
              <a:lnSpc>
                <a:spcPts val="1355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i="1" dirty="0">
                <a:solidFill>
                  <a:srgbClr val="000000"/>
                </a:solidFill>
                <a:latin typeface="Times New Roman"/>
                <a:ea typeface="Times New Roman"/>
              </a:rPr>
              <a:t>relational</a:t>
            </a:r>
            <a:r>
              <a:rPr lang="en-US" altLang="zh-CN" sz="1400" i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i="1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i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i="1" dirty="0">
                <a:solidFill>
                  <a:srgbClr val="000000"/>
                </a:solidFill>
                <a:latin typeface="Times New Roman"/>
                <a:ea typeface="Times New Roman"/>
              </a:rPr>
              <a:t>management</a:t>
            </a:r>
            <a:r>
              <a:rPr lang="en-US" altLang="zh-CN" sz="1400" i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i="1" dirty="0">
                <a:solidFill>
                  <a:srgbClr val="000000"/>
                </a:solidFill>
                <a:latin typeface="Times New Roman"/>
                <a:ea typeface="Times New Roman"/>
              </a:rPr>
              <a:t>system</a:t>
            </a:r>
            <a:r>
              <a:rPr lang="en-US" altLang="zh-CN" sz="1400" i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should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capable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its</a:t>
            </a:r>
            <a:r>
              <a:rPr lang="en-US" altLang="zh-CN" sz="1400" spc="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i="1" dirty="0">
                <a:solidFill>
                  <a:srgbClr val="000000"/>
                </a:solidFill>
                <a:latin typeface="Times New Roman"/>
                <a:ea typeface="Times New Roman"/>
              </a:rPr>
              <a:t>relational</a:t>
            </a:r>
            <a:r>
              <a:rPr lang="en-US" altLang="zh-CN" sz="1400" i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facilities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(exclusively)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i="1" dirty="0">
                <a:solidFill>
                  <a:srgbClr val="000000"/>
                </a:solidFill>
                <a:latin typeface="Times New Roman"/>
                <a:ea typeface="Times New Roman"/>
              </a:rPr>
              <a:t>manage</a:t>
            </a:r>
            <a:r>
              <a:rPr lang="en-US" altLang="zh-CN" sz="1400" i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i="1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  <a:p>
            <a:pPr>
              <a:lnSpc>
                <a:spcPts val="13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Rule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1: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Information</a:t>
            </a:r>
            <a:r>
              <a:rPr lang="en-US" altLang="zh-CN" sz="1400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Rule</a:t>
            </a:r>
          </a:p>
          <a:p>
            <a:pPr>
              <a:lnSpc>
                <a:spcPts val="1364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information</a:t>
            </a:r>
            <a:r>
              <a:rPr lang="en-US" altLang="zh-CN" sz="14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represented</a:t>
            </a:r>
            <a:r>
              <a:rPr lang="en-US" altLang="zh-CN" sz="14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way.</a:t>
            </a:r>
            <a:r>
              <a:rPr lang="en-US" altLang="zh-CN" sz="14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achieved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positions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tables.</a:t>
            </a:r>
          </a:p>
          <a:p>
            <a:pPr>
              <a:lnSpc>
                <a:spcPts val="135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Rule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2: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Guaranteed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Access</a:t>
            </a:r>
            <a:r>
              <a:rPr lang="en-US" altLang="zh-CN" sz="14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Rule</a:t>
            </a:r>
          </a:p>
          <a:p>
            <a:pPr>
              <a:lnSpc>
                <a:spcPts val="1375"/>
              </a:lnSpc>
            </a:pPr>
            <a:endParaRPr lang="en-US" dirty="0"/>
          </a:p>
          <a:p>
            <a:pPr marL="0" hangingPunct="0">
              <a:lnSpc>
                <a:spcPct val="95416"/>
              </a:lnSpc>
            </a:pPr>
            <a:r>
              <a:rPr lang="en-US" altLang="zh-CN" sz="1400" spc="55" dirty="0">
                <a:solidFill>
                  <a:srgbClr val="000000"/>
                </a:solidFill>
                <a:latin typeface="Times New Roman"/>
                <a:ea typeface="Times New Roman"/>
              </a:rPr>
              <a:t>Al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ea typeface="Times New Roman"/>
              </a:rPr>
              <a:t>l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44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60" dirty="0">
                <a:solidFill>
                  <a:srgbClr val="000000"/>
                </a:solidFill>
                <a:latin typeface="Times New Roman"/>
                <a:ea typeface="Times New Roman"/>
              </a:rPr>
              <a:t>must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5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44" dirty="0">
                <a:solidFill>
                  <a:srgbClr val="000000"/>
                </a:solidFill>
                <a:latin typeface="Times New Roman"/>
                <a:ea typeface="Times New Roman"/>
              </a:rPr>
              <a:t>accessible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6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60" dirty="0">
                <a:solidFill>
                  <a:srgbClr val="000000"/>
                </a:solidFill>
                <a:latin typeface="Times New Roman"/>
                <a:ea typeface="Times New Roman"/>
              </a:rPr>
              <a:t>no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50" dirty="0">
                <a:solidFill>
                  <a:srgbClr val="000000"/>
                </a:solidFill>
                <a:latin typeface="Times New Roman"/>
                <a:ea typeface="Times New Roman"/>
              </a:rPr>
              <a:t>ambiguity,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44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ea typeface="Times New Roman"/>
              </a:rPr>
              <a:t>is,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60" dirty="0">
                <a:solidFill>
                  <a:srgbClr val="000000"/>
                </a:solidFill>
                <a:latin typeface="Times New Roman"/>
                <a:ea typeface="Times New Roman"/>
              </a:rPr>
              <a:t>Each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6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50" dirty="0">
                <a:solidFill>
                  <a:srgbClr val="000000"/>
                </a:solidFill>
                <a:latin typeface="Times New Roman"/>
                <a:ea typeface="Times New Roman"/>
              </a:rPr>
              <a:t>every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60" dirty="0">
                <a:solidFill>
                  <a:srgbClr val="000000"/>
                </a:solidFill>
                <a:latin typeface="Times New Roman"/>
                <a:ea typeface="Times New Roman"/>
              </a:rPr>
              <a:t>datum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ea typeface="Times New Roman"/>
              </a:rPr>
              <a:t>(atomic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spc="44" dirty="0">
                <a:solidFill>
                  <a:srgbClr val="000000"/>
                </a:solidFill>
                <a:latin typeface="Times New Roman"/>
                <a:ea typeface="Times New Roman"/>
              </a:rPr>
              <a:t>value)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ea typeface="Times New Roman"/>
              </a:rPr>
              <a:t>guaranteed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spc="6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spc="44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ea typeface="Times New Roman"/>
              </a:rPr>
              <a:t>logically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ea typeface="Times New Roman"/>
              </a:rPr>
              <a:t>accessible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spc="69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ea typeface="Times New Roman"/>
              </a:rPr>
              <a:t>resorting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spc="44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combination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primary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name.</a:t>
            </a:r>
          </a:p>
          <a:p>
            <a:pPr>
              <a:lnSpc>
                <a:spcPts val="13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Rule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3: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Systematic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treatment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null</a:t>
            </a:r>
            <a:r>
              <a:rPr lang="en-US" altLang="zh-CN" sz="1400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</a:p>
          <a:p>
            <a:pPr>
              <a:lnSpc>
                <a:spcPts val="1375"/>
              </a:lnSpc>
            </a:pPr>
            <a:endParaRPr lang="en-US" dirty="0"/>
          </a:p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(distinct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empty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blank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characters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distinct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zero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other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number)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supported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fully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relational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DBMS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representing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missing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information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systematic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way,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independent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type.</a:t>
            </a:r>
          </a:p>
          <a:p>
            <a:pPr>
              <a:lnSpc>
                <a:spcPts val="136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Rule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4: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Dynamic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On-line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Catalog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Based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Relational</a:t>
            </a:r>
            <a:r>
              <a:rPr lang="en-US" altLang="zh-CN" sz="1400" b="1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Model</a:t>
            </a:r>
          </a:p>
          <a:p>
            <a:pPr>
              <a:lnSpc>
                <a:spcPts val="1375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description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represented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logical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level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way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ordinary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authorized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apply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interrogation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apply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regular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authorized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access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structure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i.e.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SQL.</a:t>
            </a:r>
          </a:p>
          <a:p>
            <a:pPr>
              <a:lnSpc>
                <a:spcPts val="135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Rule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5: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Comprehensive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Sublanguage</a:t>
            </a:r>
            <a:r>
              <a:rPr lang="en-US" altLang="zh-CN" sz="14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Rule</a:t>
            </a:r>
          </a:p>
          <a:p>
            <a:pPr>
              <a:lnSpc>
                <a:spcPts val="1369"/>
              </a:lnSpc>
            </a:pPr>
            <a:endParaRPr lang="en-US" dirty="0"/>
          </a:p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system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support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several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various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modes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terminal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However,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least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expressible,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well-defined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syntax,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strings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ability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support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comprehensible: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3"/>
          <p:cNvSpPr txBox="1"/>
          <p:nvPr/>
        </p:nvSpPr>
        <p:spPr>
          <a:xfrm>
            <a:off x="914704" y="901709"/>
            <a:ext cx="5972688" cy="81286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a.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definition</a:t>
            </a:r>
          </a:p>
          <a:p>
            <a:pPr marL="0" indent="228600">
              <a:lnSpc>
                <a:spcPct val="966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definition</a:t>
            </a:r>
          </a:p>
          <a:p>
            <a:pPr marL="0" indent="22860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manipulation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(interactive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spc="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program)</a:t>
            </a:r>
          </a:p>
          <a:p>
            <a:pPr marL="0" indent="228600">
              <a:lnSpc>
                <a:spcPct val="966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integrity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constraints</a:t>
            </a:r>
          </a:p>
          <a:p>
            <a:pPr marL="0" indent="22860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e.</a:t>
            </a:r>
            <a:r>
              <a:rPr lang="en-US" altLang="zh-CN" sz="1400" spc="6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authorization</a:t>
            </a:r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f.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boundaries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(begin,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commit,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rollback).</a:t>
            </a:r>
          </a:p>
          <a:p>
            <a:pPr>
              <a:lnSpc>
                <a:spcPts val="1250"/>
              </a:lnSpc>
            </a:pPr>
            <a:endParaRPr lang="en-US" dirty="0"/>
          </a:p>
          <a:p>
            <a:pPr marL="0" indent="44195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Rule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6: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Updating</a:t>
            </a:r>
            <a:r>
              <a:rPr lang="en-US" altLang="zh-CN" sz="14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Rule</a:t>
            </a:r>
          </a:p>
          <a:p>
            <a:pPr>
              <a:lnSpc>
                <a:spcPts val="709"/>
              </a:lnSpc>
            </a:pPr>
            <a:endParaRPr lang="en-US" dirty="0"/>
          </a:p>
          <a:p>
            <a:pPr marL="0" hangingPunct="0">
              <a:lnSpc>
                <a:spcPct val="17875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theoretically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system.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Rule</a:t>
            </a:r>
            <a:r>
              <a:rPr lang="en-US" altLang="zh-CN" sz="1400" b="1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7:</a:t>
            </a:r>
            <a:r>
              <a:rPr lang="en-US" altLang="zh-CN" sz="1400" b="1" spc="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High-level</a:t>
            </a:r>
            <a:r>
              <a:rPr lang="en-US" altLang="zh-CN" sz="1400" b="1" spc="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Insert,</a:t>
            </a:r>
            <a:r>
              <a:rPr lang="en-US" altLang="zh-CN" sz="1400" b="1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Update,</a:t>
            </a:r>
            <a:r>
              <a:rPr lang="en-US" altLang="zh-CN" sz="1400" b="1" spc="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b="1" spc="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</a:p>
          <a:p>
            <a:pPr>
              <a:lnSpc>
                <a:spcPts val="684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system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fully.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also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multiple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simultaneously.</a:t>
            </a:r>
          </a:p>
          <a:p>
            <a:pPr>
              <a:lnSpc>
                <a:spcPts val="13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Rule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8: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Physical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Independence</a:t>
            </a:r>
          </a:p>
          <a:p>
            <a:pPr>
              <a:lnSpc>
                <a:spcPts val="1369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Application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terminal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activities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remain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logically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unimpaired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whenever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either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storage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representation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access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methods.</a:t>
            </a:r>
          </a:p>
          <a:p>
            <a:pPr>
              <a:lnSpc>
                <a:spcPts val="134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Rule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9: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Logical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Independence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Application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terminal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activities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remain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logically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unimpaired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information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preserving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kind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theoretically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permit</a:t>
            </a:r>
            <a:r>
              <a:rPr lang="en-US" altLang="zh-CN" sz="1400" spc="-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unimpairment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tables.</a:t>
            </a:r>
          </a:p>
          <a:p>
            <a:pPr>
              <a:lnSpc>
                <a:spcPts val="134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Rule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10: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Integrity</a:t>
            </a:r>
            <a:r>
              <a:rPr lang="en-US" altLang="zh-CN" sz="1400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Independence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Integrity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constraints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particular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definable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sublanguage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catalog,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application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pro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grams.</a:t>
            </a:r>
          </a:p>
          <a:p>
            <a:pPr>
              <a:lnSpc>
                <a:spcPts val="135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Rule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11: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Distribution</a:t>
            </a:r>
            <a:r>
              <a:rPr lang="en-US" altLang="zh-CN" sz="1400" b="1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Independence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manipulation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sublanguage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DBMS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enable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application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terminal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activities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remain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logically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unimpaired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whether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whenever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physically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centralized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distributed.</a:t>
            </a:r>
          </a:p>
          <a:p>
            <a:pPr>
              <a:lnSpc>
                <a:spcPts val="135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Rule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12: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No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subversion</a:t>
            </a:r>
            <a:r>
              <a:rPr lang="en-US" altLang="zh-CN" sz="1400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Rule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system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supports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low-level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(single-record-at-a-time)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low-level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subvert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bypass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integrity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rules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constraints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higher-level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(multiple-records-at-a-time)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relational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Freeform 44"/>
          <p:cNvSpPr/>
          <p:nvPr/>
        </p:nvSpPr>
        <p:spPr>
          <a:xfrm>
            <a:off x="1754632" y="6440932"/>
            <a:ext cx="721867" cy="239267"/>
          </a:xfrm>
          <a:custGeom>
            <a:avLst/>
            <a:gdLst>
              <a:gd name="connsiteX0" fmla="*/ 17017 w 721867"/>
              <a:gd name="connsiteY0" fmla="*/ 239902 h 239267"/>
              <a:gd name="connsiteX1" fmla="*/ 721867 w 721867"/>
              <a:gd name="connsiteY1" fmla="*/ 239902 h 239267"/>
              <a:gd name="connsiteX2" fmla="*/ 721867 w 721867"/>
              <a:gd name="connsiteY2" fmla="*/ 20828 h 239267"/>
              <a:gd name="connsiteX3" fmla="*/ 17017 w 721867"/>
              <a:gd name="connsiteY3" fmla="*/ 20828 h 239267"/>
              <a:gd name="connsiteX4" fmla="*/ 17017 w 721867"/>
              <a:gd name="connsiteY4" fmla="*/ 239902 h 239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867" h="239267">
                <a:moveTo>
                  <a:pt x="17017" y="239902"/>
                </a:moveTo>
                <a:lnTo>
                  <a:pt x="721867" y="239902"/>
                </a:lnTo>
                <a:lnTo>
                  <a:pt x="721867" y="20828"/>
                </a:lnTo>
                <a:lnTo>
                  <a:pt x="17017" y="20828"/>
                </a:lnTo>
                <a:lnTo>
                  <a:pt x="17017" y="239902"/>
                </a:lnTo>
                <a:close/>
              </a:path>
            </a:pathLst>
          </a:custGeom>
          <a:solidFill>
            <a:srgbClr val="0000FF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 45"/>
          <p:cNvSpPr/>
          <p:nvPr/>
        </p:nvSpPr>
        <p:spPr>
          <a:xfrm>
            <a:off x="1703832" y="7025132"/>
            <a:ext cx="620267" cy="213867"/>
          </a:xfrm>
          <a:custGeom>
            <a:avLst/>
            <a:gdLst>
              <a:gd name="connsiteX0" fmla="*/ 324992 w 620267"/>
              <a:gd name="connsiteY0" fmla="*/ 15113 h 213867"/>
              <a:gd name="connsiteX1" fmla="*/ 20192 w 620267"/>
              <a:gd name="connsiteY1" fmla="*/ 119888 h 213867"/>
              <a:gd name="connsiteX2" fmla="*/ 324992 w 620267"/>
              <a:gd name="connsiteY2" fmla="*/ 224663 h 213867"/>
              <a:gd name="connsiteX3" fmla="*/ 629792 w 620267"/>
              <a:gd name="connsiteY3" fmla="*/ 119888 h 213867"/>
              <a:gd name="connsiteX4" fmla="*/ 324992 w 620267"/>
              <a:gd name="connsiteY4" fmla="*/ 15113 h 213867"/>
              <a:gd name="connsiteX5" fmla="*/ 324992 w 620267"/>
              <a:gd name="connsiteY5" fmla="*/ 15113 h 213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0267" h="213867">
                <a:moveTo>
                  <a:pt x="324992" y="15113"/>
                </a:moveTo>
                <a:cubicBezTo>
                  <a:pt x="156591" y="15113"/>
                  <a:pt x="20192" y="61976"/>
                  <a:pt x="20192" y="119888"/>
                </a:cubicBezTo>
                <a:cubicBezTo>
                  <a:pt x="20192" y="177800"/>
                  <a:pt x="156591" y="224663"/>
                  <a:pt x="324992" y="224663"/>
                </a:cubicBezTo>
                <a:cubicBezTo>
                  <a:pt x="493394" y="224663"/>
                  <a:pt x="629792" y="177800"/>
                  <a:pt x="629792" y="119888"/>
                </a:cubicBezTo>
                <a:cubicBezTo>
                  <a:pt x="629792" y="61976"/>
                  <a:pt x="493394" y="15113"/>
                  <a:pt x="324992" y="15113"/>
                </a:cubicBezTo>
                <a:lnTo>
                  <a:pt x="324992" y="151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 46"/>
          <p:cNvSpPr/>
          <p:nvPr/>
        </p:nvSpPr>
        <p:spPr>
          <a:xfrm>
            <a:off x="1754632" y="7558532"/>
            <a:ext cx="480567" cy="505967"/>
          </a:xfrm>
          <a:custGeom>
            <a:avLst/>
            <a:gdLst>
              <a:gd name="connsiteX0" fmla="*/ 250444 w 480567"/>
              <a:gd name="connsiteY0" fmla="*/ 12572 h 505967"/>
              <a:gd name="connsiteX1" fmla="*/ 17017 w 480567"/>
              <a:gd name="connsiteY1" fmla="*/ 264667 h 505967"/>
              <a:gd name="connsiteX2" fmla="*/ 250444 w 480567"/>
              <a:gd name="connsiteY2" fmla="*/ 516763 h 505967"/>
              <a:gd name="connsiteX3" fmla="*/ 483742 w 480567"/>
              <a:gd name="connsiteY3" fmla="*/ 264667 h 505967"/>
              <a:gd name="connsiteX4" fmla="*/ 250444 w 480567"/>
              <a:gd name="connsiteY4" fmla="*/ 12572 h 505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0567" h="505967">
                <a:moveTo>
                  <a:pt x="250444" y="12572"/>
                </a:moveTo>
                <a:lnTo>
                  <a:pt x="17017" y="264667"/>
                </a:lnTo>
                <a:lnTo>
                  <a:pt x="250444" y="516763"/>
                </a:lnTo>
                <a:lnTo>
                  <a:pt x="483742" y="264667"/>
                </a:lnTo>
                <a:lnTo>
                  <a:pt x="250444" y="12572"/>
                </a:lnTo>
                <a:close/>
              </a:path>
            </a:pathLst>
          </a:custGeom>
          <a:solidFill>
            <a:srgbClr val="0000B5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Picture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320" y="8290559"/>
            <a:ext cx="541020" cy="91440"/>
          </a:xfrm>
          <a:prstGeom prst="rect">
            <a:avLst/>
          </a:prstGeom>
        </p:spPr>
      </p:pic>
      <p:sp>
        <p:nvSpPr>
          <p:cNvPr id="2" name="TextBox 48"/>
          <p:cNvSpPr txBox="1"/>
          <p:nvPr/>
        </p:nvSpPr>
        <p:spPr>
          <a:xfrm>
            <a:off x="914704" y="910806"/>
            <a:ext cx="5887699" cy="535863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rules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fully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management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system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available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today.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particular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rules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6,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9,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12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difficult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sati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sfy.</a:t>
            </a:r>
          </a:p>
          <a:p>
            <a:pPr>
              <a:lnSpc>
                <a:spcPts val="138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Features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of</a:t>
            </a:r>
            <a:r>
              <a:rPr lang="en-US" altLang="zh-CN" sz="1400" b="1" u="sng" spc="-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RDBMS</a:t>
            </a:r>
          </a:p>
          <a:p>
            <a:pPr>
              <a:lnSpc>
                <a:spcPts val="1339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9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model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should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form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0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defined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collection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&amp;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</a:t>
            </a:r>
          </a:p>
          <a:p>
            <a:pPr marL="0" indent="228600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2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horizontal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lines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known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rows/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400" spc="-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tuples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0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vertical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lines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known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fields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Attributes</a:t>
            </a:r>
          </a:p>
          <a:p>
            <a:pPr marL="0" indent="228600">
              <a:lnSpc>
                <a:spcPct val="100000"/>
              </a:lnSpc>
              <a:spcBef>
                <a:spcPts val="17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2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intersection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&amp;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known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cell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8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cell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place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our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actual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</a:p>
          <a:p>
            <a:pPr marL="0" indent="228600">
              <a:lnSpc>
                <a:spcPct val="10000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2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other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“Entity”</a:t>
            </a:r>
          </a:p>
          <a:p>
            <a:pPr marL="0" indent="228600">
              <a:lnSpc>
                <a:spcPct val="100000"/>
              </a:lnSpc>
              <a:spcBef>
                <a:spcPts val="15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5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provide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high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level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security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spc="-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information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spc="-34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4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ea typeface="Times New Roman"/>
              </a:rPr>
              <a:t>Avoiding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ea typeface="Times New Roman"/>
              </a:rPr>
              <a:t>redundancy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ea typeface="Times New Roman"/>
              </a:rPr>
              <a:t>problems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0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Accessing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take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much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6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define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need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spc="-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rder</a:t>
            </a:r>
          </a:p>
          <a:p>
            <a:pPr>
              <a:lnSpc>
                <a:spcPts val="108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ER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Diagram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(Entity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&amp;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Relationship</a:t>
            </a:r>
            <a:r>
              <a:rPr lang="en-US" altLang="zh-CN" sz="1800" b="1" u="sng" spc="-34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diagram):</a:t>
            </a:r>
          </a:p>
          <a:p>
            <a:pPr>
              <a:lnSpc>
                <a:spcPts val="1135"/>
              </a:lnSpc>
            </a:pPr>
            <a:endParaRPr lang="en-US" dirty="0"/>
          </a:p>
          <a:p>
            <a:pPr marL="0" hangingPunct="0">
              <a:lnSpc>
                <a:spcPct val="110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pictorial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representation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Manual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concept</a:t>
            </a:r>
            <a:r>
              <a:rPr lang="en-US" altLang="zh-CN" sz="1400" spc="-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developed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Scientist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Mr.Chen</a:t>
            </a:r>
          </a:p>
          <a:p>
            <a:pPr>
              <a:lnSpc>
                <a:spcPts val="108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2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Whenever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design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ERD‟s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following</a:t>
            </a:r>
            <a:r>
              <a:rPr lang="en-US" altLang="zh-CN" sz="1400" spc="-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symbols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600453" y="6528747"/>
            <a:ext cx="3266069" cy="218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ts val="1720"/>
              </a:lnSpc>
              <a:tabLst>
                <a:tab pos="939165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Rectangle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box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represent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Entity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600453" y="7011854"/>
            <a:ext cx="2795923" cy="218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ts val="1720"/>
              </a:lnSpc>
              <a:tabLst>
                <a:tab pos="939165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Oval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represent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Attribute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600453" y="7730040"/>
            <a:ext cx="3725776" cy="218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ts val="1720"/>
              </a:lnSpc>
              <a:tabLst>
                <a:tab pos="760475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Diamond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represents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Relationship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600453" y="8213148"/>
            <a:ext cx="2958314" cy="218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ts val="1720"/>
              </a:lnSpc>
              <a:tabLst>
                <a:tab pos="804672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Arrow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represent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Connection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reeform 53"/>
          <p:cNvSpPr/>
          <p:nvPr/>
        </p:nvSpPr>
        <p:spPr>
          <a:xfrm>
            <a:off x="1308607" y="2299207"/>
            <a:ext cx="1104392" cy="431292"/>
          </a:xfrm>
          <a:custGeom>
            <a:avLst/>
            <a:gdLst>
              <a:gd name="connsiteX0" fmla="*/ 15367 w 1104392"/>
              <a:gd name="connsiteY0" fmla="*/ 437642 h 431292"/>
              <a:gd name="connsiteX1" fmla="*/ 1110742 w 1104392"/>
              <a:gd name="connsiteY1" fmla="*/ 437642 h 431292"/>
              <a:gd name="connsiteX2" fmla="*/ 1110742 w 1104392"/>
              <a:gd name="connsiteY2" fmla="*/ 18542 h 431292"/>
              <a:gd name="connsiteX3" fmla="*/ 15367 w 1104392"/>
              <a:gd name="connsiteY3" fmla="*/ 18542 h 431292"/>
              <a:gd name="connsiteX4" fmla="*/ 15367 w 1104392"/>
              <a:gd name="connsiteY4" fmla="*/ 437642 h 431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4392" h="431292">
                <a:moveTo>
                  <a:pt x="15367" y="437642"/>
                </a:moveTo>
                <a:lnTo>
                  <a:pt x="1110742" y="437642"/>
                </a:lnTo>
                <a:lnTo>
                  <a:pt x="1110742" y="18542"/>
                </a:lnTo>
                <a:lnTo>
                  <a:pt x="15367" y="18542"/>
                </a:lnTo>
                <a:lnTo>
                  <a:pt x="15367" y="437642"/>
                </a:lnTo>
                <a:close/>
              </a:path>
            </a:pathLst>
          </a:custGeom>
          <a:solidFill>
            <a:srgbClr val="0000FF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 54"/>
          <p:cNvSpPr/>
          <p:nvPr/>
        </p:nvSpPr>
        <p:spPr>
          <a:xfrm>
            <a:off x="978407" y="1638807"/>
            <a:ext cx="837692" cy="304292"/>
          </a:xfrm>
          <a:custGeom>
            <a:avLst/>
            <a:gdLst>
              <a:gd name="connsiteX0" fmla="*/ 431292 w 837692"/>
              <a:gd name="connsiteY0" fmla="*/ 22352 h 304292"/>
              <a:gd name="connsiteX1" fmla="*/ 21717 w 837692"/>
              <a:gd name="connsiteY1" fmla="*/ 165227 h 304292"/>
              <a:gd name="connsiteX2" fmla="*/ 431292 w 837692"/>
              <a:gd name="connsiteY2" fmla="*/ 308102 h 304292"/>
              <a:gd name="connsiteX3" fmla="*/ 840867 w 837692"/>
              <a:gd name="connsiteY3" fmla="*/ 165227 h 304292"/>
              <a:gd name="connsiteX4" fmla="*/ 431292 w 837692"/>
              <a:gd name="connsiteY4" fmla="*/ 22352 h 304292"/>
              <a:gd name="connsiteX5" fmla="*/ 431292 w 837692"/>
              <a:gd name="connsiteY5" fmla="*/ 22352 h 304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37692" h="304292">
                <a:moveTo>
                  <a:pt x="431292" y="22352"/>
                </a:moveTo>
                <a:cubicBezTo>
                  <a:pt x="205079" y="22352"/>
                  <a:pt x="21717" y="86360"/>
                  <a:pt x="21717" y="165227"/>
                </a:cubicBezTo>
                <a:cubicBezTo>
                  <a:pt x="21717" y="244094"/>
                  <a:pt x="205079" y="308102"/>
                  <a:pt x="431292" y="308102"/>
                </a:cubicBezTo>
                <a:cubicBezTo>
                  <a:pt x="657479" y="308102"/>
                  <a:pt x="840867" y="244094"/>
                  <a:pt x="840867" y="165227"/>
                </a:cubicBezTo>
                <a:cubicBezTo>
                  <a:pt x="840867" y="86360"/>
                  <a:pt x="657479" y="22352"/>
                  <a:pt x="431292" y="22352"/>
                </a:cubicBezTo>
                <a:lnTo>
                  <a:pt x="431292" y="2235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 55"/>
          <p:cNvSpPr/>
          <p:nvPr/>
        </p:nvSpPr>
        <p:spPr>
          <a:xfrm>
            <a:off x="2223007" y="1638807"/>
            <a:ext cx="786892" cy="304292"/>
          </a:xfrm>
          <a:custGeom>
            <a:avLst/>
            <a:gdLst>
              <a:gd name="connsiteX0" fmla="*/ 401193 w 786892"/>
              <a:gd name="connsiteY0" fmla="*/ 22352 h 304292"/>
              <a:gd name="connsiteX1" fmla="*/ 15367 w 786892"/>
              <a:gd name="connsiteY1" fmla="*/ 165227 h 304292"/>
              <a:gd name="connsiteX2" fmla="*/ 401193 w 786892"/>
              <a:gd name="connsiteY2" fmla="*/ 308102 h 304292"/>
              <a:gd name="connsiteX3" fmla="*/ 786892 w 786892"/>
              <a:gd name="connsiteY3" fmla="*/ 165227 h 304292"/>
              <a:gd name="connsiteX4" fmla="*/ 401193 w 786892"/>
              <a:gd name="connsiteY4" fmla="*/ 22352 h 304292"/>
              <a:gd name="connsiteX5" fmla="*/ 401193 w 786892"/>
              <a:gd name="connsiteY5" fmla="*/ 22352 h 304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86892" h="304292">
                <a:moveTo>
                  <a:pt x="401193" y="22352"/>
                </a:moveTo>
                <a:cubicBezTo>
                  <a:pt x="188087" y="22352"/>
                  <a:pt x="15367" y="86360"/>
                  <a:pt x="15367" y="165227"/>
                </a:cubicBezTo>
                <a:cubicBezTo>
                  <a:pt x="15367" y="244094"/>
                  <a:pt x="188087" y="308102"/>
                  <a:pt x="401193" y="308102"/>
                </a:cubicBezTo>
                <a:cubicBezTo>
                  <a:pt x="614172" y="308102"/>
                  <a:pt x="786892" y="244094"/>
                  <a:pt x="786892" y="165227"/>
                </a:cubicBezTo>
                <a:cubicBezTo>
                  <a:pt x="786892" y="86360"/>
                  <a:pt x="614172" y="22352"/>
                  <a:pt x="401193" y="22352"/>
                </a:cubicBezTo>
                <a:lnTo>
                  <a:pt x="401193" y="22352"/>
                </a:lnTo>
                <a:close/>
              </a:path>
            </a:pathLst>
          </a:custGeom>
          <a:solidFill>
            <a:srgbClr val="00009F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 56"/>
          <p:cNvSpPr/>
          <p:nvPr/>
        </p:nvSpPr>
        <p:spPr>
          <a:xfrm>
            <a:off x="749807" y="3010407"/>
            <a:ext cx="736092" cy="355092"/>
          </a:xfrm>
          <a:custGeom>
            <a:avLst/>
            <a:gdLst>
              <a:gd name="connsiteX0" fmla="*/ 383667 w 736092"/>
              <a:gd name="connsiteY0" fmla="*/ 21717 h 355092"/>
              <a:gd name="connsiteX1" fmla="*/ 21717 w 736092"/>
              <a:gd name="connsiteY1" fmla="*/ 193167 h 355092"/>
              <a:gd name="connsiteX2" fmla="*/ 383667 w 736092"/>
              <a:gd name="connsiteY2" fmla="*/ 364617 h 355092"/>
              <a:gd name="connsiteX3" fmla="*/ 745617 w 736092"/>
              <a:gd name="connsiteY3" fmla="*/ 193167 h 355092"/>
              <a:gd name="connsiteX4" fmla="*/ 383667 w 736092"/>
              <a:gd name="connsiteY4" fmla="*/ 21717 h 355092"/>
              <a:gd name="connsiteX5" fmla="*/ 383667 w 736092"/>
              <a:gd name="connsiteY5" fmla="*/ 21717 h 355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36092" h="355092">
                <a:moveTo>
                  <a:pt x="383667" y="21717"/>
                </a:moveTo>
                <a:cubicBezTo>
                  <a:pt x="183756" y="21717"/>
                  <a:pt x="21717" y="98425"/>
                  <a:pt x="21717" y="193167"/>
                </a:cubicBezTo>
                <a:cubicBezTo>
                  <a:pt x="21717" y="287909"/>
                  <a:pt x="183756" y="364617"/>
                  <a:pt x="383667" y="364617"/>
                </a:cubicBezTo>
                <a:cubicBezTo>
                  <a:pt x="583565" y="364617"/>
                  <a:pt x="745617" y="287909"/>
                  <a:pt x="745617" y="193167"/>
                </a:cubicBezTo>
                <a:cubicBezTo>
                  <a:pt x="745617" y="98425"/>
                  <a:pt x="583565" y="21717"/>
                  <a:pt x="383667" y="21717"/>
                </a:cubicBezTo>
                <a:lnTo>
                  <a:pt x="383667" y="21717"/>
                </a:lnTo>
                <a:close/>
              </a:path>
            </a:pathLst>
          </a:custGeom>
          <a:solidFill>
            <a:srgbClr val="0000C3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 57"/>
          <p:cNvSpPr/>
          <p:nvPr/>
        </p:nvSpPr>
        <p:spPr>
          <a:xfrm>
            <a:off x="2007107" y="2985007"/>
            <a:ext cx="812292" cy="316992"/>
          </a:xfrm>
          <a:custGeom>
            <a:avLst/>
            <a:gdLst>
              <a:gd name="connsiteX0" fmla="*/ 417068 w 812292"/>
              <a:gd name="connsiteY0" fmla="*/ 18542 h 316992"/>
              <a:gd name="connsiteX1" fmla="*/ 21717 w 812292"/>
              <a:gd name="connsiteY1" fmla="*/ 170942 h 316992"/>
              <a:gd name="connsiteX2" fmla="*/ 417068 w 812292"/>
              <a:gd name="connsiteY2" fmla="*/ 323342 h 316992"/>
              <a:gd name="connsiteX3" fmla="*/ 812292 w 812292"/>
              <a:gd name="connsiteY3" fmla="*/ 170942 h 316992"/>
              <a:gd name="connsiteX4" fmla="*/ 417068 w 812292"/>
              <a:gd name="connsiteY4" fmla="*/ 18542 h 316992"/>
              <a:gd name="connsiteX5" fmla="*/ 417068 w 812292"/>
              <a:gd name="connsiteY5" fmla="*/ 18542 h 316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2292" h="316992">
                <a:moveTo>
                  <a:pt x="417068" y="18542"/>
                </a:moveTo>
                <a:cubicBezTo>
                  <a:pt x="198628" y="18542"/>
                  <a:pt x="21717" y="86741"/>
                  <a:pt x="21717" y="170942"/>
                </a:cubicBezTo>
                <a:cubicBezTo>
                  <a:pt x="21717" y="255143"/>
                  <a:pt x="198628" y="323342"/>
                  <a:pt x="417068" y="323342"/>
                </a:cubicBezTo>
                <a:cubicBezTo>
                  <a:pt x="635381" y="323342"/>
                  <a:pt x="812292" y="255143"/>
                  <a:pt x="812292" y="170942"/>
                </a:cubicBezTo>
                <a:cubicBezTo>
                  <a:pt x="812292" y="86741"/>
                  <a:pt x="635381" y="18542"/>
                  <a:pt x="417068" y="18542"/>
                </a:cubicBezTo>
                <a:lnTo>
                  <a:pt x="417068" y="185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 58"/>
          <p:cNvSpPr/>
          <p:nvPr/>
        </p:nvSpPr>
        <p:spPr>
          <a:xfrm>
            <a:off x="3543807" y="2248407"/>
            <a:ext cx="1104392" cy="316992"/>
          </a:xfrm>
          <a:custGeom>
            <a:avLst/>
            <a:gdLst>
              <a:gd name="connsiteX0" fmla="*/ 18542 w 1104392"/>
              <a:gd name="connsiteY0" fmla="*/ 316992 h 316992"/>
              <a:gd name="connsiteX1" fmla="*/ 1113917 w 1104392"/>
              <a:gd name="connsiteY1" fmla="*/ 316992 h 316992"/>
              <a:gd name="connsiteX2" fmla="*/ 1113917 w 1104392"/>
              <a:gd name="connsiteY2" fmla="*/ 12192 h 316992"/>
              <a:gd name="connsiteX3" fmla="*/ 18542 w 1104392"/>
              <a:gd name="connsiteY3" fmla="*/ 12192 h 316992"/>
              <a:gd name="connsiteX4" fmla="*/ 18542 w 1104392"/>
              <a:gd name="connsiteY4" fmla="*/ 316992 h 316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4392" h="316992">
                <a:moveTo>
                  <a:pt x="18542" y="316992"/>
                </a:moveTo>
                <a:lnTo>
                  <a:pt x="1113917" y="316992"/>
                </a:lnTo>
                <a:lnTo>
                  <a:pt x="1113917" y="12192"/>
                </a:lnTo>
                <a:lnTo>
                  <a:pt x="18542" y="12192"/>
                </a:lnTo>
                <a:lnTo>
                  <a:pt x="18542" y="316992"/>
                </a:lnTo>
                <a:close/>
              </a:path>
            </a:pathLst>
          </a:custGeom>
          <a:solidFill>
            <a:srgbClr val="0000FF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 59"/>
          <p:cNvSpPr/>
          <p:nvPr/>
        </p:nvSpPr>
        <p:spPr>
          <a:xfrm>
            <a:off x="3594607" y="1638807"/>
            <a:ext cx="736092" cy="304292"/>
          </a:xfrm>
          <a:custGeom>
            <a:avLst/>
            <a:gdLst>
              <a:gd name="connsiteX0" fmla="*/ 377317 w 736092"/>
              <a:gd name="connsiteY0" fmla="*/ 22352 h 304292"/>
              <a:gd name="connsiteX1" fmla="*/ 15367 w 736092"/>
              <a:gd name="connsiteY1" fmla="*/ 165227 h 304292"/>
              <a:gd name="connsiteX2" fmla="*/ 377317 w 736092"/>
              <a:gd name="connsiteY2" fmla="*/ 308102 h 304292"/>
              <a:gd name="connsiteX3" fmla="*/ 739267 w 736092"/>
              <a:gd name="connsiteY3" fmla="*/ 165227 h 304292"/>
              <a:gd name="connsiteX4" fmla="*/ 377317 w 736092"/>
              <a:gd name="connsiteY4" fmla="*/ 22352 h 304292"/>
              <a:gd name="connsiteX5" fmla="*/ 377317 w 736092"/>
              <a:gd name="connsiteY5" fmla="*/ 22352 h 304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36092" h="304292">
                <a:moveTo>
                  <a:pt x="377317" y="22352"/>
                </a:moveTo>
                <a:cubicBezTo>
                  <a:pt x="177419" y="22352"/>
                  <a:pt x="15367" y="86360"/>
                  <a:pt x="15367" y="165227"/>
                </a:cubicBezTo>
                <a:cubicBezTo>
                  <a:pt x="15367" y="244094"/>
                  <a:pt x="177419" y="308102"/>
                  <a:pt x="377317" y="308102"/>
                </a:cubicBezTo>
                <a:cubicBezTo>
                  <a:pt x="577215" y="308102"/>
                  <a:pt x="739267" y="244094"/>
                  <a:pt x="739267" y="165227"/>
                </a:cubicBezTo>
                <a:cubicBezTo>
                  <a:pt x="739267" y="86360"/>
                  <a:pt x="577215" y="22352"/>
                  <a:pt x="377317" y="22352"/>
                </a:cubicBezTo>
                <a:lnTo>
                  <a:pt x="377317" y="22352"/>
                </a:lnTo>
                <a:close/>
              </a:path>
            </a:pathLst>
          </a:custGeom>
          <a:solidFill>
            <a:srgbClr val="0000FF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 60"/>
          <p:cNvSpPr/>
          <p:nvPr/>
        </p:nvSpPr>
        <p:spPr>
          <a:xfrm>
            <a:off x="3188207" y="2870707"/>
            <a:ext cx="672592" cy="329692"/>
          </a:xfrm>
          <a:custGeom>
            <a:avLst/>
            <a:gdLst>
              <a:gd name="connsiteX0" fmla="*/ 345567 w 672592"/>
              <a:gd name="connsiteY0" fmla="*/ 19177 h 329692"/>
              <a:gd name="connsiteX1" fmla="*/ 12192 w 672592"/>
              <a:gd name="connsiteY1" fmla="*/ 176276 h 329692"/>
              <a:gd name="connsiteX2" fmla="*/ 345567 w 672592"/>
              <a:gd name="connsiteY2" fmla="*/ 333502 h 329692"/>
              <a:gd name="connsiteX3" fmla="*/ 678942 w 672592"/>
              <a:gd name="connsiteY3" fmla="*/ 176276 h 329692"/>
              <a:gd name="connsiteX4" fmla="*/ 345567 w 672592"/>
              <a:gd name="connsiteY4" fmla="*/ 19177 h 329692"/>
              <a:gd name="connsiteX5" fmla="*/ 345567 w 672592"/>
              <a:gd name="connsiteY5" fmla="*/ 19177 h 32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2592" h="329692">
                <a:moveTo>
                  <a:pt x="345567" y="19177"/>
                </a:moveTo>
                <a:cubicBezTo>
                  <a:pt x="161417" y="19177"/>
                  <a:pt x="12192" y="89535"/>
                  <a:pt x="12192" y="176276"/>
                </a:cubicBezTo>
                <a:cubicBezTo>
                  <a:pt x="12192" y="263144"/>
                  <a:pt x="161417" y="333502"/>
                  <a:pt x="345567" y="333502"/>
                </a:cubicBezTo>
                <a:cubicBezTo>
                  <a:pt x="529717" y="333502"/>
                  <a:pt x="678942" y="263144"/>
                  <a:pt x="678942" y="176276"/>
                </a:cubicBezTo>
                <a:cubicBezTo>
                  <a:pt x="678942" y="89535"/>
                  <a:pt x="529717" y="19177"/>
                  <a:pt x="345567" y="19177"/>
                </a:cubicBezTo>
                <a:lnTo>
                  <a:pt x="345567" y="19177"/>
                </a:lnTo>
                <a:close/>
              </a:path>
            </a:pathLst>
          </a:custGeom>
          <a:solidFill>
            <a:srgbClr val="0000FF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 61"/>
          <p:cNvSpPr/>
          <p:nvPr/>
        </p:nvSpPr>
        <p:spPr>
          <a:xfrm>
            <a:off x="4267707" y="2870707"/>
            <a:ext cx="837692" cy="329692"/>
          </a:xfrm>
          <a:custGeom>
            <a:avLst/>
            <a:gdLst>
              <a:gd name="connsiteX0" fmla="*/ 432943 w 837692"/>
              <a:gd name="connsiteY0" fmla="*/ 19812 h 329692"/>
              <a:gd name="connsiteX1" fmla="*/ 18542 w 837692"/>
              <a:gd name="connsiteY1" fmla="*/ 176657 h 329692"/>
              <a:gd name="connsiteX2" fmla="*/ 432943 w 837692"/>
              <a:gd name="connsiteY2" fmla="*/ 333502 h 329692"/>
              <a:gd name="connsiteX3" fmla="*/ 847217 w 837692"/>
              <a:gd name="connsiteY3" fmla="*/ 176657 h 329692"/>
              <a:gd name="connsiteX4" fmla="*/ 432943 w 837692"/>
              <a:gd name="connsiteY4" fmla="*/ 19812 h 329692"/>
              <a:gd name="connsiteX5" fmla="*/ 432943 w 837692"/>
              <a:gd name="connsiteY5" fmla="*/ 19812 h 32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37692" h="329692">
                <a:moveTo>
                  <a:pt x="432943" y="19812"/>
                </a:moveTo>
                <a:cubicBezTo>
                  <a:pt x="204089" y="19812"/>
                  <a:pt x="18542" y="90043"/>
                  <a:pt x="18542" y="176657"/>
                </a:cubicBezTo>
                <a:cubicBezTo>
                  <a:pt x="18542" y="263271"/>
                  <a:pt x="204089" y="333502"/>
                  <a:pt x="432943" y="333502"/>
                </a:cubicBezTo>
                <a:cubicBezTo>
                  <a:pt x="661670" y="333502"/>
                  <a:pt x="847217" y="263271"/>
                  <a:pt x="847217" y="176657"/>
                </a:cubicBezTo>
                <a:cubicBezTo>
                  <a:pt x="847217" y="90043"/>
                  <a:pt x="661670" y="19812"/>
                  <a:pt x="432943" y="19812"/>
                </a:cubicBezTo>
                <a:lnTo>
                  <a:pt x="432943" y="19812"/>
                </a:lnTo>
                <a:close/>
              </a:path>
            </a:pathLst>
          </a:custGeom>
          <a:solidFill>
            <a:srgbClr val="0000FF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 62"/>
          <p:cNvSpPr/>
          <p:nvPr/>
        </p:nvSpPr>
        <p:spPr>
          <a:xfrm>
            <a:off x="4851907" y="1930907"/>
            <a:ext cx="875792" cy="799592"/>
          </a:xfrm>
          <a:custGeom>
            <a:avLst/>
            <a:gdLst>
              <a:gd name="connsiteX0" fmla="*/ 448818 w 875792"/>
              <a:gd name="connsiteY0" fmla="*/ 16002 h 799592"/>
              <a:gd name="connsiteX1" fmla="*/ 15367 w 875792"/>
              <a:gd name="connsiteY1" fmla="*/ 411226 h 799592"/>
              <a:gd name="connsiteX2" fmla="*/ 448818 w 875792"/>
              <a:gd name="connsiteY2" fmla="*/ 806577 h 799592"/>
              <a:gd name="connsiteX3" fmla="*/ 882142 w 875792"/>
              <a:gd name="connsiteY3" fmla="*/ 411226 h 799592"/>
              <a:gd name="connsiteX4" fmla="*/ 448818 w 875792"/>
              <a:gd name="connsiteY4" fmla="*/ 16002 h 799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5792" h="799592">
                <a:moveTo>
                  <a:pt x="448818" y="16002"/>
                </a:moveTo>
                <a:lnTo>
                  <a:pt x="15367" y="411226"/>
                </a:lnTo>
                <a:lnTo>
                  <a:pt x="448818" y="806577"/>
                </a:lnTo>
                <a:lnTo>
                  <a:pt x="882142" y="411226"/>
                </a:lnTo>
                <a:lnTo>
                  <a:pt x="448818" y="16002"/>
                </a:lnTo>
                <a:close/>
              </a:path>
            </a:pathLst>
          </a:custGeom>
          <a:solidFill>
            <a:srgbClr val="0000DB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Freeform 63"/>
          <p:cNvSpPr/>
          <p:nvPr/>
        </p:nvSpPr>
        <p:spPr>
          <a:xfrm>
            <a:off x="5969507" y="2172207"/>
            <a:ext cx="1053592" cy="291592"/>
          </a:xfrm>
          <a:custGeom>
            <a:avLst/>
            <a:gdLst>
              <a:gd name="connsiteX0" fmla="*/ 21717 w 1053592"/>
              <a:gd name="connsiteY0" fmla="*/ 297942 h 291592"/>
              <a:gd name="connsiteX1" fmla="*/ 1059942 w 1053592"/>
              <a:gd name="connsiteY1" fmla="*/ 297942 h 291592"/>
              <a:gd name="connsiteX2" fmla="*/ 1059942 w 1053592"/>
              <a:gd name="connsiteY2" fmla="*/ 21717 h 291592"/>
              <a:gd name="connsiteX3" fmla="*/ 21717 w 1053592"/>
              <a:gd name="connsiteY3" fmla="*/ 21717 h 291592"/>
              <a:gd name="connsiteX4" fmla="*/ 21717 w 1053592"/>
              <a:gd name="connsiteY4" fmla="*/ 297942 h 291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3592" h="291592">
                <a:moveTo>
                  <a:pt x="21717" y="297942"/>
                </a:moveTo>
                <a:lnTo>
                  <a:pt x="1059942" y="297942"/>
                </a:lnTo>
                <a:lnTo>
                  <a:pt x="1059942" y="21717"/>
                </a:lnTo>
                <a:lnTo>
                  <a:pt x="21717" y="21717"/>
                </a:lnTo>
                <a:lnTo>
                  <a:pt x="21717" y="2979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 64"/>
          <p:cNvSpPr/>
          <p:nvPr/>
        </p:nvSpPr>
        <p:spPr>
          <a:xfrm>
            <a:off x="1473707" y="3289807"/>
            <a:ext cx="850392" cy="799592"/>
          </a:xfrm>
          <a:custGeom>
            <a:avLst/>
            <a:gdLst>
              <a:gd name="connsiteX0" fmla="*/ 436118 w 850392"/>
              <a:gd name="connsiteY0" fmla="*/ 19177 h 799592"/>
              <a:gd name="connsiteX1" fmla="*/ 12192 w 850392"/>
              <a:gd name="connsiteY1" fmla="*/ 409702 h 799592"/>
              <a:gd name="connsiteX2" fmla="*/ 436118 w 850392"/>
              <a:gd name="connsiteY2" fmla="*/ 800227 h 799592"/>
              <a:gd name="connsiteX3" fmla="*/ 859917 w 850392"/>
              <a:gd name="connsiteY3" fmla="*/ 409702 h 799592"/>
              <a:gd name="connsiteX4" fmla="*/ 436118 w 850392"/>
              <a:gd name="connsiteY4" fmla="*/ 19177 h 799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0392" h="799592">
                <a:moveTo>
                  <a:pt x="436118" y="19177"/>
                </a:moveTo>
                <a:lnTo>
                  <a:pt x="12192" y="409702"/>
                </a:lnTo>
                <a:lnTo>
                  <a:pt x="436118" y="800227"/>
                </a:lnTo>
                <a:lnTo>
                  <a:pt x="859917" y="409702"/>
                </a:lnTo>
                <a:lnTo>
                  <a:pt x="436118" y="19177"/>
                </a:lnTo>
                <a:close/>
              </a:path>
            </a:pathLst>
          </a:custGeom>
          <a:solidFill>
            <a:srgbClr val="000048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 65"/>
          <p:cNvSpPr/>
          <p:nvPr/>
        </p:nvSpPr>
        <p:spPr>
          <a:xfrm>
            <a:off x="1372107" y="4547107"/>
            <a:ext cx="1040892" cy="329692"/>
          </a:xfrm>
          <a:custGeom>
            <a:avLst/>
            <a:gdLst>
              <a:gd name="connsiteX0" fmla="*/ 18542 w 1040892"/>
              <a:gd name="connsiteY0" fmla="*/ 332867 h 329692"/>
              <a:gd name="connsiteX1" fmla="*/ 1047242 w 1040892"/>
              <a:gd name="connsiteY1" fmla="*/ 332867 h 329692"/>
              <a:gd name="connsiteX2" fmla="*/ 1047242 w 1040892"/>
              <a:gd name="connsiteY2" fmla="*/ 18542 h 329692"/>
              <a:gd name="connsiteX3" fmla="*/ 18542 w 1040892"/>
              <a:gd name="connsiteY3" fmla="*/ 18542 h 329692"/>
              <a:gd name="connsiteX4" fmla="*/ 18542 w 1040892"/>
              <a:gd name="connsiteY4" fmla="*/ 332867 h 32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0892" h="329692">
                <a:moveTo>
                  <a:pt x="18542" y="332867"/>
                </a:moveTo>
                <a:lnTo>
                  <a:pt x="1047242" y="332867"/>
                </a:lnTo>
                <a:lnTo>
                  <a:pt x="1047242" y="18542"/>
                </a:lnTo>
                <a:lnTo>
                  <a:pt x="18542" y="18542"/>
                </a:lnTo>
                <a:lnTo>
                  <a:pt x="18542" y="332867"/>
                </a:lnTo>
                <a:close/>
              </a:path>
            </a:pathLst>
          </a:custGeom>
          <a:solidFill>
            <a:srgbClr val="0000FF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 66"/>
          <p:cNvSpPr/>
          <p:nvPr/>
        </p:nvSpPr>
        <p:spPr>
          <a:xfrm>
            <a:off x="2527807" y="3848607"/>
            <a:ext cx="786892" cy="431292"/>
          </a:xfrm>
          <a:custGeom>
            <a:avLst/>
            <a:gdLst>
              <a:gd name="connsiteX0" fmla="*/ 405892 w 786892"/>
              <a:gd name="connsiteY0" fmla="*/ 21717 h 431292"/>
              <a:gd name="connsiteX1" fmla="*/ 15367 w 786892"/>
              <a:gd name="connsiteY1" fmla="*/ 231267 h 431292"/>
              <a:gd name="connsiteX2" fmla="*/ 405892 w 786892"/>
              <a:gd name="connsiteY2" fmla="*/ 440817 h 431292"/>
              <a:gd name="connsiteX3" fmla="*/ 796417 w 786892"/>
              <a:gd name="connsiteY3" fmla="*/ 231267 h 431292"/>
              <a:gd name="connsiteX4" fmla="*/ 405892 w 786892"/>
              <a:gd name="connsiteY4" fmla="*/ 21717 h 431292"/>
              <a:gd name="connsiteX5" fmla="*/ 405892 w 786892"/>
              <a:gd name="connsiteY5" fmla="*/ 21717 h 431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86892" h="431292">
                <a:moveTo>
                  <a:pt x="405892" y="21717"/>
                </a:moveTo>
                <a:cubicBezTo>
                  <a:pt x="190246" y="21717"/>
                  <a:pt x="15367" y="115570"/>
                  <a:pt x="15367" y="231267"/>
                </a:cubicBezTo>
                <a:cubicBezTo>
                  <a:pt x="15367" y="346964"/>
                  <a:pt x="190246" y="440817"/>
                  <a:pt x="405892" y="440817"/>
                </a:cubicBezTo>
                <a:cubicBezTo>
                  <a:pt x="621538" y="440817"/>
                  <a:pt x="796417" y="346964"/>
                  <a:pt x="796417" y="231267"/>
                </a:cubicBezTo>
                <a:cubicBezTo>
                  <a:pt x="796417" y="115570"/>
                  <a:pt x="621538" y="21717"/>
                  <a:pt x="405892" y="21717"/>
                </a:cubicBezTo>
                <a:lnTo>
                  <a:pt x="405892" y="2171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 67"/>
          <p:cNvSpPr/>
          <p:nvPr/>
        </p:nvSpPr>
        <p:spPr>
          <a:xfrm>
            <a:off x="584707" y="3962907"/>
            <a:ext cx="863092" cy="342392"/>
          </a:xfrm>
          <a:custGeom>
            <a:avLst/>
            <a:gdLst>
              <a:gd name="connsiteX0" fmla="*/ 443992 w 863092"/>
              <a:gd name="connsiteY0" fmla="*/ 20447 h 342392"/>
              <a:gd name="connsiteX1" fmla="*/ 15367 w 863092"/>
              <a:gd name="connsiteY1" fmla="*/ 187071 h 342392"/>
              <a:gd name="connsiteX2" fmla="*/ 443992 w 863092"/>
              <a:gd name="connsiteY2" fmla="*/ 353822 h 342392"/>
              <a:gd name="connsiteX3" fmla="*/ 872617 w 863092"/>
              <a:gd name="connsiteY3" fmla="*/ 187071 h 342392"/>
              <a:gd name="connsiteX4" fmla="*/ 443992 w 863092"/>
              <a:gd name="connsiteY4" fmla="*/ 20447 h 342392"/>
              <a:gd name="connsiteX5" fmla="*/ 443992 w 863092"/>
              <a:gd name="connsiteY5" fmla="*/ 20447 h 342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3092" h="342392">
                <a:moveTo>
                  <a:pt x="443992" y="20447"/>
                </a:moveTo>
                <a:cubicBezTo>
                  <a:pt x="207251" y="20447"/>
                  <a:pt x="15367" y="95123"/>
                  <a:pt x="15367" y="187071"/>
                </a:cubicBezTo>
                <a:cubicBezTo>
                  <a:pt x="15367" y="279146"/>
                  <a:pt x="207251" y="353822"/>
                  <a:pt x="443992" y="353822"/>
                </a:cubicBezTo>
                <a:cubicBezTo>
                  <a:pt x="680732" y="353822"/>
                  <a:pt x="872617" y="279146"/>
                  <a:pt x="872617" y="187071"/>
                </a:cubicBezTo>
                <a:cubicBezTo>
                  <a:pt x="872617" y="95123"/>
                  <a:pt x="680732" y="20447"/>
                  <a:pt x="443992" y="20447"/>
                </a:cubicBezTo>
                <a:lnTo>
                  <a:pt x="443992" y="2044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 68"/>
          <p:cNvSpPr/>
          <p:nvPr/>
        </p:nvSpPr>
        <p:spPr>
          <a:xfrm>
            <a:off x="635507" y="5232907"/>
            <a:ext cx="990092" cy="329692"/>
          </a:xfrm>
          <a:custGeom>
            <a:avLst/>
            <a:gdLst>
              <a:gd name="connsiteX0" fmla="*/ 507492 w 990092"/>
              <a:gd name="connsiteY0" fmla="*/ 18542 h 329692"/>
              <a:gd name="connsiteX1" fmla="*/ 21717 w 990092"/>
              <a:gd name="connsiteY1" fmla="*/ 175641 h 329692"/>
              <a:gd name="connsiteX2" fmla="*/ 507492 w 990092"/>
              <a:gd name="connsiteY2" fmla="*/ 332867 h 329692"/>
              <a:gd name="connsiteX3" fmla="*/ 993267 w 990092"/>
              <a:gd name="connsiteY3" fmla="*/ 175641 h 329692"/>
              <a:gd name="connsiteX4" fmla="*/ 507492 w 990092"/>
              <a:gd name="connsiteY4" fmla="*/ 18542 h 329692"/>
              <a:gd name="connsiteX5" fmla="*/ 507492 w 990092"/>
              <a:gd name="connsiteY5" fmla="*/ 18542 h 32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0092" h="329692">
                <a:moveTo>
                  <a:pt x="507492" y="18542"/>
                </a:moveTo>
                <a:cubicBezTo>
                  <a:pt x="239192" y="18542"/>
                  <a:pt x="21717" y="88900"/>
                  <a:pt x="21717" y="175641"/>
                </a:cubicBezTo>
                <a:cubicBezTo>
                  <a:pt x="21717" y="262509"/>
                  <a:pt x="239192" y="332867"/>
                  <a:pt x="507492" y="332867"/>
                </a:cubicBezTo>
                <a:cubicBezTo>
                  <a:pt x="775843" y="332867"/>
                  <a:pt x="993267" y="262509"/>
                  <a:pt x="993267" y="175641"/>
                </a:cubicBezTo>
                <a:cubicBezTo>
                  <a:pt x="993267" y="88900"/>
                  <a:pt x="775843" y="18542"/>
                  <a:pt x="507492" y="18542"/>
                </a:cubicBezTo>
                <a:lnTo>
                  <a:pt x="507492" y="185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Freeform 69"/>
          <p:cNvSpPr/>
          <p:nvPr/>
        </p:nvSpPr>
        <p:spPr>
          <a:xfrm>
            <a:off x="2311907" y="5232907"/>
            <a:ext cx="901192" cy="418592"/>
          </a:xfrm>
          <a:custGeom>
            <a:avLst/>
            <a:gdLst>
              <a:gd name="connsiteX0" fmla="*/ 464693 w 901192"/>
              <a:gd name="connsiteY0" fmla="*/ 18542 h 418592"/>
              <a:gd name="connsiteX1" fmla="*/ 21717 w 901192"/>
              <a:gd name="connsiteY1" fmla="*/ 218567 h 418592"/>
              <a:gd name="connsiteX2" fmla="*/ 464693 w 901192"/>
              <a:gd name="connsiteY2" fmla="*/ 418592 h 418592"/>
              <a:gd name="connsiteX3" fmla="*/ 907542 w 901192"/>
              <a:gd name="connsiteY3" fmla="*/ 218567 h 418592"/>
              <a:gd name="connsiteX4" fmla="*/ 464693 w 901192"/>
              <a:gd name="connsiteY4" fmla="*/ 18542 h 418592"/>
              <a:gd name="connsiteX5" fmla="*/ 464693 w 901192"/>
              <a:gd name="connsiteY5" fmla="*/ 18542 h 418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1192" h="418592">
                <a:moveTo>
                  <a:pt x="464693" y="18542"/>
                </a:moveTo>
                <a:cubicBezTo>
                  <a:pt x="219964" y="18542"/>
                  <a:pt x="21717" y="108077"/>
                  <a:pt x="21717" y="218567"/>
                </a:cubicBezTo>
                <a:cubicBezTo>
                  <a:pt x="21717" y="329057"/>
                  <a:pt x="219964" y="418592"/>
                  <a:pt x="464693" y="418592"/>
                </a:cubicBezTo>
                <a:cubicBezTo>
                  <a:pt x="709295" y="418592"/>
                  <a:pt x="907542" y="329057"/>
                  <a:pt x="907542" y="218567"/>
                </a:cubicBezTo>
                <a:cubicBezTo>
                  <a:pt x="907542" y="108077"/>
                  <a:pt x="709295" y="18542"/>
                  <a:pt x="464693" y="18542"/>
                </a:cubicBezTo>
                <a:lnTo>
                  <a:pt x="464693" y="185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Freeform 70"/>
          <p:cNvSpPr/>
          <p:nvPr/>
        </p:nvSpPr>
        <p:spPr>
          <a:xfrm>
            <a:off x="5029707" y="4547107"/>
            <a:ext cx="1028192" cy="253492"/>
          </a:xfrm>
          <a:custGeom>
            <a:avLst/>
            <a:gdLst>
              <a:gd name="connsiteX0" fmla="*/ 18542 w 1028192"/>
              <a:gd name="connsiteY0" fmla="*/ 256667 h 253492"/>
              <a:gd name="connsiteX1" fmla="*/ 1028192 w 1028192"/>
              <a:gd name="connsiteY1" fmla="*/ 256667 h 253492"/>
              <a:gd name="connsiteX2" fmla="*/ 1028192 w 1028192"/>
              <a:gd name="connsiteY2" fmla="*/ 18542 h 253492"/>
              <a:gd name="connsiteX3" fmla="*/ 18542 w 1028192"/>
              <a:gd name="connsiteY3" fmla="*/ 18542 h 253492"/>
              <a:gd name="connsiteX4" fmla="*/ 18542 w 1028192"/>
              <a:gd name="connsiteY4" fmla="*/ 256667 h 253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8192" h="253492">
                <a:moveTo>
                  <a:pt x="18542" y="256667"/>
                </a:moveTo>
                <a:lnTo>
                  <a:pt x="1028192" y="256667"/>
                </a:lnTo>
                <a:lnTo>
                  <a:pt x="1028192" y="18542"/>
                </a:lnTo>
                <a:lnTo>
                  <a:pt x="18542" y="18542"/>
                </a:lnTo>
                <a:lnTo>
                  <a:pt x="18542" y="25666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Freeform 71"/>
          <p:cNvSpPr/>
          <p:nvPr/>
        </p:nvSpPr>
        <p:spPr>
          <a:xfrm>
            <a:off x="5842507" y="5359907"/>
            <a:ext cx="774192" cy="291592"/>
          </a:xfrm>
          <a:custGeom>
            <a:avLst/>
            <a:gdLst>
              <a:gd name="connsiteX0" fmla="*/ 396367 w 774192"/>
              <a:gd name="connsiteY0" fmla="*/ 15367 h 291592"/>
              <a:gd name="connsiteX1" fmla="*/ 15367 w 774192"/>
              <a:gd name="connsiteY1" fmla="*/ 153416 h 291592"/>
              <a:gd name="connsiteX2" fmla="*/ 396367 w 774192"/>
              <a:gd name="connsiteY2" fmla="*/ 291592 h 291592"/>
              <a:gd name="connsiteX3" fmla="*/ 777367 w 774192"/>
              <a:gd name="connsiteY3" fmla="*/ 153416 h 291592"/>
              <a:gd name="connsiteX4" fmla="*/ 396367 w 774192"/>
              <a:gd name="connsiteY4" fmla="*/ 15367 h 291592"/>
              <a:gd name="connsiteX5" fmla="*/ 396367 w 774192"/>
              <a:gd name="connsiteY5" fmla="*/ 15367 h 291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4192" h="291592">
                <a:moveTo>
                  <a:pt x="396367" y="15367"/>
                </a:moveTo>
                <a:cubicBezTo>
                  <a:pt x="185928" y="15367"/>
                  <a:pt x="15367" y="77216"/>
                  <a:pt x="15367" y="153416"/>
                </a:cubicBezTo>
                <a:cubicBezTo>
                  <a:pt x="15367" y="229743"/>
                  <a:pt x="185928" y="291592"/>
                  <a:pt x="396367" y="291592"/>
                </a:cubicBezTo>
                <a:cubicBezTo>
                  <a:pt x="606806" y="291592"/>
                  <a:pt x="777367" y="229743"/>
                  <a:pt x="777367" y="153416"/>
                </a:cubicBezTo>
                <a:cubicBezTo>
                  <a:pt x="777367" y="77216"/>
                  <a:pt x="606806" y="15367"/>
                  <a:pt x="396367" y="15367"/>
                </a:cubicBezTo>
                <a:lnTo>
                  <a:pt x="396367" y="1536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reeform 72"/>
          <p:cNvSpPr/>
          <p:nvPr/>
        </p:nvSpPr>
        <p:spPr>
          <a:xfrm>
            <a:off x="6045707" y="3848607"/>
            <a:ext cx="837692" cy="291592"/>
          </a:xfrm>
          <a:custGeom>
            <a:avLst/>
            <a:gdLst>
              <a:gd name="connsiteX0" fmla="*/ 426593 w 837692"/>
              <a:gd name="connsiteY0" fmla="*/ 21717 h 291592"/>
              <a:gd name="connsiteX1" fmla="*/ 12192 w 837692"/>
              <a:gd name="connsiteY1" fmla="*/ 159766 h 291592"/>
              <a:gd name="connsiteX2" fmla="*/ 426593 w 837692"/>
              <a:gd name="connsiteY2" fmla="*/ 297942 h 291592"/>
              <a:gd name="connsiteX3" fmla="*/ 840867 w 837692"/>
              <a:gd name="connsiteY3" fmla="*/ 159766 h 291592"/>
              <a:gd name="connsiteX4" fmla="*/ 426593 w 837692"/>
              <a:gd name="connsiteY4" fmla="*/ 21717 h 291592"/>
              <a:gd name="connsiteX5" fmla="*/ 426593 w 837692"/>
              <a:gd name="connsiteY5" fmla="*/ 21717 h 291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37692" h="291592">
                <a:moveTo>
                  <a:pt x="426593" y="21717"/>
                </a:moveTo>
                <a:cubicBezTo>
                  <a:pt x="197739" y="21717"/>
                  <a:pt x="12192" y="83566"/>
                  <a:pt x="12192" y="159766"/>
                </a:cubicBezTo>
                <a:cubicBezTo>
                  <a:pt x="12192" y="236093"/>
                  <a:pt x="197739" y="297942"/>
                  <a:pt x="426593" y="297942"/>
                </a:cubicBezTo>
                <a:cubicBezTo>
                  <a:pt x="655320" y="297942"/>
                  <a:pt x="840867" y="236093"/>
                  <a:pt x="840867" y="159766"/>
                </a:cubicBezTo>
                <a:cubicBezTo>
                  <a:pt x="840867" y="83566"/>
                  <a:pt x="655320" y="21717"/>
                  <a:pt x="426593" y="21717"/>
                </a:cubicBezTo>
                <a:lnTo>
                  <a:pt x="426593" y="2171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Freeform 73"/>
          <p:cNvSpPr/>
          <p:nvPr/>
        </p:nvSpPr>
        <p:spPr>
          <a:xfrm>
            <a:off x="3594607" y="4293107"/>
            <a:ext cx="761492" cy="812292"/>
          </a:xfrm>
          <a:custGeom>
            <a:avLst/>
            <a:gdLst>
              <a:gd name="connsiteX0" fmla="*/ 391668 w 761492"/>
              <a:gd name="connsiteY0" fmla="*/ 24257 h 812292"/>
              <a:gd name="connsiteX1" fmla="*/ 15367 w 761492"/>
              <a:gd name="connsiteY1" fmla="*/ 424307 h 812292"/>
              <a:gd name="connsiteX2" fmla="*/ 391668 w 761492"/>
              <a:gd name="connsiteY2" fmla="*/ 824357 h 812292"/>
              <a:gd name="connsiteX3" fmla="*/ 767842 w 761492"/>
              <a:gd name="connsiteY3" fmla="*/ 424307 h 812292"/>
              <a:gd name="connsiteX4" fmla="*/ 391668 w 761492"/>
              <a:gd name="connsiteY4" fmla="*/ 24257 h 812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1492" h="812292">
                <a:moveTo>
                  <a:pt x="391668" y="24257"/>
                </a:moveTo>
                <a:lnTo>
                  <a:pt x="15367" y="424307"/>
                </a:lnTo>
                <a:lnTo>
                  <a:pt x="391668" y="824357"/>
                </a:lnTo>
                <a:lnTo>
                  <a:pt x="767842" y="424307"/>
                </a:lnTo>
                <a:lnTo>
                  <a:pt x="391668" y="2425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reeform 74"/>
          <p:cNvSpPr/>
          <p:nvPr/>
        </p:nvSpPr>
        <p:spPr>
          <a:xfrm>
            <a:off x="1892807" y="1930907"/>
            <a:ext cx="520192" cy="380492"/>
          </a:xfrm>
          <a:custGeom>
            <a:avLst/>
            <a:gdLst>
              <a:gd name="connsiteX0" fmla="*/ 526542 w 520192"/>
              <a:gd name="connsiteY0" fmla="*/ 16002 h 380492"/>
              <a:gd name="connsiteX1" fmla="*/ 21717 w 520192"/>
              <a:gd name="connsiteY1" fmla="*/ 387477 h 38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0192" h="380492">
                <a:moveTo>
                  <a:pt x="526542" y="16002"/>
                </a:moveTo>
                <a:lnTo>
                  <a:pt x="21717" y="387477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Freeform 75"/>
          <p:cNvSpPr/>
          <p:nvPr/>
        </p:nvSpPr>
        <p:spPr>
          <a:xfrm>
            <a:off x="1435607" y="1930907"/>
            <a:ext cx="304292" cy="380492"/>
          </a:xfrm>
          <a:custGeom>
            <a:avLst/>
            <a:gdLst>
              <a:gd name="connsiteX0" fmla="*/ 21717 w 304292"/>
              <a:gd name="connsiteY0" fmla="*/ 16002 h 380492"/>
              <a:gd name="connsiteX1" fmla="*/ 307467 w 304292"/>
              <a:gd name="connsiteY1" fmla="*/ 387477 h 38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4292" h="380492">
                <a:moveTo>
                  <a:pt x="21717" y="16002"/>
                </a:moveTo>
                <a:lnTo>
                  <a:pt x="307467" y="387477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Freeform 76"/>
          <p:cNvSpPr/>
          <p:nvPr/>
        </p:nvSpPr>
        <p:spPr>
          <a:xfrm>
            <a:off x="1219707" y="2718307"/>
            <a:ext cx="405892" cy="304292"/>
          </a:xfrm>
          <a:custGeom>
            <a:avLst/>
            <a:gdLst>
              <a:gd name="connsiteX0" fmla="*/ 18542 w 405892"/>
              <a:gd name="connsiteY0" fmla="*/ 313182 h 304292"/>
              <a:gd name="connsiteX1" fmla="*/ 409067 w 405892"/>
              <a:gd name="connsiteY1" fmla="*/ 18542 h 304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5892" h="304292">
                <a:moveTo>
                  <a:pt x="18542" y="313182"/>
                </a:moveTo>
                <a:lnTo>
                  <a:pt x="409067" y="18542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Freeform 77"/>
          <p:cNvSpPr/>
          <p:nvPr/>
        </p:nvSpPr>
        <p:spPr>
          <a:xfrm>
            <a:off x="1892807" y="2718307"/>
            <a:ext cx="12192" cy="583692"/>
          </a:xfrm>
          <a:custGeom>
            <a:avLst/>
            <a:gdLst>
              <a:gd name="connsiteX0" fmla="*/ 21717 w 12192"/>
              <a:gd name="connsiteY0" fmla="*/ 18542 h 583692"/>
              <a:gd name="connsiteX1" fmla="*/ 21717 w 12192"/>
              <a:gd name="connsiteY1" fmla="*/ 590042 h 583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2" h="583692">
                <a:moveTo>
                  <a:pt x="21717" y="18542"/>
                </a:moveTo>
                <a:lnTo>
                  <a:pt x="21717" y="590042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Freeform 78"/>
          <p:cNvSpPr/>
          <p:nvPr/>
        </p:nvSpPr>
        <p:spPr>
          <a:xfrm>
            <a:off x="2159507" y="2718307"/>
            <a:ext cx="253492" cy="278892"/>
          </a:xfrm>
          <a:custGeom>
            <a:avLst/>
            <a:gdLst>
              <a:gd name="connsiteX0" fmla="*/ 21717 w 253492"/>
              <a:gd name="connsiteY0" fmla="*/ 18542 h 278892"/>
              <a:gd name="connsiteX1" fmla="*/ 259842 w 253492"/>
              <a:gd name="connsiteY1" fmla="*/ 285242 h 278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3492" h="278892">
                <a:moveTo>
                  <a:pt x="21717" y="18542"/>
                </a:moveTo>
                <a:lnTo>
                  <a:pt x="259842" y="285242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reeform 79"/>
          <p:cNvSpPr/>
          <p:nvPr/>
        </p:nvSpPr>
        <p:spPr>
          <a:xfrm>
            <a:off x="3543807" y="2553207"/>
            <a:ext cx="139192" cy="329692"/>
          </a:xfrm>
          <a:custGeom>
            <a:avLst/>
            <a:gdLst>
              <a:gd name="connsiteX0" fmla="*/ 18542 w 139192"/>
              <a:gd name="connsiteY0" fmla="*/ 336042 h 329692"/>
              <a:gd name="connsiteX1" fmla="*/ 142367 w 139192"/>
              <a:gd name="connsiteY1" fmla="*/ 12192 h 32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9192" h="329692">
                <a:moveTo>
                  <a:pt x="18542" y="336042"/>
                </a:moveTo>
                <a:lnTo>
                  <a:pt x="142367" y="12192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Freeform 80"/>
          <p:cNvSpPr/>
          <p:nvPr/>
        </p:nvSpPr>
        <p:spPr>
          <a:xfrm>
            <a:off x="3950207" y="2553207"/>
            <a:ext cx="12192" cy="1726692"/>
          </a:xfrm>
          <a:custGeom>
            <a:avLst/>
            <a:gdLst>
              <a:gd name="connsiteX0" fmla="*/ 21717 w 12192"/>
              <a:gd name="connsiteY0" fmla="*/ 12192 h 1726692"/>
              <a:gd name="connsiteX1" fmla="*/ 21717 w 12192"/>
              <a:gd name="connsiteY1" fmla="*/ 1736217 h 1726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2" h="1726692">
                <a:moveTo>
                  <a:pt x="21717" y="12192"/>
                </a:moveTo>
                <a:lnTo>
                  <a:pt x="21717" y="1736217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reeform 81"/>
          <p:cNvSpPr/>
          <p:nvPr/>
        </p:nvSpPr>
        <p:spPr>
          <a:xfrm>
            <a:off x="4343907" y="2553207"/>
            <a:ext cx="304292" cy="329692"/>
          </a:xfrm>
          <a:custGeom>
            <a:avLst/>
            <a:gdLst>
              <a:gd name="connsiteX0" fmla="*/ 18542 w 304292"/>
              <a:gd name="connsiteY0" fmla="*/ 12192 h 329692"/>
              <a:gd name="connsiteX1" fmla="*/ 313817 w 304292"/>
              <a:gd name="connsiteY1" fmla="*/ 336042 h 32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4292" h="329692">
                <a:moveTo>
                  <a:pt x="18542" y="12192"/>
                </a:moveTo>
                <a:lnTo>
                  <a:pt x="313817" y="336042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Freeform 82"/>
          <p:cNvSpPr/>
          <p:nvPr/>
        </p:nvSpPr>
        <p:spPr>
          <a:xfrm>
            <a:off x="3950207" y="1930907"/>
            <a:ext cx="12192" cy="329692"/>
          </a:xfrm>
          <a:custGeom>
            <a:avLst/>
            <a:gdLst>
              <a:gd name="connsiteX0" fmla="*/ 21717 w 12192"/>
              <a:gd name="connsiteY0" fmla="*/ 330327 h 329692"/>
              <a:gd name="connsiteX1" fmla="*/ 21717 w 12192"/>
              <a:gd name="connsiteY1" fmla="*/ 16002 h 32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2" h="329692">
                <a:moveTo>
                  <a:pt x="21717" y="330327"/>
                </a:moveTo>
                <a:lnTo>
                  <a:pt x="21717" y="16002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Freeform 83"/>
          <p:cNvSpPr/>
          <p:nvPr/>
        </p:nvSpPr>
        <p:spPr>
          <a:xfrm>
            <a:off x="4636007" y="2350007"/>
            <a:ext cx="291592" cy="12192"/>
          </a:xfrm>
          <a:custGeom>
            <a:avLst/>
            <a:gdLst>
              <a:gd name="connsiteX0" fmla="*/ 21717 w 291592"/>
              <a:gd name="connsiteY0" fmla="*/ 15367 h 12192"/>
              <a:gd name="connsiteX1" fmla="*/ 297942 w 291592"/>
              <a:gd name="connsiteY1" fmla="*/ 15367 h 12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1592" h="12192">
                <a:moveTo>
                  <a:pt x="21717" y="15367"/>
                </a:moveTo>
                <a:lnTo>
                  <a:pt x="297942" y="15367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Freeform 84"/>
          <p:cNvSpPr/>
          <p:nvPr/>
        </p:nvSpPr>
        <p:spPr>
          <a:xfrm>
            <a:off x="5715507" y="2350007"/>
            <a:ext cx="266192" cy="12192"/>
          </a:xfrm>
          <a:custGeom>
            <a:avLst/>
            <a:gdLst>
              <a:gd name="connsiteX0" fmla="*/ 18542 w 266192"/>
              <a:gd name="connsiteY0" fmla="*/ 15367 h 12192"/>
              <a:gd name="connsiteX1" fmla="*/ 275717 w 266192"/>
              <a:gd name="connsiteY1" fmla="*/ 15367 h 12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6192" h="12192">
                <a:moveTo>
                  <a:pt x="18542" y="15367"/>
                </a:moveTo>
                <a:lnTo>
                  <a:pt x="275717" y="15367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Freeform 85"/>
          <p:cNvSpPr/>
          <p:nvPr/>
        </p:nvSpPr>
        <p:spPr>
          <a:xfrm>
            <a:off x="2400807" y="4699507"/>
            <a:ext cx="1205992" cy="12192"/>
          </a:xfrm>
          <a:custGeom>
            <a:avLst/>
            <a:gdLst>
              <a:gd name="connsiteX0" fmla="*/ 18542 w 1205992"/>
              <a:gd name="connsiteY0" fmla="*/ 18542 h 12192"/>
              <a:gd name="connsiteX1" fmla="*/ 1209167 w 1205992"/>
              <a:gd name="connsiteY1" fmla="*/ 18542 h 12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05992" h="12192">
                <a:moveTo>
                  <a:pt x="18542" y="18542"/>
                </a:moveTo>
                <a:lnTo>
                  <a:pt x="1209167" y="18542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Freeform 86"/>
          <p:cNvSpPr/>
          <p:nvPr/>
        </p:nvSpPr>
        <p:spPr>
          <a:xfrm>
            <a:off x="4331207" y="4699507"/>
            <a:ext cx="710692" cy="12192"/>
          </a:xfrm>
          <a:custGeom>
            <a:avLst/>
            <a:gdLst>
              <a:gd name="connsiteX0" fmla="*/ 21717 w 710692"/>
              <a:gd name="connsiteY0" fmla="*/ 18542 h 12192"/>
              <a:gd name="connsiteX1" fmla="*/ 717042 w 710692"/>
              <a:gd name="connsiteY1" fmla="*/ 18542 h 12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10692" h="12192">
                <a:moveTo>
                  <a:pt x="21717" y="18542"/>
                </a:moveTo>
                <a:lnTo>
                  <a:pt x="717042" y="18542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Freeform 87"/>
          <p:cNvSpPr/>
          <p:nvPr/>
        </p:nvSpPr>
        <p:spPr>
          <a:xfrm>
            <a:off x="2223007" y="4216907"/>
            <a:ext cx="443992" cy="342392"/>
          </a:xfrm>
          <a:custGeom>
            <a:avLst/>
            <a:gdLst>
              <a:gd name="connsiteX0" fmla="*/ 15367 w 443992"/>
              <a:gd name="connsiteY0" fmla="*/ 348742 h 342392"/>
              <a:gd name="connsiteX1" fmla="*/ 443992 w 443992"/>
              <a:gd name="connsiteY1" fmla="*/ 15367 h 342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3992" h="342392">
                <a:moveTo>
                  <a:pt x="15367" y="348742"/>
                </a:moveTo>
                <a:lnTo>
                  <a:pt x="443992" y="15367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Freeform 88"/>
          <p:cNvSpPr/>
          <p:nvPr/>
        </p:nvSpPr>
        <p:spPr>
          <a:xfrm>
            <a:off x="1219707" y="4293107"/>
            <a:ext cx="520192" cy="266192"/>
          </a:xfrm>
          <a:custGeom>
            <a:avLst/>
            <a:gdLst>
              <a:gd name="connsiteX0" fmla="*/ 18542 w 520192"/>
              <a:gd name="connsiteY0" fmla="*/ 24257 h 266192"/>
              <a:gd name="connsiteX1" fmla="*/ 523367 w 520192"/>
              <a:gd name="connsiteY1" fmla="*/ 272542 h 266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0192" h="266192">
                <a:moveTo>
                  <a:pt x="18542" y="24257"/>
                </a:moveTo>
                <a:lnTo>
                  <a:pt x="523367" y="272542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Freeform 89"/>
          <p:cNvSpPr/>
          <p:nvPr/>
        </p:nvSpPr>
        <p:spPr>
          <a:xfrm>
            <a:off x="1156207" y="4864607"/>
            <a:ext cx="469392" cy="380492"/>
          </a:xfrm>
          <a:custGeom>
            <a:avLst/>
            <a:gdLst>
              <a:gd name="connsiteX0" fmla="*/ 472567 w 469392"/>
              <a:gd name="connsiteY0" fmla="*/ 15367 h 380492"/>
              <a:gd name="connsiteX1" fmla="*/ 15367 w 469392"/>
              <a:gd name="connsiteY1" fmla="*/ 386842 h 38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69392" h="380492">
                <a:moveTo>
                  <a:pt x="472567" y="15367"/>
                </a:moveTo>
                <a:lnTo>
                  <a:pt x="15367" y="386842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Freeform 90"/>
          <p:cNvSpPr/>
          <p:nvPr/>
        </p:nvSpPr>
        <p:spPr>
          <a:xfrm>
            <a:off x="2083307" y="4864607"/>
            <a:ext cx="583692" cy="380492"/>
          </a:xfrm>
          <a:custGeom>
            <a:avLst/>
            <a:gdLst>
              <a:gd name="connsiteX0" fmla="*/ 12192 w 583692"/>
              <a:gd name="connsiteY0" fmla="*/ 15367 h 380492"/>
              <a:gd name="connsiteX1" fmla="*/ 583692 w 583692"/>
              <a:gd name="connsiteY1" fmla="*/ 386842 h 38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83692" h="380492">
                <a:moveTo>
                  <a:pt x="12192" y="15367"/>
                </a:moveTo>
                <a:lnTo>
                  <a:pt x="583692" y="386842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Freeform 91"/>
          <p:cNvSpPr/>
          <p:nvPr/>
        </p:nvSpPr>
        <p:spPr>
          <a:xfrm>
            <a:off x="4737607" y="4788407"/>
            <a:ext cx="558292" cy="583692"/>
          </a:xfrm>
          <a:custGeom>
            <a:avLst/>
            <a:gdLst>
              <a:gd name="connsiteX0" fmla="*/ 558292 w 558292"/>
              <a:gd name="connsiteY0" fmla="*/ 15367 h 583692"/>
              <a:gd name="connsiteX1" fmla="*/ 15367 w 558292"/>
              <a:gd name="connsiteY1" fmla="*/ 586867 h 583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58292" h="583692">
                <a:moveTo>
                  <a:pt x="558292" y="15367"/>
                </a:moveTo>
                <a:lnTo>
                  <a:pt x="15367" y="586867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Freeform 92"/>
          <p:cNvSpPr/>
          <p:nvPr/>
        </p:nvSpPr>
        <p:spPr>
          <a:xfrm>
            <a:off x="5715507" y="4788407"/>
            <a:ext cx="507492" cy="583692"/>
          </a:xfrm>
          <a:custGeom>
            <a:avLst/>
            <a:gdLst>
              <a:gd name="connsiteX0" fmla="*/ 18542 w 507492"/>
              <a:gd name="connsiteY0" fmla="*/ 15367 h 583692"/>
              <a:gd name="connsiteX1" fmla="*/ 513842 w 507492"/>
              <a:gd name="connsiteY1" fmla="*/ 586867 h 583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7492" h="583692">
                <a:moveTo>
                  <a:pt x="18542" y="15367"/>
                </a:moveTo>
                <a:lnTo>
                  <a:pt x="513842" y="586867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Freeform 93"/>
          <p:cNvSpPr/>
          <p:nvPr/>
        </p:nvSpPr>
        <p:spPr>
          <a:xfrm>
            <a:off x="5652007" y="4077207"/>
            <a:ext cx="570992" cy="482092"/>
          </a:xfrm>
          <a:custGeom>
            <a:avLst/>
            <a:gdLst>
              <a:gd name="connsiteX0" fmla="*/ 577342 w 570992"/>
              <a:gd name="connsiteY0" fmla="*/ 12192 h 482092"/>
              <a:gd name="connsiteX1" fmla="*/ 15367 w 570992"/>
              <a:gd name="connsiteY1" fmla="*/ 488442 h 482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0992" h="482092">
                <a:moveTo>
                  <a:pt x="577342" y="12192"/>
                </a:moveTo>
                <a:lnTo>
                  <a:pt x="15367" y="488442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Freeform 94"/>
          <p:cNvSpPr/>
          <p:nvPr/>
        </p:nvSpPr>
        <p:spPr>
          <a:xfrm>
            <a:off x="1892807" y="4077207"/>
            <a:ext cx="12192" cy="482092"/>
          </a:xfrm>
          <a:custGeom>
            <a:avLst/>
            <a:gdLst>
              <a:gd name="connsiteX0" fmla="*/ 21717 w 12192"/>
              <a:gd name="connsiteY0" fmla="*/ 12192 h 482092"/>
              <a:gd name="connsiteX1" fmla="*/ 21717 w 12192"/>
              <a:gd name="connsiteY1" fmla="*/ 488442 h 482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2" h="482092">
                <a:moveTo>
                  <a:pt x="21717" y="12192"/>
                </a:moveTo>
                <a:lnTo>
                  <a:pt x="21717" y="488442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Freeform 95"/>
          <p:cNvSpPr/>
          <p:nvPr/>
        </p:nvSpPr>
        <p:spPr>
          <a:xfrm>
            <a:off x="4102607" y="5245607"/>
            <a:ext cx="1002792" cy="405892"/>
          </a:xfrm>
          <a:custGeom>
            <a:avLst/>
            <a:gdLst>
              <a:gd name="connsiteX0" fmla="*/ 517017 w 1002792"/>
              <a:gd name="connsiteY0" fmla="*/ 16002 h 405892"/>
              <a:gd name="connsiteX1" fmla="*/ 21717 w 1002792"/>
              <a:gd name="connsiteY1" fmla="*/ 216027 h 405892"/>
              <a:gd name="connsiteX2" fmla="*/ 517017 w 1002792"/>
              <a:gd name="connsiteY2" fmla="*/ 416052 h 405892"/>
              <a:gd name="connsiteX3" fmla="*/ 1012317 w 1002792"/>
              <a:gd name="connsiteY3" fmla="*/ 216027 h 405892"/>
              <a:gd name="connsiteX4" fmla="*/ 517017 w 1002792"/>
              <a:gd name="connsiteY4" fmla="*/ 16002 h 405892"/>
              <a:gd name="connsiteX5" fmla="*/ 517017 w 1002792"/>
              <a:gd name="connsiteY5" fmla="*/ 16002 h 405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2792" h="405892">
                <a:moveTo>
                  <a:pt x="517017" y="16002"/>
                </a:moveTo>
                <a:cubicBezTo>
                  <a:pt x="243459" y="16002"/>
                  <a:pt x="21717" y="105537"/>
                  <a:pt x="21717" y="216027"/>
                </a:cubicBezTo>
                <a:cubicBezTo>
                  <a:pt x="21717" y="326517"/>
                  <a:pt x="243459" y="416052"/>
                  <a:pt x="517017" y="416052"/>
                </a:cubicBezTo>
                <a:cubicBezTo>
                  <a:pt x="790575" y="416052"/>
                  <a:pt x="1012317" y="326517"/>
                  <a:pt x="1012317" y="216027"/>
                </a:cubicBezTo>
                <a:cubicBezTo>
                  <a:pt x="1012317" y="105537"/>
                  <a:pt x="790575" y="16002"/>
                  <a:pt x="517017" y="16002"/>
                </a:cubicBezTo>
                <a:lnTo>
                  <a:pt x="517017" y="16002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Freeform 96"/>
          <p:cNvSpPr/>
          <p:nvPr/>
        </p:nvSpPr>
        <p:spPr>
          <a:xfrm>
            <a:off x="4102607" y="5245607"/>
            <a:ext cx="1002792" cy="405892"/>
          </a:xfrm>
          <a:custGeom>
            <a:avLst/>
            <a:gdLst>
              <a:gd name="connsiteX0" fmla="*/ 517017 w 1002792"/>
              <a:gd name="connsiteY0" fmla="*/ 16002 h 405892"/>
              <a:gd name="connsiteX1" fmla="*/ 21717 w 1002792"/>
              <a:gd name="connsiteY1" fmla="*/ 216027 h 405892"/>
              <a:gd name="connsiteX2" fmla="*/ 517017 w 1002792"/>
              <a:gd name="connsiteY2" fmla="*/ 416052 h 405892"/>
              <a:gd name="connsiteX3" fmla="*/ 1012317 w 1002792"/>
              <a:gd name="connsiteY3" fmla="*/ 216027 h 405892"/>
              <a:gd name="connsiteX4" fmla="*/ 517017 w 1002792"/>
              <a:gd name="connsiteY4" fmla="*/ 16002 h 405892"/>
              <a:gd name="connsiteX5" fmla="*/ 517017 w 1002792"/>
              <a:gd name="connsiteY5" fmla="*/ 16002 h 405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2792" h="405892">
                <a:moveTo>
                  <a:pt x="517017" y="16002"/>
                </a:moveTo>
                <a:cubicBezTo>
                  <a:pt x="243459" y="16002"/>
                  <a:pt x="21717" y="105537"/>
                  <a:pt x="21717" y="216027"/>
                </a:cubicBezTo>
                <a:cubicBezTo>
                  <a:pt x="21717" y="326517"/>
                  <a:pt x="243459" y="416052"/>
                  <a:pt x="517017" y="416052"/>
                </a:cubicBezTo>
                <a:cubicBezTo>
                  <a:pt x="790575" y="416052"/>
                  <a:pt x="1012317" y="326517"/>
                  <a:pt x="1012317" y="216027"/>
                </a:cubicBezTo>
                <a:cubicBezTo>
                  <a:pt x="1012317" y="105537"/>
                  <a:pt x="790575" y="16002"/>
                  <a:pt x="517017" y="16002"/>
                </a:cubicBezTo>
                <a:lnTo>
                  <a:pt x="517017" y="1600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7"/>
          <p:cNvSpPr txBox="1"/>
          <p:nvPr/>
        </p:nvSpPr>
        <p:spPr>
          <a:xfrm>
            <a:off x="1143304" y="896709"/>
            <a:ext cx="4896380" cy="4693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549" indent="-228549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5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Draw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ER-Diagram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represent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relationship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between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representative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&amp;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customer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189024" y="1752854"/>
            <a:ext cx="2959838" cy="167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1231341" algn="l"/>
                <a:tab pos="2595702" algn="l"/>
              </a:tabLst>
            </a:pPr>
            <a:r>
              <a:rPr lang="en-US" altLang="zh-CN" sz="1100" dirty="0">
                <a:solidFill>
                  <a:srgbClr val="000000"/>
                </a:solidFill>
                <a:latin typeface="Calibri"/>
                <a:ea typeface="Calibri"/>
              </a:rPr>
              <a:t>Mb</a:t>
            </a:r>
            <a:r>
              <a:rPr lang="en-US" altLang="zh-CN" sz="110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100" dirty="0">
                <a:solidFill>
                  <a:srgbClr val="000000"/>
                </a:solidFill>
                <a:latin typeface="Calibri"/>
                <a:ea typeface="Calibri"/>
              </a:rPr>
              <a:t>no	EID	</a:t>
            </a:r>
            <a:r>
              <a:rPr lang="en-US" altLang="zh-CN" sz="1100" spc="-5" dirty="0">
                <a:solidFill>
                  <a:srgbClr val="000000"/>
                </a:solidFill>
                <a:latin typeface="Calibri"/>
                <a:ea typeface="Calibri"/>
              </a:rPr>
              <a:t>P</a:t>
            </a:r>
            <a:r>
              <a:rPr lang="en-US" altLang="zh-CN" sz="1100" spc="-10" dirty="0">
                <a:solidFill>
                  <a:srgbClr val="000000"/>
                </a:solidFill>
                <a:latin typeface="Calibri"/>
                <a:ea typeface="Calibri"/>
              </a:rPr>
              <a:t>-ID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420622" y="2380742"/>
            <a:ext cx="873234" cy="3657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100" spc="-5" dirty="0">
                <a:solidFill>
                  <a:srgbClr val="000000"/>
                </a:solidFill>
                <a:latin typeface="Calibri"/>
                <a:ea typeface="Calibri"/>
              </a:rPr>
              <a:t>S</a:t>
            </a:r>
            <a:r>
              <a:rPr lang="en-US" altLang="zh-CN" sz="1100" dirty="0">
                <a:solidFill>
                  <a:srgbClr val="000000"/>
                </a:solidFill>
                <a:latin typeface="Calibri"/>
                <a:ea typeface="Calibri"/>
              </a:rPr>
              <a:t>ales</a:t>
            </a:r>
          </a:p>
          <a:p>
            <a:pPr marL="0">
              <a:lnSpc>
                <a:spcPct val="100000"/>
              </a:lnSpc>
              <a:spcBef>
                <a:spcPts val="234"/>
              </a:spcBef>
            </a:pPr>
            <a:r>
              <a:rPr lang="en-US" altLang="zh-CN" sz="1100" spc="-5" dirty="0">
                <a:solidFill>
                  <a:srgbClr val="000000"/>
                </a:solidFill>
                <a:latin typeface="Calibri"/>
                <a:ea typeface="Calibri"/>
              </a:rPr>
              <a:t>R</a:t>
            </a:r>
            <a:r>
              <a:rPr lang="en-US" altLang="zh-CN" sz="1100" dirty="0">
                <a:solidFill>
                  <a:srgbClr val="000000"/>
                </a:solidFill>
                <a:latin typeface="Calibri"/>
                <a:ea typeface="Calibri"/>
              </a:rPr>
              <a:t>epresentative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3659759" y="2325877"/>
            <a:ext cx="515080" cy="167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100" spc="-5" dirty="0">
                <a:solidFill>
                  <a:srgbClr val="000000"/>
                </a:solidFill>
                <a:latin typeface="Calibri"/>
                <a:ea typeface="Calibri"/>
              </a:rPr>
              <a:t>Pr</a:t>
            </a:r>
            <a:r>
              <a:rPr lang="en-US" altLang="zh-CN" sz="1100" dirty="0">
                <a:solidFill>
                  <a:srgbClr val="000000"/>
                </a:solidFill>
                <a:latin typeface="Calibri"/>
                <a:ea typeface="Calibri"/>
              </a:rPr>
              <a:t>oducts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5133721" y="2182621"/>
            <a:ext cx="317169" cy="3657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100" spc="5" dirty="0">
                <a:solidFill>
                  <a:srgbClr val="000000"/>
                </a:solidFill>
                <a:latin typeface="Calibri"/>
                <a:ea typeface="Calibri"/>
              </a:rPr>
              <a:t>S</a:t>
            </a:r>
            <a:r>
              <a:rPr lang="en-US" altLang="zh-CN" sz="1100" dirty="0">
                <a:solidFill>
                  <a:srgbClr val="000000"/>
                </a:solidFill>
                <a:latin typeface="Calibri"/>
                <a:ea typeface="Calibri"/>
              </a:rPr>
              <a:t>tore</a:t>
            </a:r>
          </a:p>
          <a:p>
            <a:pPr marL="0">
              <a:lnSpc>
                <a:spcPct val="100000"/>
              </a:lnSpc>
              <a:spcBef>
                <a:spcPts val="240"/>
              </a:spcBef>
            </a:pPr>
            <a:r>
              <a:rPr lang="en-US" altLang="zh-CN" sz="1100" spc="-10" dirty="0">
                <a:solidFill>
                  <a:srgbClr val="000000"/>
                </a:solidFill>
                <a:latin typeface="Calibri"/>
                <a:ea typeface="Calibri"/>
              </a:rPr>
              <a:t>s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6089650" y="2258821"/>
            <a:ext cx="667549" cy="167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100" spc="-5" dirty="0">
                <a:solidFill>
                  <a:srgbClr val="000000"/>
                </a:solidFill>
                <a:latin typeface="Calibri"/>
                <a:ea typeface="Calibri"/>
              </a:rPr>
              <a:t>W</a:t>
            </a:r>
            <a:r>
              <a:rPr lang="en-US" altLang="zh-CN" sz="1100" dirty="0">
                <a:solidFill>
                  <a:srgbClr val="000000"/>
                </a:solidFill>
                <a:latin typeface="Calibri"/>
                <a:ea typeface="Calibri"/>
              </a:rPr>
              <a:t>arehouse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946708" y="2999486"/>
            <a:ext cx="4068195" cy="2863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70833"/>
              </a:lnSpc>
              <a:tabLst>
                <a:tab pos="1266393" algn="l"/>
                <a:tab pos="2420442" algn="l"/>
                <a:tab pos="3530168" algn="l"/>
              </a:tabLst>
            </a:pPr>
            <a:r>
              <a:rPr lang="en-US" altLang="zh-CN" sz="1100" dirty="0">
                <a:solidFill>
                  <a:srgbClr val="000000"/>
                </a:solidFill>
                <a:latin typeface="Calibri"/>
                <a:ea typeface="Calibri"/>
              </a:rPr>
              <a:t>Salary	EName	Cost	</a:t>
            </a:r>
            <a:r>
              <a:rPr lang="en-US" altLang="zh-CN" sz="1100" spc="-10" dirty="0">
                <a:solidFill>
                  <a:srgbClr val="000000"/>
                </a:solidFill>
                <a:latin typeface="Calibri"/>
                <a:ea typeface="Calibri"/>
              </a:rPr>
              <a:t>PName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1746757" y="3542411"/>
            <a:ext cx="291362" cy="3657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100" spc="-5" dirty="0">
                <a:solidFill>
                  <a:srgbClr val="000000"/>
                </a:solidFill>
                <a:latin typeface="Calibri"/>
                <a:ea typeface="Calibri"/>
              </a:rPr>
              <a:t>S</a:t>
            </a:r>
            <a:r>
              <a:rPr lang="en-US" altLang="zh-CN" sz="1100" dirty="0">
                <a:solidFill>
                  <a:srgbClr val="000000"/>
                </a:solidFill>
                <a:latin typeface="Calibri"/>
                <a:ea typeface="Calibri"/>
              </a:rPr>
              <a:t>ervi</a:t>
            </a:r>
          </a:p>
          <a:p>
            <a:pPr marL="0">
              <a:lnSpc>
                <a:spcPct val="100000"/>
              </a:lnSpc>
              <a:spcBef>
                <a:spcPts val="234"/>
              </a:spcBef>
            </a:pPr>
            <a:r>
              <a:rPr lang="en-US" altLang="zh-CN" sz="1100" spc="-5" dirty="0">
                <a:solidFill>
                  <a:srgbClr val="000000"/>
                </a:solidFill>
                <a:latin typeface="Calibri"/>
                <a:ea typeface="Calibri"/>
              </a:rPr>
              <a:t>ces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794004" y="3975227"/>
            <a:ext cx="6025357" cy="26193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56250"/>
              </a:lnSpc>
              <a:tabLst>
                <a:tab pos="1933066" algn="l"/>
                <a:tab pos="5455666" algn="l"/>
              </a:tabLst>
            </a:pPr>
            <a:r>
              <a:rPr lang="en-US" altLang="zh-CN" sz="1100" dirty="0">
                <a:solidFill>
                  <a:srgbClr val="000000"/>
                </a:solidFill>
                <a:latin typeface="Calibri"/>
                <a:ea typeface="Calibri"/>
              </a:rPr>
              <a:t>MbNo	CID	</a:t>
            </a:r>
            <a:r>
              <a:rPr lang="en-US" altLang="zh-CN" sz="1100" spc="-5" dirty="0">
                <a:solidFill>
                  <a:srgbClr val="000000"/>
                </a:solidFill>
                <a:latin typeface="Calibri"/>
                <a:ea typeface="Calibri"/>
              </a:rPr>
              <a:t>OrderId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1551686" y="4630547"/>
            <a:ext cx="565488" cy="167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100" spc="-5" dirty="0">
                <a:solidFill>
                  <a:srgbClr val="000000"/>
                </a:solidFill>
                <a:latin typeface="Calibri"/>
                <a:ea typeface="Calibri"/>
              </a:rPr>
              <a:t>Cus</a:t>
            </a:r>
            <a:r>
              <a:rPr lang="en-US" altLang="zh-CN" sz="1100" dirty="0">
                <a:solidFill>
                  <a:srgbClr val="000000"/>
                </a:solidFill>
                <a:latin typeface="Calibri"/>
                <a:ea typeface="Calibri"/>
              </a:rPr>
              <a:t>tomer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3847210" y="4555871"/>
            <a:ext cx="244442" cy="3657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100" spc="5" dirty="0">
                <a:solidFill>
                  <a:srgbClr val="000000"/>
                </a:solidFill>
                <a:latin typeface="Calibri"/>
                <a:ea typeface="Calibri"/>
              </a:rPr>
              <a:t>P</a:t>
            </a:r>
            <a:r>
              <a:rPr lang="en-US" altLang="zh-CN" sz="1100" dirty="0">
                <a:solidFill>
                  <a:srgbClr val="000000"/>
                </a:solidFill>
                <a:latin typeface="Calibri"/>
                <a:ea typeface="Calibri"/>
              </a:rPr>
              <a:t>lac</a:t>
            </a:r>
          </a:p>
          <a:p>
            <a:pPr marL="0">
              <a:lnSpc>
                <a:spcPct val="100000"/>
              </a:lnSpc>
              <a:spcBef>
                <a:spcPts val="234"/>
              </a:spcBef>
            </a:pPr>
            <a:r>
              <a:rPr lang="en-US" altLang="zh-CN" sz="1100" spc="-5" dirty="0">
                <a:solidFill>
                  <a:srgbClr val="000000"/>
                </a:solidFill>
                <a:latin typeface="Calibri"/>
                <a:ea typeface="Calibri"/>
              </a:rPr>
              <a:t>es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5145913" y="4630547"/>
            <a:ext cx="411727" cy="167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100" spc="-5" dirty="0">
                <a:solidFill>
                  <a:srgbClr val="000000"/>
                </a:solidFill>
                <a:latin typeface="Calibri"/>
                <a:ea typeface="Calibri"/>
              </a:rPr>
              <a:t>O</a:t>
            </a:r>
            <a:r>
              <a:rPr lang="en-US" altLang="zh-CN" sz="1100" dirty="0">
                <a:solidFill>
                  <a:srgbClr val="000000"/>
                </a:solidFill>
                <a:latin typeface="Calibri"/>
                <a:ea typeface="Calibri"/>
              </a:rPr>
              <a:t>RDER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868984" y="5362321"/>
            <a:ext cx="5677835" cy="2584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54166"/>
              </a:lnSpc>
              <a:tabLst>
                <a:tab pos="1663013" algn="l"/>
                <a:tab pos="3469208" algn="l"/>
                <a:tab pos="5170373" algn="l"/>
              </a:tabLst>
            </a:pPr>
            <a:r>
              <a:rPr lang="en-US" altLang="zh-CN" sz="1100" dirty="0">
                <a:solidFill>
                  <a:srgbClr val="000000"/>
                </a:solidFill>
                <a:latin typeface="Calibri"/>
                <a:ea typeface="Calibri"/>
              </a:rPr>
              <a:t>Address	CNAME	Quantity	</a:t>
            </a:r>
            <a:r>
              <a:rPr lang="en-US" altLang="zh-CN" sz="1100" spc="-5" dirty="0">
                <a:solidFill>
                  <a:srgbClr val="000000"/>
                </a:solidFill>
                <a:latin typeface="Calibri"/>
                <a:ea typeface="Calibri"/>
              </a:rPr>
              <a:t>ordate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914704" y="6285933"/>
            <a:ext cx="5930082" cy="25472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906729">
              <a:lnSpc>
                <a:spcPct val="100000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INTRODUCTION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SQL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SERVER</a:t>
            </a:r>
          </a:p>
          <a:p>
            <a:pPr>
              <a:lnSpc>
                <a:spcPts val="1085"/>
              </a:lnSpc>
            </a:pPr>
            <a:endParaRPr lang="en-US" dirty="0"/>
          </a:p>
          <a:p>
            <a:pPr marL="0" hangingPunct="0">
              <a:lnSpc>
                <a:spcPct val="112083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SQL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SERVER: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RDBMS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product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designed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developed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Microsoft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Company.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 marL="0" hangingPunct="0">
              <a:lnSpc>
                <a:spcPct val="110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provide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Graphical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Interface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(GUI)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facilities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means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interact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icons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without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remember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spc="-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commands.</a:t>
            </a:r>
          </a:p>
          <a:p>
            <a:pPr>
              <a:lnSpc>
                <a:spcPts val="108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run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windows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system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i.e.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platform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dependent.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first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version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1.0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released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1989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now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11.0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versions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available.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Those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Box 111"/>
          <p:cNvSpPr txBox="1"/>
          <p:nvPr/>
        </p:nvSpPr>
        <p:spPr>
          <a:xfrm>
            <a:off x="914704" y="4064288"/>
            <a:ext cx="5933540" cy="502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1249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Working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with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SQL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SERVER: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collection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collection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various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objects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Views,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etc.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 marL="0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Management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Studio.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tool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provide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Environment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GUI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Environment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connect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shows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window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….</a:t>
            </a:r>
          </a:p>
          <a:p>
            <a:pPr>
              <a:lnSpc>
                <a:spcPts val="1110"/>
              </a:lnSpc>
            </a:pPr>
            <a:endParaRPr lang="en-US" dirty="0"/>
          </a:p>
          <a:p>
            <a:pPr marL="0" indent="228600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spc="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</a:p>
          <a:p>
            <a:pPr marL="0" indent="228600">
              <a:lnSpc>
                <a:spcPts val="1720"/>
              </a:lnSpc>
              <a:spcBef>
                <a:spcPts val="23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spc="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</a:p>
          <a:p>
            <a:pPr marL="0" indent="228600">
              <a:lnSpc>
                <a:spcPts val="1720"/>
              </a:lnSpc>
              <a:spcBef>
                <a:spcPts val="23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spc="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Authentication</a:t>
            </a:r>
          </a:p>
          <a:p>
            <a:pPr marL="0" indent="228600">
              <a:lnSpc>
                <a:spcPts val="172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&amp;</a:t>
            </a:r>
            <a:r>
              <a:rPr lang="en-US" altLang="zh-CN" sz="1400" spc="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Password</a:t>
            </a:r>
          </a:p>
          <a:p>
            <a:pPr>
              <a:lnSpc>
                <a:spcPts val="120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Server</a:t>
            </a:r>
            <a:r>
              <a:rPr lang="en-US" altLang="zh-CN" sz="1800" b="1" u="sng" spc="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Type:</a:t>
            </a:r>
            <a:r>
              <a:rPr lang="en-US" altLang="zh-CN" sz="1800" b="1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five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servers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those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</a:p>
          <a:p>
            <a:pPr>
              <a:lnSpc>
                <a:spcPts val="1269"/>
              </a:lnSpc>
            </a:pPr>
            <a:endParaRPr lang="en-US" dirty="0"/>
          </a:p>
          <a:p>
            <a:pPr marL="0" indent="228600">
              <a:lnSpc>
                <a:spcPts val="186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Database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Engine: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Engine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service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spc="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storing,</a:t>
            </a:r>
          </a:p>
          <a:p>
            <a:pPr marL="0" indent="457149">
              <a:lnSpc>
                <a:spcPct val="100000"/>
              </a:lnSpc>
              <a:spcBef>
                <a:spcPts val="21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processing,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securing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(or)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manage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access</a:t>
            </a:r>
          </a:p>
          <a:p>
            <a:pPr marL="0" indent="457149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database.</a:t>
            </a:r>
          </a:p>
          <a:p>
            <a:pPr marL="0" indent="228600">
              <a:lnSpc>
                <a:spcPts val="1860"/>
              </a:lnSpc>
              <a:spcBef>
                <a:spcPts val="20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Analysis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Services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(SSAS):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warehouse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show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</a:p>
          <a:p>
            <a:pPr marL="0" indent="457149">
              <a:lnSpc>
                <a:spcPct val="100000"/>
              </a:lnSpc>
              <a:spcBef>
                <a:spcPts val="21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three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dimensions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(Rows,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New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dimension).</a:t>
            </a:r>
          </a:p>
          <a:p>
            <a:pPr marL="0" indent="228600">
              <a:lnSpc>
                <a:spcPts val="1860"/>
              </a:lnSpc>
              <a:spcBef>
                <a:spcPts val="20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Reporting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Services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(SSRS):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reporting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tool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generate</a:t>
            </a:r>
          </a:p>
          <a:p>
            <a:pPr marL="0" indent="457149">
              <a:lnSpc>
                <a:spcPct val="100000"/>
              </a:lnSpc>
              <a:spcBef>
                <a:spcPts val="21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reports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various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formats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interactive,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tabular,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graphical,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43076" y="917448"/>
          <a:ext cx="6093915" cy="27468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39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5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5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89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0566">
                <a:tc>
                  <a:txBody>
                    <a:bodyPr/>
                    <a:lstStyle/>
                    <a:p>
                      <a:pPr marL="0" indent="301751">
                        <a:lnSpc>
                          <a:spcPct val="95833"/>
                        </a:lnSpc>
                      </a:pP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VER</a:t>
                      </a: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SIONS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442340">
                        <a:lnSpc>
                          <a:spcPct val="95833"/>
                        </a:lnSpc>
                      </a:pPr>
                      <a:r>
                        <a:rPr lang="en-US" altLang="zh-CN" sz="1400" b="1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YE</a:t>
                      </a: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AR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102108">
                        <a:lnSpc>
                          <a:spcPct val="95833"/>
                        </a:lnSpc>
                      </a:pP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RELEASE</a:t>
                      </a: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NAME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201168">
                        <a:lnSpc>
                          <a:spcPct val="95833"/>
                        </a:lnSpc>
                      </a:pP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CODE</a:t>
                      </a: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NAME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835">
                <a:tc>
                  <a:txBody>
                    <a:bodyPr/>
                    <a:lstStyle/>
                    <a:p>
                      <a:pPr marL="0" indent="65531">
                        <a:lnSpc>
                          <a:spcPct val="96249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1.0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59">
                        <a:lnSpc>
                          <a:spcPct val="96249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19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89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6249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SQL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Server</a:t>
                      </a:r>
                      <a:r>
                        <a:rPr lang="en-US" altLang="zh-CN" sz="1400" spc="-6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1.0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60">
                        <a:lnSpc>
                          <a:spcPct val="96249"/>
                        </a:lnSpc>
                      </a:pPr>
                      <a:r>
                        <a:rPr lang="en-US" altLang="zh-CN" sz="14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-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1">
                <a:tc>
                  <a:txBody>
                    <a:bodyPr/>
                    <a:lstStyle/>
                    <a:p>
                      <a:pPr marL="0" indent="65531">
                        <a:lnSpc>
                          <a:spcPct val="95416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1.1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59">
                        <a:lnSpc>
                          <a:spcPct val="95416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19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5416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SQL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Server</a:t>
                      </a:r>
                      <a:r>
                        <a:rPr lang="en-US" altLang="zh-CN" sz="1400" spc="-6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1.1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60">
                        <a:lnSpc>
                          <a:spcPct val="95416"/>
                        </a:lnSpc>
                      </a:pPr>
                      <a:r>
                        <a:rPr lang="en-US" altLang="zh-CN" sz="14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-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1">
                <a:tc>
                  <a:txBody>
                    <a:bodyPr/>
                    <a:lstStyle/>
                    <a:p>
                      <a:pPr marL="0" indent="65531">
                        <a:lnSpc>
                          <a:spcPct val="95416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4.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59">
                        <a:lnSpc>
                          <a:spcPct val="95416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19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93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5416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SQL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Server</a:t>
                      </a:r>
                      <a:r>
                        <a:rPr lang="en-US" altLang="zh-CN" sz="1400" spc="-64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4.21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60">
                        <a:lnSpc>
                          <a:spcPct val="95416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SQL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NT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835">
                <a:tc>
                  <a:txBody>
                    <a:bodyPr/>
                    <a:lstStyle/>
                    <a:p>
                      <a:pPr marL="0" indent="65531">
                        <a:lnSpc>
                          <a:spcPct val="96249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6.0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59">
                        <a:lnSpc>
                          <a:spcPct val="96249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19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95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6249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SQL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Server</a:t>
                      </a:r>
                      <a:r>
                        <a:rPr lang="en-US" altLang="zh-CN" sz="1400" spc="-6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6.0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60">
                        <a:lnSpc>
                          <a:spcPct val="96249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QL95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311">
                <a:tc>
                  <a:txBody>
                    <a:bodyPr/>
                    <a:lstStyle/>
                    <a:p>
                      <a:pPr marL="0" indent="65531">
                        <a:lnSpc>
                          <a:spcPct val="95416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6.5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59">
                        <a:lnSpc>
                          <a:spcPct val="95416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19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96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5416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SQL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Server</a:t>
                      </a:r>
                      <a:r>
                        <a:rPr lang="en-US" altLang="zh-CN" sz="1400" spc="-6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6.5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60">
                        <a:lnSpc>
                          <a:spcPct val="95416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Hy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dra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311">
                <a:tc>
                  <a:txBody>
                    <a:bodyPr/>
                    <a:lstStyle/>
                    <a:p>
                      <a:pPr marL="0" indent="65531">
                        <a:lnSpc>
                          <a:spcPct val="95416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7.0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59">
                        <a:lnSpc>
                          <a:spcPct val="95416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19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98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5416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SQL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Server</a:t>
                      </a:r>
                      <a:r>
                        <a:rPr lang="en-US" altLang="zh-CN" sz="1400" spc="-6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7.0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60">
                        <a:lnSpc>
                          <a:spcPct val="95416"/>
                        </a:lnSpc>
                      </a:pP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Sphi</a:t>
                      </a:r>
                      <a:r>
                        <a:rPr lang="en-US" altLang="zh-CN" sz="14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nx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1836">
                <a:tc>
                  <a:txBody>
                    <a:bodyPr/>
                    <a:lstStyle/>
                    <a:p>
                      <a:pPr marL="0" indent="65531">
                        <a:lnSpc>
                          <a:spcPct val="96249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8.0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59">
                        <a:lnSpc>
                          <a:spcPct val="96249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00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6249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SQL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Server</a:t>
                      </a:r>
                      <a:r>
                        <a:rPr lang="en-US" altLang="zh-CN" sz="1400" spc="-5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2000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60">
                        <a:lnSpc>
                          <a:spcPct val="96249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Shi</a:t>
                      </a:r>
                      <a:r>
                        <a:rPr lang="en-US" altLang="zh-CN" sz="14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loh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311">
                <a:tc>
                  <a:txBody>
                    <a:bodyPr/>
                    <a:lstStyle/>
                    <a:p>
                      <a:pPr marL="0" indent="65531">
                        <a:lnSpc>
                          <a:spcPct val="95416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9.0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59">
                        <a:lnSpc>
                          <a:spcPct val="95416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05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5416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SQL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Server</a:t>
                      </a:r>
                      <a:r>
                        <a:rPr lang="en-US" altLang="zh-CN" sz="1400" spc="-5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2005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60">
                        <a:lnSpc>
                          <a:spcPct val="95416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Y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ukon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311">
                <a:tc>
                  <a:txBody>
                    <a:bodyPr/>
                    <a:lstStyle/>
                    <a:p>
                      <a:pPr marL="0" indent="65531">
                        <a:lnSpc>
                          <a:spcPct val="95416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.0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59">
                        <a:lnSpc>
                          <a:spcPct val="95416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08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5416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SQL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Server</a:t>
                      </a:r>
                      <a:r>
                        <a:rPr lang="en-US" altLang="zh-CN" sz="1400" spc="-5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2008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60">
                        <a:lnSpc>
                          <a:spcPct val="95416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Kat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mai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2216">
                <a:tc>
                  <a:txBody>
                    <a:bodyPr/>
                    <a:lstStyle/>
                    <a:p>
                      <a:pPr marL="0" indent="65531">
                        <a:lnSpc>
                          <a:spcPct val="96249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.5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59">
                        <a:lnSpc>
                          <a:spcPct val="96249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6249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SQL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Server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2008</a:t>
                      </a:r>
                      <a:r>
                        <a:rPr lang="en-US" altLang="zh-CN" sz="1400" spc="-6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R2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60">
                        <a:lnSpc>
                          <a:spcPct val="96249"/>
                        </a:lnSpc>
                      </a:pP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Kilima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njaro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311">
                <a:tc>
                  <a:txBody>
                    <a:bodyPr/>
                    <a:lstStyle/>
                    <a:p>
                      <a:pPr marL="0" indent="65531">
                        <a:lnSpc>
                          <a:spcPct val="95416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11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.0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59">
                        <a:lnSpc>
                          <a:spcPct val="95416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12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5416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SQL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Server</a:t>
                      </a:r>
                      <a:r>
                        <a:rPr lang="en-US" altLang="zh-CN" sz="1400" spc="-5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2012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60">
                        <a:lnSpc>
                          <a:spcPct val="95416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Den</a:t>
                      </a:r>
                      <a:r>
                        <a:rPr lang="en-US" altLang="zh-CN" sz="14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ali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408">
                <a:tc>
                  <a:txBody>
                    <a:bodyPr/>
                    <a:lstStyle/>
                    <a:p>
                      <a:pPr marL="0" indent="65531">
                        <a:lnSpc>
                          <a:spcPct val="98333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12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.0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59">
                        <a:lnSpc>
                          <a:spcPct val="98333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14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8333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SQL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Server</a:t>
                      </a:r>
                      <a:r>
                        <a:rPr lang="en-US" altLang="zh-CN" sz="1400" spc="-5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2014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60">
                        <a:lnSpc>
                          <a:spcPct val="98333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QL14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113"/>
          <p:cNvSpPr txBox="1"/>
          <p:nvPr/>
        </p:nvSpPr>
        <p:spPr>
          <a:xfrm>
            <a:off x="914704" y="907377"/>
            <a:ext cx="5973222" cy="81190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multidimensional,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XML-based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sources.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Reports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include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rich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visualization,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including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charts,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maps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etc.</a:t>
            </a:r>
          </a:p>
          <a:p>
            <a:pPr marL="0" indent="228600">
              <a:lnSpc>
                <a:spcPts val="1860"/>
              </a:lnSpc>
              <a:spcBef>
                <a:spcPts val="20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Integration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Services(SSIS):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convert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relational</a:t>
            </a:r>
          </a:p>
          <a:p>
            <a:pPr marL="0" indent="457149">
              <a:lnSpc>
                <a:spcPct val="100000"/>
              </a:lnSpc>
              <a:spcBef>
                <a:spcPts val="21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another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e.g.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convert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ORACLE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used.</a:t>
            </a:r>
          </a:p>
          <a:p>
            <a:pPr marL="0" indent="228600">
              <a:lnSpc>
                <a:spcPts val="1860"/>
              </a:lnSpc>
              <a:spcBef>
                <a:spcPts val="20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SQL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Server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Compact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Edition: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develop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mobile</a:t>
            </a:r>
            <a:r>
              <a:rPr lang="en-US" altLang="zh-CN" sz="14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application</a:t>
            </a:r>
          </a:p>
          <a:p>
            <a:pPr marL="0" indent="457149">
              <a:lnSpc>
                <a:spcPct val="100000"/>
              </a:lnSpc>
              <a:spcBef>
                <a:spcPts val="22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mobile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software.</a:t>
            </a:r>
          </a:p>
          <a:p>
            <a:pPr>
              <a:lnSpc>
                <a:spcPts val="115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Server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Authentication: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authentications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</a:p>
          <a:p>
            <a:pPr>
              <a:lnSpc>
                <a:spcPts val="1085"/>
              </a:lnSpc>
            </a:pPr>
            <a:endParaRPr lang="en-US" dirty="0"/>
          </a:p>
          <a:p>
            <a:pPr marL="0" hangingPunct="0">
              <a:lnSpc>
                <a:spcPct val="110833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Windows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Authentication: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Windows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Authentication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admin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window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authentication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required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password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because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system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generate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Password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default.</a:t>
            </a:r>
          </a:p>
          <a:p>
            <a:pPr>
              <a:lnSpc>
                <a:spcPts val="960"/>
              </a:lnSpc>
            </a:pPr>
            <a:endParaRPr lang="en-US" dirty="0"/>
          </a:p>
          <a:p>
            <a:pPr marL="0" hangingPunct="0">
              <a:lnSpc>
                <a:spcPct val="110833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SQL</a:t>
            </a:r>
            <a:r>
              <a:rPr lang="en-US" altLang="zh-CN" sz="18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Server</a:t>
            </a:r>
            <a:r>
              <a:rPr lang="en-US" altLang="zh-CN" sz="18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Authentication:</a:t>
            </a:r>
            <a:r>
              <a:rPr lang="en-US" altLang="zh-CN" sz="18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work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current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authentication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should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Password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(These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Password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stallation).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Step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Connect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SQL</a:t>
            </a:r>
            <a:r>
              <a:rPr lang="en-US" altLang="zh-CN" sz="1800" b="1" u="sng" spc="-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SERVER:</a:t>
            </a:r>
          </a:p>
          <a:p>
            <a:pPr>
              <a:lnSpc>
                <a:spcPts val="1150"/>
              </a:lnSpc>
            </a:pPr>
            <a:endParaRPr lang="en-US" dirty="0"/>
          </a:p>
          <a:p>
            <a:pPr marL="0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start</a:t>
            </a: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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programs</a:t>
            </a: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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Microsoft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2008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R2/12</a:t>
            </a: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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Click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management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studio</a:t>
            </a: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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Click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connect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button.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814"/>
              </a:lnSpc>
            </a:pPr>
            <a:endParaRPr lang="en-US" dirty="0"/>
          </a:p>
          <a:p>
            <a:pPr marL="0" hangingPunct="0">
              <a:lnSpc>
                <a:spcPct val="110833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Object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Explorer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Window: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window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Security,</a:t>
            </a:r>
            <a:r>
              <a:rPr lang="en-US" altLang="zh-CN" sz="1400" spc="-1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Objects,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Replication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Management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options.</a:t>
            </a:r>
          </a:p>
          <a:p>
            <a:pPr>
              <a:lnSpc>
                <a:spcPts val="1094"/>
              </a:lnSpc>
            </a:pPr>
            <a:endParaRPr lang="en-US" dirty="0"/>
          </a:p>
          <a:p>
            <a:pPr marL="0" indent="44195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</a:p>
          <a:p>
            <a:pPr>
              <a:lnSpc>
                <a:spcPts val="1205"/>
              </a:lnSpc>
            </a:pPr>
            <a:endParaRPr lang="en-US" dirty="0"/>
          </a:p>
          <a:p>
            <a:pPr marL="0" indent="228600">
              <a:lnSpc>
                <a:spcPts val="186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System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Database: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system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include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following</a:t>
            </a:r>
            <a:r>
              <a:rPr lang="en-US" altLang="zh-CN" sz="14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four</a:t>
            </a:r>
          </a:p>
          <a:p>
            <a:pPr marL="0" indent="457149">
              <a:lnSpc>
                <a:spcPct val="100000"/>
              </a:lnSpc>
              <a:spcBef>
                <a:spcPts val="215"/>
              </a:spcBef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da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tabases</a:t>
            </a:r>
          </a:p>
          <a:p>
            <a:pPr marL="0" indent="685749">
              <a:lnSpc>
                <a:spcPct val="100000"/>
              </a:lnSpc>
              <a:spcBef>
                <a:spcPts val="13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8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Master:</a:t>
            </a:r>
            <a:r>
              <a:rPr lang="en-US" altLang="zh-CN" sz="1400" b="1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manage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system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level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information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server.</a:t>
            </a:r>
          </a:p>
          <a:p>
            <a:pPr marL="914349" indent="-228600" hangingPunct="0">
              <a:lnSpc>
                <a:spcPct val="111249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Model:</a:t>
            </a:r>
            <a:r>
              <a:rPr lang="en-US" altLang="zh-CN" sz="1400" b="1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template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new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creating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databases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Box 114"/>
          <p:cNvSpPr txBox="1"/>
          <p:nvPr/>
        </p:nvSpPr>
        <p:spPr>
          <a:xfrm>
            <a:off x="914704" y="904435"/>
            <a:ext cx="5912126" cy="63037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6857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Msdb:</a:t>
            </a:r>
            <a:r>
              <a:rPr lang="en-US" altLang="zh-CN" sz="1400" b="1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alerts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job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information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</a:p>
          <a:p>
            <a:pPr marL="0" indent="914349">
              <a:lnSpc>
                <a:spcPct val="10000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user.</a:t>
            </a:r>
          </a:p>
          <a:p>
            <a:pPr marL="914349" indent="-228600" hangingPunct="0">
              <a:lnSpc>
                <a:spcPct val="110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0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Tempdb:</a:t>
            </a:r>
            <a:r>
              <a:rPr lang="en-US" altLang="zh-CN" sz="1400" b="1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ever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started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tempdb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created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temporary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restart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tempdb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destroyed.</a:t>
            </a:r>
          </a:p>
          <a:p>
            <a:pPr marL="0" indent="228600">
              <a:lnSpc>
                <a:spcPts val="1954"/>
              </a:lnSpc>
              <a:spcBef>
                <a:spcPts val="135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600" spc="15" dirty="0">
                <a:solidFill>
                  <a:srgbClr val="000000"/>
                </a:solidFill>
                <a:latin typeface="Symbol"/>
                <a:cs typeface="Symbol"/>
              </a:rPr>
              <a:t> 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User</a:t>
            </a:r>
            <a:r>
              <a:rPr lang="en-US" altLang="zh-CN" sz="1600" b="1" u="sng" spc="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Database:</a:t>
            </a:r>
            <a:r>
              <a:rPr lang="en-US" altLang="zh-CN" sz="1600" b="1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databases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created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manage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</a:p>
          <a:p>
            <a:pPr marL="0" indent="457149">
              <a:lnSpc>
                <a:spcPct val="100000"/>
              </a:lnSpc>
              <a:spcBef>
                <a:spcPts val="22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their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objects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etc.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Steps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Create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User</a:t>
            </a:r>
            <a:r>
              <a:rPr lang="en-US" altLang="zh-CN" sz="1800" b="1" u="sng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Database:</a:t>
            </a:r>
          </a:p>
          <a:p>
            <a:pPr>
              <a:lnSpc>
                <a:spcPts val="1150"/>
              </a:lnSpc>
            </a:pPr>
            <a:endParaRPr lang="en-US" dirty="0"/>
          </a:p>
          <a:p>
            <a:pPr marL="228600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management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studio</a:t>
            </a: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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Click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Connect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button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connect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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Object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Explorer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window</a:t>
            </a: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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click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right</a:t>
            </a:r>
            <a:r>
              <a:rPr lang="en-US" altLang="zh-CN" sz="1400" spc="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mouse</a:t>
            </a:r>
            <a:r>
              <a:rPr lang="en-US" altLang="zh-CN" sz="1400" spc="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button</a:t>
            </a: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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Click</a:t>
            </a:r>
            <a:r>
              <a:rPr lang="en-US" altLang="zh-CN" sz="1400" spc="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spc="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new</a:t>
            </a:r>
            <a:r>
              <a:rPr lang="en-US" altLang="zh-CN" sz="1400" spc="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spc="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option</a:t>
            </a: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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spc="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spc="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spc="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textbox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control</a:t>
            </a: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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Click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Ok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button</a:t>
            </a:r>
          </a:p>
          <a:p>
            <a:pPr>
              <a:lnSpc>
                <a:spcPts val="1005"/>
              </a:lnSpc>
            </a:pPr>
            <a:endParaRPr lang="en-US" dirty="0"/>
          </a:p>
          <a:p>
            <a:pPr marL="685749" indent="-228600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0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Whenever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Server,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generate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files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</a:p>
          <a:p>
            <a:pPr>
              <a:lnSpc>
                <a:spcPts val="994"/>
              </a:lnSpc>
            </a:pPr>
            <a:endParaRPr lang="en-US" dirty="0"/>
          </a:p>
          <a:p>
            <a:pPr marL="0" hangingPunct="0">
              <a:lnSpc>
                <a:spcPct val="110416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Primary</a:t>
            </a:r>
            <a:r>
              <a:rPr lang="en-US" altLang="zh-CN" sz="1600" b="1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6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file:</a:t>
            </a:r>
            <a:r>
              <a:rPr lang="en-US" altLang="zh-CN" sz="16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start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information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objects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.This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saved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extension</a:t>
            </a:r>
          </a:p>
          <a:p>
            <a:pPr marL="0">
              <a:lnSpc>
                <a:spcPct val="100000"/>
              </a:lnSpc>
              <a:spcBef>
                <a:spcPts val="10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.mdf(Master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file).</a:t>
            </a:r>
          </a:p>
          <a:p>
            <a:pPr>
              <a:lnSpc>
                <a:spcPts val="1050"/>
              </a:lnSpc>
            </a:pPr>
            <a:endParaRPr lang="en-US" dirty="0"/>
          </a:p>
          <a:p>
            <a:pPr marL="0" hangingPunct="0">
              <a:lnSpc>
                <a:spcPct val="110416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Log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File: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information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saved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spc="-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extension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.Ldf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(Log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file).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Root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Location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for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.mdf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and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.ldf</a:t>
            </a:r>
            <a:r>
              <a:rPr lang="en-US" altLang="zh-CN" sz="18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files:</a:t>
            </a:r>
          </a:p>
          <a:p>
            <a:pPr>
              <a:lnSpc>
                <a:spcPts val="1150"/>
              </a:lnSpc>
            </a:pPr>
            <a:endParaRPr lang="en-US" dirty="0"/>
          </a:p>
          <a:p>
            <a:pPr marL="0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C:\Program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Files\Microsoft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\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MSSQL10.MSSQLSERVER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ea typeface="Times New Roman"/>
              </a:rPr>
              <a:t>\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MSSQL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\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DA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115"/>
          <p:cNvSpPr txBox="1"/>
          <p:nvPr/>
        </p:nvSpPr>
        <p:spPr>
          <a:xfrm>
            <a:off x="914704" y="887891"/>
            <a:ext cx="5997583" cy="67420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1666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Data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Types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SQL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Server: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attribute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specifies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integer,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decimal,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etc.</a:t>
            </a:r>
          </a:p>
          <a:p>
            <a:pPr>
              <a:lnSpc>
                <a:spcPts val="1200"/>
              </a:lnSpc>
            </a:pPr>
            <a:endParaRPr lang="en-US" dirty="0"/>
          </a:p>
          <a:p>
            <a:pPr marL="0" indent="685749">
              <a:lnSpc>
                <a:spcPct val="100000"/>
              </a:lnSpc>
            </a:pPr>
            <a:r>
              <a:rPr lang="en-US" altLang="zh-CN" sz="1600" spc="44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600" spc="25" dirty="0">
                <a:solidFill>
                  <a:srgbClr val="000000"/>
                </a:solidFill>
                <a:latin typeface="Calibri"/>
                <a:ea typeface="Calibri"/>
              </a:rPr>
              <a:t>Integer</a:t>
            </a:r>
            <a:r>
              <a:rPr lang="en-US" altLang="zh-CN" sz="16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spc="25" dirty="0">
                <a:solidFill>
                  <a:srgbClr val="000000"/>
                </a:solidFill>
                <a:latin typeface="Calibri"/>
                <a:ea typeface="Calibri"/>
              </a:rPr>
              <a:t>Data</a:t>
            </a:r>
            <a:r>
              <a:rPr lang="en-US" altLang="zh-CN" sz="16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spc="30" dirty="0">
                <a:solidFill>
                  <a:srgbClr val="000000"/>
                </a:solidFill>
                <a:latin typeface="Calibri"/>
                <a:ea typeface="Calibri"/>
              </a:rPr>
              <a:t>Types</a:t>
            </a:r>
          </a:p>
          <a:p>
            <a:pPr marL="0" indent="685749">
              <a:lnSpc>
                <a:spcPct val="100000"/>
              </a:lnSpc>
              <a:spcBef>
                <a:spcPts val="320"/>
              </a:spcBef>
            </a:pPr>
            <a:r>
              <a:rPr lang="en-US" altLang="zh-CN" sz="1600" spc="44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600" spc="25" dirty="0">
                <a:solidFill>
                  <a:srgbClr val="000000"/>
                </a:solidFill>
                <a:latin typeface="Calibri"/>
                <a:ea typeface="Calibri"/>
              </a:rPr>
              <a:t>Decimal</a:t>
            </a:r>
            <a:r>
              <a:rPr lang="en-US" altLang="zh-CN" sz="1600" spc="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spc="30" dirty="0">
                <a:solidFill>
                  <a:srgbClr val="000000"/>
                </a:solidFill>
                <a:latin typeface="Calibri"/>
                <a:ea typeface="Calibri"/>
              </a:rPr>
              <a:t>Data</a:t>
            </a:r>
            <a:r>
              <a:rPr lang="en-US" altLang="zh-CN" sz="1600" spc="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spc="25" dirty="0">
                <a:solidFill>
                  <a:srgbClr val="000000"/>
                </a:solidFill>
                <a:latin typeface="Calibri"/>
                <a:ea typeface="Calibri"/>
              </a:rPr>
              <a:t>Types</a:t>
            </a:r>
          </a:p>
          <a:p>
            <a:pPr marL="0" indent="685749">
              <a:lnSpc>
                <a:spcPct val="100000"/>
              </a:lnSpc>
              <a:spcBef>
                <a:spcPts val="320"/>
              </a:spcBef>
            </a:pPr>
            <a:r>
              <a:rPr lang="en-US" altLang="zh-CN" sz="1600" spc="25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600" spc="20" dirty="0">
                <a:solidFill>
                  <a:srgbClr val="000000"/>
                </a:solidFill>
                <a:latin typeface="Calibri"/>
                <a:ea typeface="Calibri"/>
              </a:rPr>
              <a:t>Money</a:t>
            </a:r>
            <a:r>
              <a:rPr lang="en-US" altLang="zh-CN" sz="160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spc="10" dirty="0">
                <a:solidFill>
                  <a:srgbClr val="000000"/>
                </a:solidFill>
                <a:latin typeface="Calibri"/>
                <a:ea typeface="Calibri"/>
              </a:rPr>
              <a:t>(or)</a:t>
            </a:r>
            <a:r>
              <a:rPr lang="en-US" altLang="zh-CN" sz="160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spc="15" dirty="0">
                <a:solidFill>
                  <a:srgbClr val="000000"/>
                </a:solidFill>
                <a:latin typeface="Calibri"/>
                <a:ea typeface="Calibri"/>
              </a:rPr>
              <a:t>Currency</a:t>
            </a:r>
            <a:r>
              <a:rPr lang="en-US" altLang="zh-CN" sz="160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spc="20" dirty="0">
                <a:solidFill>
                  <a:srgbClr val="000000"/>
                </a:solidFill>
                <a:latin typeface="Calibri"/>
                <a:ea typeface="Calibri"/>
              </a:rPr>
              <a:t>Data</a:t>
            </a:r>
            <a:r>
              <a:rPr lang="en-US" altLang="zh-CN" sz="160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spc="20" dirty="0">
                <a:solidFill>
                  <a:srgbClr val="000000"/>
                </a:solidFill>
                <a:latin typeface="Calibri"/>
                <a:ea typeface="Calibri"/>
              </a:rPr>
              <a:t>Types</a:t>
            </a:r>
          </a:p>
          <a:p>
            <a:pPr marL="0" indent="685749">
              <a:lnSpc>
                <a:spcPct val="100000"/>
              </a:lnSpc>
              <a:spcBef>
                <a:spcPts val="320"/>
              </a:spcBef>
            </a:pPr>
            <a:r>
              <a:rPr lang="en-US" altLang="zh-CN" sz="1600" spc="34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600" spc="20" dirty="0">
                <a:solidFill>
                  <a:srgbClr val="000000"/>
                </a:solidFill>
                <a:latin typeface="Calibri"/>
                <a:ea typeface="Calibri"/>
              </a:rPr>
              <a:t>Date</a:t>
            </a:r>
            <a:r>
              <a:rPr lang="en-US" altLang="zh-CN" sz="16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spc="40" dirty="0">
                <a:solidFill>
                  <a:srgbClr val="000000"/>
                </a:solidFill>
                <a:latin typeface="Calibri"/>
                <a:ea typeface="Calibri"/>
              </a:rPr>
              <a:t>&amp;</a:t>
            </a:r>
            <a:r>
              <a:rPr lang="en-US" altLang="zh-CN" sz="16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spc="20" dirty="0">
                <a:solidFill>
                  <a:srgbClr val="000000"/>
                </a:solidFill>
                <a:latin typeface="Calibri"/>
                <a:ea typeface="Calibri"/>
              </a:rPr>
              <a:t>Time</a:t>
            </a:r>
            <a:r>
              <a:rPr lang="en-US" altLang="zh-CN" sz="16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spc="25" dirty="0">
                <a:solidFill>
                  <a:srgbClr val="000000"/>
                </a:solidFill>
                <a:latin typeface="Calibri"/>
                <a:ea typeface="Calibri"/>
              </a:rPr>
              <a:t>Data</a:t>
            </a:r>
            <a:r>
              <a:rPr lang="en-US" altLang="zh-CN" sz="16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spc="20" dirty="0">
                <a:solidFill>
                  <a:srgbClr val="000000"/>
                </a:solidFill>
                <a:latin typeface="Calibri"/>
                <a:ea typeface="Calibri"/>
              </a:rPr>
              <a:t>Types</a:t>
            </a:r>
          </a:p>
          <a:p>
            <a:pPr marL="0" indent="685749">
              <a:lnSpc>
                <a:spcPct val="100000"/>
              </a:lnSpc>
              <a:spcBef>
                <a:spcPts val="334"/>
              </a:spcBef>
            </a:pPr>
            <a:r>
              <a:rPr lang="en-US" altLang="zh-CN" sz="1600" spc="4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600" spc="20" dirty="0">
                <a:solidFill>
                  <a:srgbClr val="000000"/>
                </a:solidFill>
                <a:latin typeface="Calibri"/>
                <a:ea typeface="Calibri"/>
              </a:rPr>
              <a:t>Character</a:t>
            </a:r>
            <a:r>
              <a:rPr lang="en-US" altLang="zh-CN" sz="16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spc="30" dirty="0">
                <a:solidFill>
                  <a:srgbClr val="000000"/>
                </a:solidFill>
                <a:latin typeface="Calibri"/>
                <a:ea typeface="Calibri"/>
              </a:rPr>
              <a:t>Data</a:t>
            </a:r>
            <a:r>
              <a:rPr lang="en-US" altLang="zh-CN" sz="16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spc="25" dirty="0">
                <a:solidFill>
                  <a:srgbClr val="000000"/>
                </a:solidFill>
                <a:latin typeface="Calibri"/>
                <a:ea typeface="Calibri"/>
              </a:rPr>
              <a:t>Types</a:t>
            </a:r>
          </a:p>
          <a:p>
            <a:pPr marL="0" indent="685749">
              <a:lnSpc>
                <a:spcPct val="100000"/>
              </a:lnSpc>
              <a:spcBef>
                <a:spcPts val="325"/>
              </a:spcBef>
            </a:pPr>
            <a:r>
              <a:rPr lang="en-US" altLang="zh-CN" sz="1600" spc="5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600" spc="25" dirty="0">
                <a:solidFill>
                  <a:srgbClr val="000000"/>
                </a:solidFill>
                <a:latin typeface="Calibri"/>
                <a:ea typeface="Calibri"/>
              </a:rPr>
              <a:t>Binary</a:t>
            </a:r>
            <a:r>
              <a:rPr lang="en-US" altLang="zh-CN" sz="1600" spc="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spc="30" dirty="0">
                <a:solidFill>
                  <a:srgbClr val="000000"/>
                </a:solidFill>
                <a:latin typeface="Calibri"/>
                <a:ea typeface="Calibri"/>
              </a:rPr>
              <a:t>Data</a:t>
            </a:r>
            <a:r>
              <a:rPr lang="en-US" altLang="zh-CN" sz="1600" spc="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spc="30" dirty="0">
                <a:solidFill>
                  <a:srgbClr val="000000"/>
                </a:solidFill>
                <a:latin typeface="Calibri"/>
                <a:ea typeface="Calibri"/>
              </a:rPr>
              <a:t>Types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73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Integer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data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type: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SID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etc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65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Decimal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Data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Types: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decimal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numbers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divide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same.</a:t>
            </a:r>
          </a:p>
          <a:p>
            <a:pPr>
              <a:lnSpc>
                <a:spcPts val="1110"/>
              </a:lnSpc>
            </a:pPr>
            <a:endParaRPr lang="en-US" dirty="0"/>
          </a:p>
          <a:p>
            <a:pPr marL="0" indent="228600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1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Decimal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(P,S)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---------&gt;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P=Precision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&amp;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D=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Scale</a:t>
            </a:r>
          </a:p>
          <a:p>
            <a:pPr marL="0" indent="228600">
              <a:lnSpc>
                <a:spcPts val="172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Numeric</a:t>
            </a:r>
            <a:r>
              <a:rPr lang="en-US" altLang="zh-CN" sz="1400" spc="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(P,S)</a:t>
            </a:r>
          </a:p>
          <a:p>
            <a:pPr>
              <a:lnSpc>
                <a:spcPts val="1075"/>
              </a:lnSpc>
            </a:pPr>
            <a:endParaRPr lang="en-US" dirty="0"/>
          </a:p>
          <a:p>
            <a:pPr marL="0" hangingPunct="0">
              <a:lnSpc>
                <a:spcPct val="11208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Precision: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total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number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decimal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digits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i.e.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left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right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decimal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point.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default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precision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18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maximum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38.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914704" y="7766499"/>
            <a:ext cx="4721473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1829130" algn="l"/>
                <a:tab pos="2876118" algn="l"/>
                <a:tab pos="3658184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of</a:t>
            </a:r>
            <a:r>
              <a:rPr lang="en-US" altLang="zh-CN" sz="1400" b="1" u="sng" spc="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Precision:	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3457.78543	----------	Precision</a:t>
            </a:r>
            <a:r>
              <a:rPr lang="en-US" altLang="zh-CN" sz="1400" b="1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=9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914704" y="8112318"/>
            <a:ext cx="5982646" cy="4752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Scale: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right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digits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decimal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point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default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scale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0.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914704" y="8726568"/>
            <a:ext cx="4002161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1371549" algn="l"/>
                <a:tab pos="2418918" algn="l"/>
                <a:tab pos="3200984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of</a:t>
            </a:r>
            <a:r>
              <a:rPr lang="en-US" altLang="zh-CN" sz="1400" b="1" u="sng" spc="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Scale:	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3457.78543	----------	Scale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=</a:t>
            </a:r>
            <a:r>
              <a:rPr lang="en-US" altLang="zh-CN" sz="1400" b="1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5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82751" y="3979798"/>
          <a:ext cx="6335012" cy="16172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32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7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indent="305104">
                        <a:lnSpc>
                          <a:spcPct val="95416"/>
                        </a:lnSpc>
                      </a:pP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Data</a:t>
                      </a:r>
                      <a:r>
                        <a:rPr lang="en-US" altLang="zh-CN" sz="1400" b="1" spc="1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Type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1152525">
                        <a:lnSpc>
                          <a:spcPct val="95416"/>
                        </a:lnSpc>
                      </a:pPr>
                      <a:r>
                        <a:rPr lang="en-US" altLang="zh-CN" sz="1400" b="1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Ra</a:t>
                      </a: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nge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449579">
                        <a:lnSpc>
                          <a:spcPct val="95416"/>
                        </a:lnSpc>
                      </a:pP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Stored</a:t>
                      </a: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Memory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7">
                <a:tc>
                  <a:txBody>
                    <a:bodyPr/>
                    <a:lstStyle/>
                    <a:p>
                      <a:pPr marL="0" indent="388924">
                        <a:lnSpc>
                          <a:spcPct val="100000"/>
                        </a:lnSpc>
                      </a:pP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Tiny</a:t>
                      </a:r>
                      <a:r>
                        <a:rPr lang="en-US" altLang="zh-CN" sz="1400" b="1" spc="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Int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1187577">
                        <a:lnSpc>
                          <a:spcPct val="100000"/>
                        </a:lnSpc>
                      </a:pP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0-</a:t>
                      </a:r>
                      <a:r>
                        <a:rPr lang="en-US" altLang="zh-CN" sz="1400" b="1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255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819911">
                        <a:lnSpc>
                          <a:spcPct val="100000"/>
                        </a:lnSpc>
                      </a:pPr>
                      <a:r>
                        <a:rPr lang="en-US" altLang="zh-CN" sz="1400" b="1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byte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372160">
                        <a:lnSpc>
                          <a:spcPct val="100000"/>
                        </a:lnSpc>
                      </a:pP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Smal</a:t>
                      </a: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lInt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802005">
                        <a:lnSpc>
                          <a:spcPct val="100000"/>
                        </a:lnSpc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-32768</a:t>
                      </a: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to</a:t>
                      </a:r>
                      <a:r>
                        <a:rPr lang="en-US" altLang="zh-CN" sz="1400" b="1" spc="-64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32767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784859">
                        <a:lnSpc>
                          <a:spcPct val="100000"/>
                        </a:lnSpc>
                      </a:pP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  <a:r>
                        <a:rPr lang="en-US" altLang="zh-CN" sz="1400" b="1" spc="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bytes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528">
                <a:tc>
                  <a:txBody>
                    <a:bodyPr/>
                    <a:lstStyle/>
                    <a:p>
                      <a:pPr marL="0" indent="588518">
                        <a:lnSpc>
                          <a:spcPct val="100000"/>
                        </a:lnSpc>
                      </a:pPr>
                      <a:r>
                        <a:rPr lang="en-US" altLang="zh-CN" sz="1400" b="1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Int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224028">
                        <a:lnSpc>
                          <a:spcPct val="100000"/>
                        </a:lnSpc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-2,147,483,648</a:t>
                      </a: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to</a:t>
                      </a:r>
                      <a:r>
                        <a:rPr lang="en-US" altLang="zh-CN" sz="1400" b="1" spc="-8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2,147,483,647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784859">
                        <a:lnSpc>
                          <a:spcPct val="100000"/>
                        </a:lnSpc>
                      </a:pP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  <a:r>
                        <a:rPr lang="en-US" altLang="zh-CN" sz="1400" b="1" spc="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bytes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882">
                <a:tc>
                  <a:txBody>
                    <a:bodyPr/>
                    <a:lstStyle/>
                    <a:p>
                      <a:pPr marL="0" indent="469696">
                        <a:lnSpc>
                          <a:spcPct val="100000"/>
                        </a:lnSpc>
                      </a:pP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Big</a:t>
                      </a: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int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268224">
                        <a:lnSpc>
                          <a:spcPct val="92916"/>
                        </a:lnSpc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-9,223,372,036,854,775,808</a:t>
                      </a:r>
                      <a:r>
                        <a:rPr lang="en-US" altLang="zh-CN" sz="1400" b="1" spc="-44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to</a:t>
                      </a:r>
                    </a:p>
                    <a:p>
                      <a:pPr marL="0" indent="416433">
                        <a:lnSpc>
                          <a:spcPct val="100000"/>
                        </a:lnSpc>
                      </a:pP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9,223,372,036</a:t>
                      </a: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,854,775,807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784859">
                        <a:lnSpc>
                          <a:spcPct val="100000"/>
                        </a:lnSpc>
                      </a:pP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8</a:t>
                      </a:r>
                      <a:r>
                        <a:rPr lang="en-US" altLang="zh-CN" sz="1400" b="1" spc="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bytes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Box 120"/>
          <p:cNvSpPr txBox="1"/>
          <p:nvPr/>
        </p:nvSpPr>
        <p:spPr>
          <a:xfrm>
            <a:off x="914704" y="2538035"/>
            <a:ext cx="5910501" cy="45270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Money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Data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Type: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currency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710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and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Time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Data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Type: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define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particular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day.</a:t>
            </a:r>
          </a:p>
          <a:p>
            <a:pPr>
              <a:lnSpc>
                <a:spcPts val="490"/>
              </a:lnSpc>
            </a:pPr>
            <a:endParaRPr lang="en-US" dirty="0"/>
          </a:p>
          <a:p>
            <a:pPr marL="0" hangingPunct="0">
              <a:lnSpc>
                <a:spcPct val="169166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Date: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defines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default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format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“yy/mm/dd”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Time: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defines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default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format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“hh/mm/ss.ms”</a:t>
            </a:r>
          </a:p>
          <a:p>
            <a:pPr>
              <a:lnSpc>
                <a:spcPts val="59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&amp;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Time: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day.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1371853" y="7217371"/>
            <a:ext cx="2521479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1371981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“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Yy/mm/dd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hh/mm/ss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.ms”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43076" y="917448"/>
          <a:ext cx="6122872" cy="12849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589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8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238">
                <a:tc>
                  <a:txBody>
                    <a:bodyPr/>
                    <a:lstStyle/>
                    <a:p>
                      <a:pPr marL="0" indent="1173429">
                        <a:lnSpc>
                          <a:spcPct val="100000"/>
                        </a:lnSpc>
                      </a:pP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</a:t>
                      </a: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recision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922273">
                        <a:lnSpc>
                          <a:spcPct val="100000"/>
                        </a:lnSpc>
                      </a:pP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Stored</a:t>
                      </a: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Memory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984">
                <a:tc>
                  <a:txBody>
                    <a:bodyPr/>
                    <a:lstStyle/>
                    <a:p>
                      <a:pPr marL="0" indent="1405077">
                        <a:lnSpc>
                          <a:spcPct val="100000"/>
                        </a:lnSpc>
                      </a:pPr>
                      <a:r>
                        <a:rPr lang="en-US" altLang="zh-CN" sz="1400" b="1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1-</a:t>
                      </a:r>
                      <a:r>
                        <a:rPr lang="en-US" altLang="zh-CN" sz="1400" b="1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1257553">
                        <a:lnSpc>
                          <a:spcPct val="100000"/>
                        </a:lnSpc>
                      </a:pP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</a:t>
                      </a:r>
                      <a:r>
                        <a:rPr lang="en-US" altLang="zh-CN" sz="1400" b="1" spc="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bytes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507">
                <a:tc>
                  <a:txBody>
                    <a:bodyPr/>
                    <a:lstStyle/>
                    <a:p>
                      <a:pPr marL="0" indent="1316685">
                        <a:lnSpc>
                          <a:spcPct val="100000"/>
                        </a:lnSpc>
                      </a:pP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10-</a:t>
                      </a:r>
                      <a:r>
                        <a:rPr lang="en-US" altLang="zh-CN" sz="1400" b="1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19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1257553">
                        <a:lnSpc>
                          <a:spcPct val="100000"/>
                        </a:lnSpc>
                      </a:pP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</a:t>
                      </a:r>
                      <a:r>
                        <a:rPr lang="en-US" altLang="zh-CN" sz="1400" b="1" spc="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bytes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983">
                <a:tc>
                  <a:txBody>
                    <a:bodyPr/>
                    <a:lstStyle/>
                    <a:p>
                      <a:pPr marL="0" indent="1316685">
                        <a:lnSpc>
                          <a:spcPct val="100000"/>
                        </a:lnSpc>
                      </a:pP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20-</a:t>
                      </a:r>
                      <a:r>
                        <a:rPr lang="en-US" altLang="zh-CN" sz="1400" b="1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28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1213357">
                        <a:lnSpc>
                          <a:spcPct val="100000"/>
                        </a:lnSpc>
                      </a:pP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13</a:t>
                      </a:r>
                      <a:r>
                        <a:rPr lang="en-US" altLang="zh-CN" sz="1400" b="1" spc="1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bytes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271">
                <a:tc>
                  <a:txBody>
                    <a:bodyPr/>
                    <a:lstStyle/>
                    <a:p>
                      <a:pPr marL="0" indent="1316685">
                        <a:lnSpc>
                          <a:spcPct val="100000"/>
                        </a:lnSpc>
                      </a:pP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29-</a:t>
                      </a:r>
                      <a:r>
                        <a:rPr lang="en-US" altLang="zh-CN" sz="1400" b="1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38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1213357">
                        <a:lnSpc>
                          <a:spcPct val="100000"/>
                        </a:lnSpc>
                      </a:pP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17</a:t>
                      </a:r>
                      <a:r>
                        <a:rPr lang="en-US" altLang="zh-CN" sz="1400" b="1" spc="1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bytes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43076" y="3162554"/>
          <a:ext cx="6036004" cy="2021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83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91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37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761">
                <a:tc>
                  <a:txBody>
                    <a:bodyPr/>
                    <a:lstStyle/>
                    <a:p>
                      <a:pPr marL="0" indent="531825">
                        <a:lnSpc>
                          <a:spcPct val="100000"/>
                        </a:lnSpc>
                      </a:pPr>
                      <a:r>
                        <a:rPr lang="en-US" altLang="zh-CN" sz="16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Data</a:t>
                      </a:r>
                      <a:r>
                        <a:rPr lang="en-US" altLang="zh-CN" sz="1600" b="1" spc="-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6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Type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746759">
                        <a:lnSpc>
                          <a:spcPct val="100000"/>
                        </a:lnSpc>
                      </a:pPr>
                      <a:r>
                        <a:rPr lang="en-US" altLang="zh-CN" sz="1600" b="1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Ra</a:t>
                      </a:r>
                      <a:r>
                        <a:rPr lang="en-US" altLang="zh-CN" sz="16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nge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300228">
                        <a:lnSpc>
                          <a:spcPct val="100000"/>
                        </a:lnSpc>
                      </a:pPr>
                      <a:r>
                        <a:rPr lang="en-US" altLang="zh-CN" sz="16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Stored</a:t>
                      </a:r>
                      <a:r>
                        <a:rPr lang="en-US" altLang="zh-CN" sz="1600" b="1" spc="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6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Memory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8744">
                <a:tc>
                  <a:txBody>
                    <a:bodyPr/>
                    <a:lstStyle/>
                    <a:p>
                      <a:pPr marL="0" indent="495249">
                        <a:lnSpc>
                          <a:spcPct val="100000"/>
                        </a:lnSpc>
                      </a:pP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Small</a:t>
                      </a:r>
                      <a:r>
                        <a:rPr lang="en-US" altLang="zh-CN" sz="1400" b="1" spc="1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money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504444">
                        <a:lnSpc>
                          <a:spcPct val="92083"/>
                        </a:lnSpc>
                      </a:pP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-214,748,36</a:t>
                      </a: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48</a:t>
                      </a:r>
                    </a:p>
                    <a:p>
                      <a:pPr marL="0" indent="918971">
                        <a:lnSpc>
                          <a:spcPct val="95833"/>
                        </a:lnSpc>
                      </a:pPr>
                      <a:r>
                        <a:rPr lang="en-US" altLang="zh-CN" sz="1400" b="1" spc="-3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To</a:t>
                      </a:r>
                    </a:p>
                    <a:p>
                      <a:pPr marL="0" indent="533400">
                        <a:lnSpc>
                          <a:spcPct val="99166"/>
                        </a:lnSpc>
                      </a:pP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214,748,364</a:t>
                      </a: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7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720852">
                        <a:lnSpc>
                          <a:spcPct val="100000"/>
                        </a:lnSpc>
                      </a:pP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  <a:r>
                        <a:rPr lang="en-US" altLang="zh-CN" sz="1400" b="1" spc="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bytes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marL="0" indent="725373">
                        <a:lnSpc>
                          <a:spcPct val="100000"/>
                        </a:lnSpc>
                      </a:pPr>
                      <a:r>
                        <a:rPr lang="en-US" altLang="zh-CN" sz="1400" b="1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Mon</a:t>
                      </a: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ey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993647">
                        <a:lnSpc>
                          <a:spcPct val="92916"/>
                        </a:lnSpc>
                      </a:pPr>
                      <a:r>
                        <a:rPr lang="en-US" altLang="zh-CN" sz="1400" b="1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-</a:t>
                      </a:r>
                    </a:p>
                    <a:p>
                      <a:pPr marL="0" indent="67055">
                        <a:lnSpc>
                          <a:spcPct val="95416"/>
                        </a:lnSpc>
                      </a:pP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922,337,203,68</a:t>
                      </a: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5,477,5808</a:t>
                      </a:r>
                    </a:p>
                    <a:p>
                      <a:pPr marL="0" indent="949451">
                        <a:lnSpc>
                          <a:spcPct val="95833"/>
                        </a:lnSpc>
                      </a:pPr>
                      <a:r>
                        <a:rPr lang="en-US" altLang="zh-CN" sz="1400" b="1" spc="-3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to</a:t>
                      </a:r>
                    </a:p>
                    <a:p>
                      <a:pPr marL="0" indent="67055">
                        <a:lnSpc>
                          <a:spcPct val="100000"/>
                        </a:lnSpc>
                      </a:pP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922,337,203,68</a:t>
                      </a: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5,477,5807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720852">
                        <a:lnSpc>
                          <a:spcPct val="100000"/>
                        </a:lnSpc>
                      </a:pP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8</a:t>
                      </a:r>
                      <a:r>
                        <a:rPr lang="en-US" altLang="zh-CN" sz="1400" b="1" spc="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bytes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Box 124"/>
          <p:cNvSpPr txBox="1"/>
          <p:nvPr/>
        </p:nvSpPr>
        <p:spPr>
          <a:xfrm>
            <a:off x="914704" y="905891"/>
            <a:ext cx="5869330" cy="3892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Character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Data</a:t>
            </a:r>
            <a:r>
              <a:rPr lang="en-US" altLang="zh-CN" sz="18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Types:</a:t>
            </a:r>
          </a:p>
          <a:p>
            <a:pPr>
              <a:lnSpc>
                <a:spcPts val="123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classified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six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types.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228600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5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Char</a:t>
            </a:r>
            <a:r>
              <a:rPr lang="en-US" altLang="zh-CN" sz="1400" b="1" u="sng" spc="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(n):</a:t>
            </a:r>
            <a:r>
              <a:rPr lang="en-US" altLang="zh-CN" sz="1400" b="1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fixed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length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type,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string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non-</a:t>
            </a:r>
          </a:p>
          <a:p>
            <a:pPr marL="0" indent="457149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Unicode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manner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i.e.it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take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byte.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maximum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length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1-8000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bytes</a:t>
            </a:r>
          </a:p>
          <a:p>
            <a:pPr marL="0" indent="228600">
              <a:lnSpc>
                <a:spcPts val="172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Varchar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(n/max):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variable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length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spc="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</a:p>
          <a:p>
            <a:pPr marL="0" indent="457149">
              <a:lnSpc>
                <a:spcPct val="100000"/>
              </a:lnSpc>
              <a:spcBef>
                <a:spcPts val="20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non-Unicode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manner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i.e.it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take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byte.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maximum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length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1-8000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bytes</a:t>
            </a:r>
          </a:p>
          <a:p>
            <a:pPr marL="0" indent="228600">
              <a:lnSpc>
                <a:spcPts val="1720"/>
              </a:lnSpc>
              <a:spcBef>
                <a:spcPts val="19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1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Text:</a:t>
            </a:r>
            <a:r>
              <a:rPr lang="en-US" altLang="zh-CN" sz="1400" b="1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same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Varchar(max)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</a:p>
          <a:p>
            <a:pPr marL="0" indent="228600">
              <a:lnSpc>
                <a:spcPts val="172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Nchar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(n):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fixed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length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Unicode</a:t>
            </a:r>
          </a:p>
          <a:p>
            <a:pPr marL="0" indent="457149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manner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i.e.it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take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bytes.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maximum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length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1-4000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bytes</a:t>
            </a:r>
          </a:p>
          <a:p>
            <a:pPr marL="0" indent="228600">
              <a:lnSpc>
                <a:spcPts val="172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Nvarchar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(n/max):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variable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length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string</a:t>
            </a:r>
            <a:r>
              <a:rPr lang="en-US" altLang="zh-CN" sz="1400" spc="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</a:p>
          <a:p>
            <a:pPr marL="0" indent="457149">
              <a:lnSpc>
                <a:spcPct val="100000"/>
              </a:lnSpc>
              <a:spcBef>
                <a:spcPts val="20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Unicode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manner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i.e.it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take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byte.</a:t>
            </a:r>
          </a:p>
          <a:p>
            <a:pPr marL="0" indent="457149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maximum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length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1-4000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bytes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1143304" y="4821613"/>
            <a:ext cx="4058358" cy="218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ts val="1720"/>
              </a:lnSpc>
              <a:tabLst>
                <a:tab pos="3886784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Ntext: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Nvarchar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(max)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	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914704" y="5175538"/>
            <a:ext cx="5820359" cy="27188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1666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Binary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Data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Type: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Binary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images,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videos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audio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divided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following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</a:t>
            </a:r>
          </a:p>
          <a:p>
            <a:pPr>
              <a:lnSpc>
                <a:spcPts val="1110"/>
              </a:lnSpc>
            </a:pPr>
            <a:endParaRPr lang="en-US" dirty="0"/>
          </a:p>
          <a:p>
            <a:pPr marL="0" indent="228600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Binary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(n):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fixed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length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maximum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length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binary</a:t>
            </a:r>
          </a:p>
          <a:p>
            <a:pPr marL="0" indent="457149">
              <a:lnSpc>
                <a:spcPct val="100000"/>
              </a:lnSpc>
              <a:spcBef>
                <a:spcPts val="20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1-8000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bytes.</a:t>
            </a:r>
          </a:p>
          <a:p>
            <a:pPr marL="0" indent="228600">
              <a:lnSpc>
                <a:spcPts val="172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Varbinary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(n/max):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variable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length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maximum</a:t>
            </a:r>
            <a:r>
              <a:rPr lang="en-US" altLang="zh-CN" sz="1400" spc="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length</a:t>
            </a:r>
          </a:p>
          <a:p>
            <a:pPr marL="0" indent="457149">
              <a:lnSpc>
                <a:spcPct val="100000"/>
              </a:lnSpc>
              <a:spcBef>
                <a:spcPts val="20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binary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1-8000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bytes.</a:t>
            </a:r>
          </a:p>
          <a:p>
            <a:pPr marL="0" indent="228600">
              <a:lnSpc>
                <a:spcPts val="172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Image: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Varbinary</a:t>
            </a:r>
            <a:r>
              <a:rPr lang="en-US" altLang="zh-CN" sz="1400" spc="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(max)</a:t>
            </a:r>
          </a:p>
          <a:p>
            <a:pPr>
              <a:lnSpc>
                <a:spcPts val="1080"/>
              </a:lnSpc>
            </a:pPr>
            <a:endParaRPr lang="en-US" dirty="0"/>
          </a:p>
          <a:p>
            <a:pPr marL="0" hangingPunct="0">
              <a:lnSpc>
                <a:spcPct val="11083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Note: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Instead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text,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Ntext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image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(max),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Nvarchar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(max)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Varbinary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(max)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latest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versions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Microsoft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Freeform 127"/>
          <p:cNvSpPr/>
          <p:nvPr/>
        </p:nvSpPr>
        <p:spPr>
          <a:xfrm>
            <a:off x="876808" y="7303008"/>
            <a:ext cx="5828791" cy="50291"/>
          </a:xfrm>
          <a:custGeom>
            <a:avLst/>
            <a:gdLst>
              <a:gd name="connsiteX0" fmla="*/ 18541 w 5828791"/>
              <a:gd name="connsiteY0" fmla="*/ 22352 h 50291"/>
              <a:gd name="connsiteX1" fmla="*/ 5838316 w 5828791"/>
              <a:gd name="connsiteY1" fmla="*/ 50927 h 50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828791" h="50291">
                <a:moveTo>
                  <a:pt x="18541" y="22352"/>
                </a:moveTo>
                <a:lnTo>
                  <a:pt x="5838316" y="50927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Freeform 128"/>
          <p:cNvSpPr/>
          <p:nvPr/>
        </p:nvSpPr>
        <p:spPr>
          <a:xfrm>
            <a:off x="3658108" y="7074408"/>
            <a:ext cx="24891" cy="240791"/>
          </a:xfrm>
          <a:custGeom>
            <a:avLst/>
            <a:gdLst>
              <a:gd name="connsiteX0" fmla="*/ 18541 w 24891"/>
              <a:gd name="connsiteY0" fmla="*/ 21716 h 240791"/>
              <a:gd name="connsiteX1" fmla="*/ 28066 w 24891"/>
              <a:gd name="connsiteY1" fmla="*/ 250316 h 240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4891" h="240791">
                <a:moveTo>
                  <a:pt x="18541" y="21716"/>
                </a:moveTo>
                <a:lnTo>
                  <a:pt x="28066" y="250316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Freeform 129"/>
          <p:cNvSpPr/>
          <p:nvPr/>
        </p:nvSpPr>
        <p:spPr>
          <a:xfrm>
            <a:off x="876808" y="7303008"/>
            <a:ext cx="12191" cy="291591"/>
          </a:xfrm>
          <a:custGeom>
            <a:avLst/>
            <a:gdLst>
              <a:gd name="connsiteX0" fmla="*/ 18541 w 12191"/>
              <a:gd name="connsiteY0" fmla="*/ 22352 h 291591"/>
              <a:gd name="connsiteX1" fmla="*/ 18541 w 12191"/>
              <a:gd name="connsiteY1" fmla="*/ 298577 h 291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" h="291591">
                <a:moveTo>
                  <a:pt x="18541" y="22352"/>
                </a:moveTo>
                <a:lnTo>
                  <a:pt x="18541" y="298577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Freeform 130"/>
          <p:cNvSpPr/>
          <p:nvPr/>
        </p:nvSpPr>
        <p:spPr>
          <a:xfrm>
            <a:off x="3226308" y="7303008"/>
            <a:ext cx="24891" cy="291591"/>
          </a:xfrm>
          <a:custGeom>
            <a:avLst/>
            <a:gdLst>
              <a:gd name="connsiteX0" fmla="*/ 21716 w 24891"/>
              <a:gd name="connsiteY0" fmla="*/ 22352 h 291591"/>
              <a:gd name="connsiteX1" fmla="*/ 31241 w 24891"/>
              <a:gd name="connsiteY1" fmla="*/ 298577 h 291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4891" h="291591">
                <a:moveTo>
                  <a:pt x="21716" y="22352"/>
                </a:moveTo>
                <a:lnTo>
                  <a:pt x="31241" y="298577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Freeform 131"/>
          <p:cNvSpPr/>
          <p:nvPr/>
        </p:nvSpPr>
        <p:spPr>
          <a:xfrm>
            <a:off x="5029708" y="7341108"/>
            <a:ext cx="12191" cy="253491"/>
          </a:xfrm>
          <a:custGeom>
            <a:avLst/>
            <a:gdLst>
              <a:gd name="connsiteX0" fmla="*/ 18541 w 12191"/>
              <a:gd name="connsiteY0" fmla="*/ 12827 h 253491"/>
              <a:gd name="connsiteX1" fmla="*/ 18541 w 12191"/>
              <a:gd name="connsiteY1" fmla="*/ 260477 h 253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" h="253491">
                <a:moveTo>
                  <a:pt x="18541" y="12827"/>
                </a:moveTo>
                <a:lnTo>
                  <a:pt x="18541" y="260477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Freeform 132"/>
          <p:cNvSpPr/>
          <p:nvPr/>
        </p:nvSpPr>
        <p:spPr>
          <a:xfrm>
            <a:off x="6693408" y="7341108"/>
            <a:ext cx="12191" cy="253491"/>
          </a:xfrm>
          <a:custGeom>
            <a:avLst/>
            <a:gdLst>
              <a:gd name="connsiteX0" fmla="*/ 21716 w 12191"/>
              <a:gd name="connsiteY0" fmla="*/ 12827 h 253491"/>
              <a:gd name="connsiteX1" fmla="*/ 21716 w 12191"/>
              <a:gd name="connsiteY1" fmla="*/ 260477 h 253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" h="253491">
                <a:moveTo>
                  <a:pt x="21716" y="12827"/>
                </a:moveTo>
                <a:lnTo>
                  <a:pt x="21716" y="260477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TextBox 133"/>
          <p:cNvSpPr txBox="1"/>
          <p:nvPr/>
        </p:nvSpPr>
        <p:spPr>
          <a:xfrm>
            <a:off x="914704" y="905578"/>
            <a:ext cx="5917687" cy="61913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889965">
              <a:lnSpc>
                <a:spcPct val="100000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STRUCTURE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QUERY</a:t>
            </a:r>
            <a:r>
              <a:rPr lang="en-US" altLang="zh-CN" sz="2000" b="1" u="sng" spc="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LANGUAGE:</a:t>
            </a:r>
          </a:p>
          <a:p>
            <a:pPr>
              <a:lnSpc>
                <a:spcPts val="1260"/>
              </a:lnSpc>
            </a:pPr>
            <a:endParaRPr lang="en-US" dirty="0"/>
          </a:p>
          <a:p>
            <a:pPr marL="0" indent="64008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communicate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</a:p>
          <a:p>
            <a:pPr marL="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Oracle,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sqlserver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etc.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457149" indent="-228549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0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developed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German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Scientist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Mr.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E.F.Codd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19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68</a:t>
            </a:r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3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ANSI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(American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National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Standard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Institute)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approved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concept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1972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released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market</a:t>
            </a:r>
          </a:p>
          <a:p>
            <a:pPr>
              <a:lnSpc>
                <a:spcPts val="108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Features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of</a:t>
            </a:r>
            <a:r>
              <a:rPr lang="en-US" altLang="zh-CN" sz="18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SQL:</a:t>
            </a:r>
          </a:p>
          <a:p>
            <a:pPr>
              <a:lnSpc>
                <a:spcPts val="1150"/>
              </a:lnSpc>
            </a:pPr>
            <a:endParaRPr lang="en-US" dirty="0"/>
          </a:p>
          <a:p>
            <a:pPr marL="457149" indent="-228549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sensitive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means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sensitive</a:t>
            </a:r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Every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should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ends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semicolon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(;)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(It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exemption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</a:p>
          <a:p>
            <a:pPr marL="0" indent="457149">
              <a:lnSpc>
                <a:spcPct val="10000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Server)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1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pronounced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Sequel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(Structured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English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Language)</a:t>
            </a:r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0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Common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Interface,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communicate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NLI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(Natural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Interface).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means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spc="-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</a:p>
          <a:p>
            <a:pPr marL="0" indent="457149">
              <a:lnSpc>
                <a:spcPct val="100000"/>
              </a:lnSpc>
              <a:spcBef>
                <a:spcPts val="17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almost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similar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normal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English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2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Structured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mainly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divided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sub</a:t>
            </a:r>
            <a:r>
              <a:rPr lang="en-US" altLang="zh-CN" sz="1400" spc="-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languages</a:t>
            </a:r>
          </a:p>
          <a:p>
            <a:pPr marL="0" indent="457149">
              <a:lnSpc>
                <a:spcPct val="10000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DDL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Definition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Language)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DML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Manipulation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Language)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TCL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(Transaction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Control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Language)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4.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DCL(Data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Control</a:t>
            </a:r>
            <a:r>
              <a:rPr lang="en-US" altLang="zh-CN" sz="14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Language)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2577414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914704" y="7607896"/>
            <a:ext cx="6038841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2141550" algn="l"/>
                <a:tab pos="3998035" algn="l"/>
                <a:tab pos="5555945" algn="l"/>
              </a:tabLst>
            </a:pP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DDL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000" spc="-15" dirty="0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lang="en-US" altLang="zh-CN" sz="1000" spc="-10" dirty="0">
                <a:solidFill>
                  <a:srgbClr val="000000"/>
                </a:solidFill>
                <a:latin typeface="Times New Roman"/>
                <a:ea typeface="Times New Roman"/>
              </a:rPr>
              <a:t>DR</a:t>
            </a:r>
            <a:r>
              <a:rPr lang="en-US" altLang="zh-CN" sz="900" spc="-5" dirty="0">
                <a:solidFill>
                  <a:srgbClr val="000000"/>
                </a:solidFill>
                <a:latin typeface="Times New Roman"/>
                <a:ea typeface="Times New Roman"/>
              </a:rPr>
              <a:t>.CAT)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DML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900" dirty="0">
                <a:solidFill>
                  <a:srgbClr val="000000"/>
                </a:solidFill>
                <a:latin typeface="Times New Roman"/>
                <a:ea typeface="Times New Roman"/>
              </a:rPr>
              <a:t>(SUDI)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TCL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900" dirty="0">
                <a:solidFill>
                  <a:srgbClr val="000000"/>
                </a:solidFill>
                <a:latin typeface="Times New Roman"/>
                <a:ea typeface="Times New Roman"/>
              </a:rPr>
              <a:t>(CRS)	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DCL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914704" y="7970609"/>
            <a:ext cx="6064491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2028250" algn="l"/>
                <a:tab pos="3968551" algn="l"/>
                <a:tab pos="5324297" algn="l"/>
              </a:tabLst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DROP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	COMMIT	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GRANT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914704" y="8205305"/>
            <a:ext cx="6033289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2014719" algn="l"/>
                <a:tab pos="3870018" algn="l"/>
                <a:tab pos="5183613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SP_RENAME	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UPDATE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ROLLBACK	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REVOKE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914704" y="8440001"/>
            <a:ext cx="5385472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2023614" algn="l"/>
                <a:tab pos="3494657" algn="l"/>
              </a:tabLst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CREATE	DELETE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SAVE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914704" y="8676170"/>
            <a:ext cx="2744712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1995246" algn="l"/>
              </a:tabLst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ALTER	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914704" y="8910866"/>
            <a:ext cx="1074343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TRUN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140"/>
          <p:cNvSpPr txBox="1"/>
          <p:nvPr/>
        </p:nvSpPr>
        <p:spPr>
          <a:xfrm>
            <a:off x="914704" y="905578"/>
            <a:ext cx="5900035" cy="8083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045413">
              <a:lnSpc>
                <a:spcPct val="100000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DATA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DEFINITION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LANGUAGE</a:t>
            </a:r>
          </a:p>
          <a:p>
            <a:pPr>
              <a:lnSpc>
                <a:spcPts val="1105"/>
              </a:lnSpc>
            </a:pPr>
            <a:endParaRPr lang="en-US" dirty="0"/>
          </a:p>
          <a:p>
            <a:pPr marL="0" hangingPunct="0">
              <a:lnSpc>
                <a:spcPct val="111666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Data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Definition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Language: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zh-CN" sz="900" dirty="0">
                <a:solidFill>
                  <a:srgbClr val="000000"/>
                </a:solidFill>
                <a:latin typeface="Times New Roman"/>
                <a:ea typeface="Times New Roman"/>
              </a:rPr>
              <a:t>st</a:t>
            </a:r>
            <a:r>
              <a:rPr lang="en-US" altLang="zh-CN" sz="9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spc="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define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objects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etc.</a:t>
            </a:r>
          </a:p>
          <a:p>
            <a:pPr>
              <a:lnSpc>
                <a:spcPts val="1094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6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five</a:t>
            </a:r>
            <a:r>
              <a:rPr lang="en-US" altLang="zh-CN" sz="1400" spc="-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commands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1.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2.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Alter</a:t>
            </a:r>
          </a:p>
          <a:p>
            <a:pPr marL="0" indent="457149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3.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SP_Rename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4.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Truncate</a:t>
            </a:r>
          </a:p>
          <a:p>
            <a:pPr marL="0" indent="457149">
              <a:lnSpc>
                <a:spcPct val="100000"/>
              </a:lnSpc>
              <a:spcBef>
                <a:spcPts val="17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5.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Drop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2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1.</a:t>
            </a:r>
            <a:r>
              <a:rPr lang="en-US" altLang="zh-CN" sz="1400" b="1" spc="2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Create:</a:t>
            </a:r>
          </a:p>
          <a:p>
            <a:pPr marL="457149" indent="-228549" hangingPunct="0">
              <a:lnSpc>
                <a:spcPct val="108333"/>
              </a:lnSpc>
              <a:spcBef>
                <a:spcPts val="10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0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objects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within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Syntax: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&lt;TABLE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</a:p>
          <a:p>
            <a:pPr marL="0" indent="722325">
              <a:lnSpc>
                <a:spcPct val="100000"/>
              </a:lnSpc>
              <a:spcBef>
                <a:spcPts val="11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(COL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(size),</a:t>
            </a:r>
          </a:p>
          <a:p>
            <a:pPr marL="0" indent="856437">
              <a:lnSpc>
                <a:spcPct val="10000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COL2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(size),</a:t>
            </a:r>
          </a:p>
          <a:p>
            <a:pPr marL="1389837" hangingPunct="0">
              <a:lnSpc>
                <a:spcPct val="110416"/>
              </a:lnSpc>
            </a:pP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</a:p>
          <a:p>
            <a:pPr marL="0" indent="856437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(size));</a:t>
            </a:r>
          </a:p>
          <a:p>
            <a:pPr marL="457149" hangingPunct="0">
              <a:lnSpc>
                <a:spcPct val="111249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(15),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DECIMAL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(6,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2));</a:t>
            </a:r>
          </a:p>
          <a:p>
            <a:pPr>
              <a:lnSpc>
                <a:spcPts val="108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Rules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for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Creating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</a:t>
            </a:r>
            <a:r>
              <a:rPr lang="en-US" altLang="zh-CN" sz="18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Table:</a:t>
            </a:r>
          </a:p>
          <a:p>
            <a:pPr>
              <a:lnSpc>
                <a:spcPts val="1244"/>
              </a:lnSpc>
            </a:pPr>
            <a:endParaRPr lang="en-US" dirty="0"/>
          </a:p>
          <a:p>
            <a:pPr marL="0" indent="228600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unique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under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database.</a:t>
            </a:r>
          </a:p>
          <a:p>
            <a:pPr marL="0" indent="228600">
              <a:lnSpc>
                <a:spcPts val="172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unique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 marL="0" indent="228600">
              <a:lnSpc>
                <a:spcPts val="1720"/>
              </a:lnSpc>
              <a:spcBef>
                <a:spcPts val="23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numeric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characters</a:t>
            </a:r>
            <a:r>
              <a:rPr lang="en-US" altLang="zh-CN" sz="1400" spc="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except</a:t>
            </a:r>
          </a:p>
          <a:p>
            <a:pPr marL="0" indent="457149">
              <a:lnSpc>
                <a:spcPct val="100000"/>
              </a:lnSpc>
              <a:spcBef>
                <a:spcPts val="234"/>
              </a:spcBef>
            </a:pP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ea typeface="Times New Roman"/>
              </a:rPr>
              <a:t>underscor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ea typeface="Times New Roman"/>
              </a:rPr>
              <a:t>e‟_‟.</a:t>
            </a:r>
          </a:p>
          <a:p>
            <a:pPr marL="0" indent="228600">
              <a:lnSpc>
                <a:spcPts val="172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space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space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spc="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</a:t>
            </a:r>
          </a:p>
          <a:p>
            <a:pPr marL="0" indent="457149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underscore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symbol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only.</a:t>
            </a:r>
          </a:p>
          <a:p>
            <a:pPr marL="0" indent="228600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5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Every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object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should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minimum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maximum</a:t>
            </a:r>
          </a:p>
          <a:p>
            <a:pPr marL="0" indent="457149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128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characters.</a:t>
            </a:r>
          </a:p>
          <a:p>
            <a:pPr marL="0" indent="228600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maximum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1024</a:t>
            </a:r>
            <a:r>
              <a:rPr lang="en-US" altLang="zh-CN" sz="1400" spc="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Box 141"/>
          <p:cNvSpPr txBox="1"/>
          <p:nvPr/>
        </p:nvSpPr>
        <p:spPr>
          <a:xfrm>
            <a:off x="914704" y="907483"/>
            <a:ext cx="5921771" cy="73661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2.</a:t>
            </a: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ALTER: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8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modify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structure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four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different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operations</a:t>
            </a:r>
          </a:p>
          <a:p>
            <a:pPr marL="0" indent="685749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5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increase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(or)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decrease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size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</a:p>
          <a:p>
            <a:pPr marL="0" indent="914349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&amp;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old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new</a:t>
            </a:r>
          </a:p>
          <a:p>
            <a:pPr marL="0" indent="9143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</a:p>
          <a:p>
            <a:pPr marL="0" indent="685749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add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existing</a:t>
            </a:r>
            <a:r>
              <a:rPr lang="en-US" altLang="zh-CN" sz="1400" spc="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</a:p>
          <a:p>
            <a:pPr marL="0" indent="685749">
              <a:lnSpc>
                <a:spcPts val="1720"/>
              </a:lnSpc>
              <a:spcBef>
                <a:spcPts val="23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old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new</a:t>
            </a:r>
          </a:p>
          <a:p>
            <a:pPr marL="0" indent="914349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</a:p>
          <a:p>
            <a:pPr marL="0" indent="685749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5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remove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existing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</a:p>
          <a:p>
            <a:pPr marL="0" indent="228600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2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sub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commands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ALTER-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ALTER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ALTER-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ADD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3.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SP_RENAME</a:t>
            </a:r>
          </a:p>
          <a:p>
            <a:pPr marL="0" indent="457149">
              <a:lnSpc>
                <a:spcPct val="10000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4.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ALTER-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DROP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a.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ALTER-ALTER</a:t>
            </a:r>
            <a:r>
              <a:rPr lang="en-US" altLang="zh-CN" sz="14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COLUMN:</a:t>
            </a:r>
          </a:p>
          <a:p>
            <a:pPr>
              <a:lnSpc>
                <a:spcPts val="115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8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Syntax:</a:t>
            </a:r>
            <a:r>
              <a:rPr lang="en-US" altLang="zh-CN" sz="1400" b="1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ALTER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&lt;TABLE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ALTER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</a:p>
          <a:p>
            <a:pPr marL="0" indent="457149">
              <a:lnSpc>
                <a:spcPct val="10000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&lt;COLUMN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(SIZE)</a:t>
            </a:r>
          </a:p>
          <a:p>
            <a:pPr indent="228600">
              <a:spcBef>
                <a:spcPts val="15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3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ALTER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ALTER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Times New Roman"/>
                <a:ea typeface="Times New Roman"/>
              </a:rPr>
              <a:t>ENAMEchar</a:t>
            </a:r>
            <a:r>
              <a:rPr lang="en-US" altLang="zh-CN" sz="1400" spc="-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(25);</a:t>
            </a:r>
          </a:p>
          <a:p>
            <a:pPr>
              <a:lnSpc>
                <a:spcPts val="118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b.</a:t>
            </a:r>
            <a:r>
              <a:rPr lang="en-US" altLang="zh-CN" sz="14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ALTER</a:t>
            </a:r>
            <a:r>
              <a:rPr lang="en-US" altLang="zh-CN" sz="1400" b="1" spc="-10" dirty="0">
                <a:solidFill>
                  <a:srgbClr val="000000"/>
                </a:solidFill>
                <a:latin typeface="Times New Roman"/>
                <a:ea typeface="Times New Roman"/>
              </a:rPr>
              <a:t>-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ADD:</a:t>
            </a:r>
          </a:p>
          <a:p>
            <a:pPr>
              <a:lnSpc>
                <a:spcPts val="115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7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Syntax:</a:t>
            </a:r>
            <a:r>
              <a:rPr lang="en-US" altLang="zh-CN" sz="1400" b="1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ALTER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&lt;TABLE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ADD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&lt;COLUMNNAME</a:t>
            </a:r>
          </a:p>
          <a:p>
            <a:pPr marL="0" indent="457149">
              <a:lnSpc>
                <a:spcPct val="10000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&gt;DATA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TYPE(size);</a:t>
            </a:r>
          </a:p>
          <a:p>
            <a:pPr indent="228600">
              <a:spcBef>
                <a:spcPts val="13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8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ALTER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ADD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Times New Roman"/>
                <a:ea typeface="Times New Roman"/>
              </a:rPr>
              <a:t>DEPTNOint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;</a:t>
            </a:r>
          </a:p>
          <a:p>
            <a:pPr>
              <a:lnSpc>
                <a:spcPts val="120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c.</a:t>
            </a:r>
            <a:r>
              <a:rPr lang="en-US" altLang="zh-CN" sz="14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ALTER</a:t>
            </a: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-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DROP:</a:t>
            </a:r>
          </a:p>
          <a:p>
            <a:pPr>
              <a:lnSpc>
                <a:spcPts val="115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5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Syntax:</a:t>
            </a:r>
            <a:r>
              <a:rPr lang="en-US" altLang="zh-CN" sz="1400" b="1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ALTER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&lt;TABLE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DROP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&lt;COLUMN</a:t>
            </a:r>
          </a:p>
          <a:p>
            <a:pPr marL="0" indent="457149">
              <a:lnSpc>
                <a:spcPct val="100000"/>
              </a:lnSpc>
              <a:spcBef>
                <a:spcPts val="189"/>
              </a:spcBef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NAM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E&gt;;</a:t>
            </a:r>
          </a:p>
          <a:p>
            <a:pPr marL="0" indent="228600">
              <a:lnSpc>
                <a:spcPct val="100000"/>
              </a:lnSpc>
              <a:spcBef>
                <a:spcPts val="13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9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ALTER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DROP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Box 142"/>
          <p:cNvSpPr txBox="1"/>
          <p:nvPr/>
        </p:nvSpPr>
        <p:spPr>
          <a:xfrm>
            <a:off x="914704" y="907483"/>
            <a:ext cx="5896667" cy="68150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d.</a:t>
            </a:r>
            <a:r>
              <a:rPr lang="en-US" altLang="zh-CN" sz="14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SP_RENAME:</a:t>
            </a:r>
          </a:p>
          <a:p>
            <a:pPr>
              <a:lnSpc>
                <a:spcPts val="115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spc="-3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spc="-20" dirty="0">
                <a:solidFill>
                  <a:srgbClr val="000000"/>
                </a:solidFill>
                <a:latin typeface="Times New Roman"/>
                <a:ea typeface="Times New Roman"/>
              </a:rPr>
              <a:t>Syntax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ea typeface="Times New Roman"/>
              </a:rPr>
              <a:t>SP_RENAME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ea typeface="Times New Roman"/>
              </a:rPr>
              <a:t>„TABLENAME.OLDCOLUMN‟,‟NEW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</a:p>
          <a:p>
            <a:pPr marL="0" indent="457149">
              <a:lnSpc>
                <a:spcPct val="100000"/>
              </a:lnSpc>
              <a:spcBef>
                <a:spcPts val="204"/>
              </a:spcBef>
            </a:pP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ea typeface="Times New Roman"/>
              </a:rPr>
              <a:t>NAME‟,‟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ea typeface="Times New Roman"/>
              </a:rPr>
              <a:t>COLUMN,;</a:t>
            </a:r>
          </a:p>
          <a:p>
            <a:pPr marL="0" indent="228600">
              <a:lnSpc>
                <a:spcPct val="100000"/>
              </a:lnSpc>
              <a:spcBef>
                <a:spcPts val="125"/>
              </a:spcBef>
            </a:pPr>
            <a:r>
              <a:rPr lang="en-US" altLang="zh-CN" sz="1400" spc="-5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5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spc="-40" dirty="0">
                <a:solidFill>
                  <a:srgbClr val="000000"/>
                </a:solidFill>
                <a:latin typeface="Times New Roman"/>
                <a:ea typeface="Times New Roman"/>
              </a:rPr>
              <a:t>Ex</a:t>
            </a:r>
            <a:r>
              <a:rPr lang="en-US" altLang="zh-CN" sz="1400" b="1" spc="-20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ea typeface="Times New Roman"/>
              </a:rPr>
              <a:t>SP_RENAME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ea typeface="Times New Roman"/>
              </a:rPr>
              <a:t>„EMP.SAL‟,‟SALARY‟,‟COLUMN‟</a:t>
            </a:r>
          </a:p>
          <a:p>
            <a:pPr>
              <a:lnSpc>
                <a:spcPts val="119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3.</a:t>
            </a:r>
            <a:r>
              <a:rPr lang="en-US" altLang="zh-CN" sz="14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SP_RENAME: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6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old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new</a:t>
            </a:r>
          </a:p>
          <a:p>
            <a:pPr marL="0" indent="457149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</a:p>
          <a:p>
            <a:pPr marL="0" indent="228600">
              <a:lnSpc>
                <a:spcPct val="100000"/>
              </a:lnSpc>
              <a:spcBef>
                <a:spcPts val="139"/>
              </a:spcBef>
            </a:pPr>
            <a:r>
              <a:rPr lang="en-US" altLang="zh-CN" sz="1400" spc="-4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5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spc="-30" dirty="0">
                <a:solidFill>
                  <a:srgbClr val="000000"/>
                </a:solidFill>
                <a:latin typeface="Times New Roman"/>
                <a:ea typeface="Times New Roman"/>
              </a:rPr>
              <a:t>S</a:t>
            </a:r>
            <a:r>
              <a:rPr lang="en-US" altLang="zh-CN" sz="1400" b="1" spc="-25" dirty="0">
                <a:solidFill>
                  <a:srgbClr val="000000"/>
                </a:solidFill>
                <a:latin typeface="Times New Roman"/>
                <a:ea typeface="Times New Roman"/>
              </a:rPr>
              <a:t>yntax</a:t>
            </a:r>
            <a:r>
              <a:rPr lang="en-US" altLang="zh-CN" sz="1400" b="1" spc="-20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14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ea typeface="Times New Roman"/>
              </a:rPr>
              <a:t>SP_Rename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ea typeface="Times New Roman"/>
              </a:rPr>
              <a:t>„old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ea typeface="Times New Roman"/>
              </a:rPr>
              <a:t>name‟,‟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ea typeface="Times New Roman"/>
              </a:rPr>
              <a:t>New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ea typeface="Times New Roman"/>
              </a:rPr>
              <a:t>name‟</a:t>
            </a:r>
          </a:p>
          <a:p>
            <a:pPr marL="0" indent="228600">
              <a:lnSpc>
                <a:spcPct val="100000"/>
              </a:lnSpc>
              <a:spcBef>
                <a:spcPts val="170"/>
              </a:spcBef>
            </a:pPr>
            <a:r>
              <a:rPr lang="en-US" altLang="zh-CN" sz="1400" spc="-69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8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spc="-50" dirty="0">
                <a:solidFill>
                  <a:srgbClr val="000000"/>
                </a:solidFill>
                <a:latin typeface="Times New Roman"/>
                <a:ea typeface="Times New Roman"/>
              </a:rPr>
              <a:t>Ex</a:t>
            </a:r>
            <a:r>
              <a:rPr lang="en-US" altLang="zh-CN" sz="1400" b="1" spc="-30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140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ea typeface="Times New Roman"/>
              </a:rPr>
              <a:t>SP_Rename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ea typeface="Times New Roman"/>
              </a:rPr>
              <a:t>„EMP‟,‟EMP1‟</a:t>
            </a:r>
          </a:p>
          <a:p>
            <a:pPr>
              <a:lnSpc>
                <a:spcPts val="120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4.</a:t>
            </a: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TRUNCATE</a:t>
            </a:r>
            <a:r>
              <a:rPr lang="en-US" altLang="zh-CN" sz="1400" b="1" spc="-10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existing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</a:p>
          <a:p>
            <a:pPr marL="0" indent="457149">
              <a:lnSpc>
                <a:spcPct val="100000"/>
              </a:lnSpc>
              <a:spcBef>
                <a:spcPts val="179"/>
              </a:spcBef>
            </a:pP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ermanently</a:t>
            </a:r>
          </a:p>
          <a:p>
            <a:pPr marL="0" indent="228600">
              <a:lnSpc>
                <a:spcPct val="100000"/>
              </a:lnSpc>
              <a:spcBef>
                <a:spcPts val="13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5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Syntax:</a:t>
            </a:r>
            <a:r>
              <a:rPr lang="en-US" altLang="zh-CN" sz="1400" b="1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TRUNCATE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&lt;TABLE</a:t>
            </a:r>
            <a:r>
              <a:rPr lang="en-US" altLang="zh-CN" sz="1400" spc="-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40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spc="-1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TRUNCATE</a:t>
            </a:r>
            <a:r>
              <a:rPr lang="en-US" altLang="zh-CN" sz="1400" spc="-1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1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EMP;</a:t>
            </a:r>
          </a:p>
          <a:p>
            <a:pPr>
              <a:lnSpc>
                <a:spcPts val="120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5.</a:t>
            </a:r>
            <a:r>
              <a:rPr lang="en-US" altLang="zh-CN" sz="14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DROP</a:t>
            </a: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8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remove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permanently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</a:p>
          <a:p>
            <a:pPr marL="0" indent="228600">
              <a:lnSpc>
                <a:spcPct val="100000"/>
              </a:lnSpc>
              <a:spcBef>
                <a:spcPts val="13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5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Syntax:</a:t>
            </a:r>
            <a:r>
              <a:rPr lang="en-US" altLang="zh-CN" sz="1400" b="1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DROP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&lt;TABLE</a:t>
            </a:r>
            <a:r>
              <a:rPr lang="en-US" altLang="zh-CN" sz="1400" spc="-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40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spc="-1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DROP</a:t>
            </a:r>
            <a:r>
              <a:rPr lang="en-US" altLang="zh-CN" sz="1400" spc="-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10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EMP;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Note: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SP_help: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structure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40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Syntax:</a:t>
            </a:r>
            <a:r>
              <a:rPr lang="en-US" altLang="zh-CN" sz="1400" b="1" spc="-1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SP_help</a:t>
            </a:r>
            <a:r>
              <a:rPr lang="en-US" altLang="zh-CN" sz="1400" spc="-1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&lt;table</a:t>
            </a:r>
            <a:r>
              <a:rPr lang="en-US" altLang="zh-CN" sz="1400" spc="-1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</a:p>
          <a:p>
            <a:pPr marL="0" indent="228600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spc="-6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7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spc="-40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ea typeface="Times New Roman"/>
              </a:rPr>
              <a:t>SP_help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</a:p>
          <a:p>
            <a:pPr>
              <a:lnSpc>
                <a:spcPts val="118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Note: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Syntax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tables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current</a:t>
            </a:r>
            <a:r>
              <a:rPr lang="en-US" altLang="zh-CN" sz="14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database.</a:t>
            </a:r>
          </a:p>
          <a:p>
            <a:pPr>
              <a:lnSpc>
                <a:spcPts val="118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600" b="1" spc="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600" b="1" spc="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b="1" spc="1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sysobjects</a:t>
            </a:r>
            <a:r>
              <a:rPr lang="en-US" altLang="zh-CN" sz="1600" b="1" spc="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600" b="1" spc="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XTYPE='u'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Box 143"/>
          <p:cNvSpPr txBox="1"/>
          <p:nvPr/>
        </p:nvSpPr>
        <p:spPr>
          <a:xfrm>
            <a:off x="914704" y="905578"/>
            <a:ext cx="5758936" cy="67891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019505">
              <a:lnSpc>
                <a:spcPct val="100000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DATA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MANIPULATING</a:t>
            </a:r>
            <a:r>
              <a:rPr lang="en-US" altLang="zh-CN" sz="20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LANGUAGE</a:t>
            </a:r>
          </a:p>
          <a:p>
            <a:pPr>
              <a:lnSpc>
                <a:spcPts val="1105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Data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Manipulating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Language: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zh-CN" sz="900" dirty="0">
                <a:solidFill>
                  <a:srgbClr val="000000"/>
                </a:solidFill>
                <a:latin typeface="Times New Roman"/>
                <a:ea typeface="Times New Roman"/>
              </a:rPr>
              <a:t>nd</a:t>
            </a:r>
            <a:r>
              <a:rPr lang="en-US" altLang="zh-CN" sz="9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manipulate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com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mands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1.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2.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</a:p>
          <a:p>
            <a:pPr marL="0" indent="228600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3.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4.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</a:p>
          <a:p>
            <a:pPr>
              <a:lnSpc>
                <a:spcPts val="116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1.</a:t>
            </a: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b="1" spc="5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9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existing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0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methods</a:t>
            </a:r>
          </a:p>
          <a:p>
            <a:pPr marL="457149" hangingPunct="0">
              <a:lnSpc>
                <a:spcPct val="110000"/>
              </a:lnSpc>
            </a:pPr>
            <a:r>
              <a:rPr lang="en-US" altLang="zh-CN" sz="1400" spc="15" dirty="0">
                <a:solidFill>
                  <a:srgbClr val="000000"/>
                </a:solidFill>
                <a:latin typeface="Times New Roman"/>
                <a:ea typeface="Times New Roman"/>
              </a:rPr>
              <a:t>Explicit</a:t>
            </a:r>
            <a:r>
              <a:rPr lang="en-US" altLang="zh-CN" sz="1400" spc="-1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ea typeface="Times New Roman"/>
              </a:rPr>
              <a:t>method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Implicit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method</a:t>
            </a:r>
          </a:p>
          <a:p>
            <a:pPr>
              <a:lnSpc>
                <a:spcPts val="108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Explicit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method: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2667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6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method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has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enter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without</a:t>
            </a:r>
          </a:p>
          <a:p>
            <a:pPr marL="0" indent="495249">
              <a:lnSpc>
                <a:spcPct val="100000"/>
              </a:lnSpc>
              <a:spcBef>
                <a:spcPts val="17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anything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omitting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(or)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left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</a:p>
          <a:p>
            <a:pPr marL="0" indent="228600">
              <a:lnSpc>
                <a:spcPct val="100000"/>
              </a:lnSpc>
              <a:spcBef>
                <a:spcPts val="15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5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Syntax:</a:t>
            </a:r>
            <a:r>
              <a:rPr lang="en-US" altLang="zh-CN" sz="1400" b="1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&lt;TABLE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&lt;VAL1,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VAL2,</a:t>
            </a:r>
          </a:p>
          <a:p>
            <a:pPr marL="0" indent="457149">
              <a:lnSpc>
                <a:spcPct val="100000"/>
              </a:lnSpc>
              <a:spcBef>
                <a:spcPts val="204"/>
              </a:spcBef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….VA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LN&gt;;</a:t>
            </a:r>
          </a:p>
          <a:p>
            <a:pPr marL="0" indent="2286330">
              <a:lnSpc>
                <a:spcPct val="100000"/>
              </a:lnSpc>
              <a:spcBef>
                <a:spcPts val="150"/>
              </a:spcBef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(OR</a:t>
            </a:r>
            <a:r>
              <a:rPr lang="en-US" altLang="zh-CN" sz="1400" b="1" spc="-10" dirty="0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</a:p>
          <a:p>
            <a:pPr marL="457149" hangingPunct="0">
              <a:lnSpc>
                <a:spcPct val="111249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&lt;VAL1,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VAL2,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.VALN&gt;;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“INTO”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Keyword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optional)</a:t>
            </a:r>
          </a:p>
          <a:p>
            <a:pPr>
              <a:lnSpc>
                <a:spcPts val="190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spc="-35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4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spc="-25" dirty="0">
                <a:solidFill>
                  <a:srgbClr val="000000"/>
                </a:solidFill>
                <a:latin typeface="Times New Roman"/>
                <a:ea typeface="Times New Roman"/>
              </a:rPr>
              <a:t>Ex1</a:t>
            </a:r>
            <a:r>
              <a:rPr lang="en-US" altLang="zh-CN" sz="1400" b="1" spc="-10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14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ea typeface="Times New Roman"/>
              </a:rPr>
              <a:t>(101,‟RAJ‟,9500);</a:t>
            </a:r>
          </a:p>
          <a:p>
            <a:pPr marL="0" indent="228600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spc="-34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5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spc="-25" dirty="0">
                <a:solidFill>
                  <a:srgbClr val="000000"/>
                </a:solidFill>
                <a:latin typeface="Times New Roman"/>
                <a:ea typeface="Times New Roman"/>
              </a:rPr>
              <a:t>Ex2</a:t>
            </a:r>
            <a:r>
              <a:rPr lang="en-US" altLang="zh-CN" sz="1400" b="1" spc="-20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14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ea typeface="Times New Roman"/>
              </a:rPr>
              <a:t>(101,‟RAJ‟,9500);</a:t>
            </a:r>
          </a:p>
          <a:p>
            <a:pPr marL="0" indent="1434033">
              <a:lnSpc>
                <a:spcPct val="10000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Row(s)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affected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144"/>
          <p:cNvSpPr txBox="1"/>
          <p:nvPr/>
        </p:nvSpPr>
        <p:spPr>
          <a:xfrm>
            <a:off x="914704" y="907483"/>
            <a:ext cx="5988699" cy="69808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Implicit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method: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method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enter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required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omit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(or)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left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enters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omit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automatically</a:t>
            </a:r>
            <a:r>
              <a:rPr lang="en-US" altLang="zh-CN" sz="1400" spc="-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takes</a:t>
            </a:r>
          </a:p>
          <a:p>
            <a:pPr marL="0" indent="457149">
              <a:lnSpc>
                <a:spcPct val="100000"/>
              </a:lnSpc>
              <a:spcBef>
                <a:spcPts val="179"/>
              </a:spcBef>
            </a:pP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NU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LL</a:t>
            </a:r>
          </a:p>
          <a:p>
            <a:pPr marL="0" indent="228600">
              <a:lnSpc>
                <a:spcPct val="100000"/>
              </a:lnSpc>
              <a:spcBef>
                <a:spcPts val="13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9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Syntax:</a:t>
            </a:r>
            <a:r>
              <a:rPr lang="en-US" altLang="zh-CN" sz="1400" b="1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&lt;TABLE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(COL1,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COL2….COLN)</a:t>
            </a:r>
          </a:p>
          <a:p>
            <a:pPr marL="0" indent="457149">
              <a:lnSpc>
                <a:spcPct val="100000"/>
              </a:lnSpc>
              <a:spcBef>
                <a:spcPts val="20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(VAL1,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VAL2…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VALN);</a:t>
            </a:r>
          </a:p>
          <a:p>
            <a:pPr marL="0" indent="228600">
              <a:lnSpc>
                <a:spcPct val="100000"/>
              </a:lnSpc>
              <a:spcBef>
                <a:spcPts val="13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5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(EID,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SAL)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(106,9999);</a:t>
            </a:r>
          </a:p>
          <a:p>
            <a:pPr>
              <a:lnSpc>
                <a:spcPts val="118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2.</a:t>
            </a: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b="1" spc="-10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9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modify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existing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6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modify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&amp;</a:t>
            </a:r>
            <a:r>
              <a:rPr lang="en-US" altLang="zh-CN" sz="1400" spc="-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also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specific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(Using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„where‟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clause)</a:t>
            </a:r>
          </a:p>
          <a:p>
            <a:pPr marL="0" indent="228600">
              <a:lnSpc>
                <a:spcPct val="100000"/>
              </a:lnSpc>
              <a:spcBef>
                <a:spcPts val="15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2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Syntax:</a:t>
            </a:r>
            <a:r>
              <a:rPr lang="en-US" altLang="zh-CN" sz="1400" b="1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&lt;TABLE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COL=VALUE;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5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SAL=10000;</a:t>
            </a:r>
          </a:p>
          <a:p>
            <a:pPr>
              <a:lnSpc>
                <a:spcPts val="120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Syntax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change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more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simultaneously</a:t>
            </a:r>
          </a:p>
          <a:p>
            <a:pPr>
              <a:lnSpc>
                <a:spcPts val="1139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2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Syntax:</a:t>
            </a:r>
            <a:r>
              <a:rPr lang="en-US" altLang="zh-CN" sz="1400" b="1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&lt;TABLE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COL1=VALUE,</a:t>
            </a:r>
          </a:p>
          <a:p>
            <a:pPr marL="0" indent="457149">
              <a:lnSpc>
                <a:spcPct val="100000"/>
              </a:lnSpc>
              <a:spcBef>
                <a:spcPts val="204"/>
              </a:spcBef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COL2=V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ALUE………COLN=VALUE;</a:t>
            </a:r>
          </a:p>
          <a:p>
            <a:pPr marL="0" indent="228600">
              <a:lnSpc>
                <a:spcPct val="100000"/>
              </a:lnSpc>
              <a:spcBef>
                <a:spcPts val="13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5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EID=007,SAL=10000;</a:t>
            </a:r>
          </a:p>
          <a:p>
            <a:pPr>
              <a:lnSpc>
                <a:spcPts val="118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3.</a:t>
            </a: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DELETE: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0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existing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also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specific</a:t>
            </a:r>
          </a:p>
          <a:p>
            <a:pPr marL="0" indent="457149">
              <a:lnSpc>
                <a:spcPct val="10000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(by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„where‟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clause)</a:t>
            </a:r>
          </a:p>
          <a:p>
            <a:pPr marL="0" indent="228600">
              <a:lnSpc>
                <a:spcPct val="100000"/>
              </a:lnSpc>
              <a:spcBef>
                <a:spcPts val="13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5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Syntax:</a:t>
            </a:r>
            <a:r>
              <a:rPr lang="en-US" altLang="zh-CN" sz="1400" b="1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&lt;TABLE</a:t>
            </a:r>
            <a:r>
              <a:rPr lang="en-US" altLang="zh-CN" sz="1400" spc="-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</a:p>
          <a:p>
            <a:pPr marL="0" indent="228600">
              <a:lnSpc>
                <a:spcPct val="100000"/>
              </a:lnSpc>
              <a:spcBef>
                <a:spcPts val="17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EMP;</a:t>
            </a:r>
          </a:p>
          <a:p>
            <a:pPr marL="0" indent="1167333">
              <a:lnSpc>
                <a:spcPct val="10000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row(s)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affected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Box 145"/>
          <p:cNvSpPr txBox="1"/>
          <p:nvPr/>
        </p:nvSpPr>
        <p:spPr>
          <a:xfrm>
            <a:off x="914704" y="907727"/>
            <a:ext cx="5799649" cy="80168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457149">
              <a:lnSpc>
                <a:spcPct val="100000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Difference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between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TRUNCATE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and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DELETE</a:t>
            </a:r>
            <a:r>
              <a:rPr lang="en-US" altLang="zh-CN" sz="1600" b="1" u="sng" spc="-34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Command: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1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4.</a:t>
            </a: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SELECT: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0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retrieve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existing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 marL="0" indent="228600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8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retrieve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&amp;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also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specific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</a:p>
          <a:p>
            <a:pPr marL="0" indent="457149">
              <a:lnSpc>
                <a:spcPct val="10000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existing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(by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„where‟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clause)</a:t>
            </a:r>
          </a:p>
          <a:p>
            <a:pPr marL="0" indent="228600">
              <a:lnSpc>
                <a:spcPct val="100000"/>
              </a:lnSpc>
              <a:spcBef>
                <a:spcPts val="15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retrieve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ways</a:t>
            </a:r>
          </a:p>
          <a:p>
            <a:pPr marL="0" indent="6857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1.</a:t>
            </a:r>
            <a:r>
              <a:rPr lang="en-US" altLang="zh-CN" sz="1400" b="1" spc="2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Projection</a:t>
            </a:r>
          </a:p>
          <a:p>
            <a:pPr marL="0" indent="685749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2.</a:t>
            </a:r>
            <a:r>
              <a:rPr lang="en-US" altLang="zh-CN" sz="1400" b="1" spc="2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Selection</a:t>
            </a:r>
          </a:p>
          <a:p>
            <a:pPr marL="0" indent="6857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3.</a:t>
            </a:r>
            <a:r>
              <a:rPr lang="en-US" altLang="zh-CN" sz="1400" b="1" spc="1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Joins</a:t>
            </a:r>
          </a:p>
          <a:p>
            <a:pPr marL="0" indent="228600">
              <a:lnSpc>
                <a:spcPct val="100000"/>
              </a:lnSpc>
              <a:spcBef>
                <a:spcPts val="13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2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Syntax:</a:t>
            </a:r>
            <a:r>
              <a:rPr lang="en-US" altLang="zh-CN" sz="1400" b="1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&lt;TABLE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5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EMP;</a:t>
            </a:r>
          </a:p>
          <a:p>
            <a:pPr marL="0" indent="228600">
              <a:lnSpc>
                <a:spcPct val="100000"/>
              </a:lnSpc>
              <a:spcBef>
                <a:spcPts val="200"/>
              </a:spcBef>
            </a:pPr>
            <a:r>
              <a:rPr lang="en-US" altLang="zh-CN" sz="1400" spc="-5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6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spc="-35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ea typeface="Times New Roman"/>
              </a:rPr>
              <a:t>represents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ea typeface="Times New Roman"/>
              </a:rPr>
              <a:t>columns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00225" y="1422146"/>
          <a:ext cx="5757162" cy="44583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6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49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956">
                <a:tc>
                  <a:txBody>
                    <a:bodyPr/>
                    <a:lstStyle/>
                    <a:p>
                      <a:pPr marL="0" indent="65531">
                        <a:lnSpc>
                          <a:spcPct val="100000"/>
                        </a:lnSpc>
                      </a:pPr>
                      <a:r>
                        <a:rPr lang="en-US" altLang="zh-CN" sz="1400" b="1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SR</a:t>
                      </a: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NO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83132">
                        <a:lnSpc>
                          <a:spcPct val="100000"/>
                        </a:lnSpc>
                      </a:pP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</a:t>
                      </a: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RU</a:t>
                      </a: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NCATE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816864">
                        <a:lnSpc>
                          <a:spcPct val="100000"/>
                        </a:lnSpc>
                      </a:pP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DELE</a:t>
                      </a: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TE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668">
                <a:tc>
                  <a:txBody>
                    <a:bodyPr/>
                    <a:lstStyle/>
                    <a:p>
                      <a:pPr marL="0" indent="65531">
                        <a:lnSpc>
                          <a:spcPct val="100000"/>
                        </a:lnSpc>
                      </a:pPr>
                      <a:r>
                        <a:rPr lang="en-US" altLang="zh-CN" sz="1400" spc="-2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It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is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DDL</a:t>
                      </a:r>
                      <a:r>
                        <a:rPr lang="en-US" altLang="zh-CN" sz="1400" spc="-69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command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It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is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DML</a:t>
                      </a:r>
                      <a:r>
                        <a:rPr lang="en-US" altLang="zh-CN" sz="1400" spc="-64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command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667">
                <a:tc>
                  <a:txBody>
                    <a:bodyPr/>
                    <a:lstStyle/>
                    <a:p>
                      <a:pPr marL="0" indent="65531">
                        <a:lnSpc>
                          <a:spcPct val="100000"/>
                        </a:lnSpc>
                      </a:pPr>
                      <a:r>
                        <a:rPr lang="en-US" altLang="zh-CN" sz="1400" spc="-2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02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It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is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permanent</a:t>
                      </a:r>
                      <a:r>
                        <a:rPr lang="en-US" altLang="zh-CN" sz="1400" spc="-69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deletion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It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is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temporary</a:t>
                      </a:r>
                      <a:r>
                        <a:rPr lang="en-US" altLang="zh-CN" sz="1400" spc="-6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deletion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4197">
                <a:tc>
                  <a:txBody>
                    <a:bodyPr/>
                    <a:lstStyle/>
                    <a:p>
                      <a:pPr marL="0" indent="65531">
                        <a:lnSpc>
                          <a:spcPct val="100000"/>
                        </a:lnSpc>
                      </a:pPr>
                      <a:r>
                        <a:rPr lang="en-US" altLang="zh-CN" sz="1400" spc="-2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03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483" hangingPunct="0">
                        <a:lnSpc>
                          <a:spcPct val="95416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Specific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record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deletion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is</a:t>
                      </a:r>
                      <a:r>
                        <a:rPr lang="en-US" altLang="zh-CN" sz="1400" spc="-11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not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pos</a:t>
                      </a:r>
                      <a:r>
                        <a:rPr lang="en-US" altLang="zh-CN" sz="14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sible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We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can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delete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the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specific</a:t>
                      </a:r>
                      <a:r>
                        <a:rPr lang="en-US" altLang="zh-CN" sz="1400" spc="-7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record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5339">
                <a:tc>
                  <a:txBody>
                    <a:bodyPr/>
                    <a:lstStyle/>
                    <a:p>
                      <a:pPr marL="0" indent="65531">
                        <a:lnSpc>
                          <a:spcPct val="100000"/>
                        </a:lnSpc>
                      </a:pPr>
                      <a:r>
                        <a:rPr lang="en-US" altLang="zh-CN" sz="1400" spc="-2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04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483" hangingPunct="0">
                        <a:lnSpc>
                          <a:spcPct val="95416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It</a:t>
                      </a:r>
                      <a:r>
                        <a:rPr lang="en-US" altLang="zh-CN" sz="1400" spc="-89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doesn‟t</a:t>
                      </a:r>
                      <a:r>
                        <a:rPr lang="en-US" altLang="zh-CN" sz="1400" spc="-89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support</a:t>
                      </a:r>
                      <a:r>
                        <a:rPr lang="en-US" altLang="zh-CN" sz="1400" spc="-94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WHERE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clau</a:t>
                      </a:r>
                      <a:r>
                        <a:rPr lang="en-US" altLang="zh-CN" sz="14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se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It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supports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WHERE</a:t>
                      </a:r>
                      <a:r>
                        <a:rPr lang="en-US" altLang="zh-CN" sz="1400" spc="-6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clause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pPr marL="0" indent="65531">
                        <a:lnSpc>
                          <a:spcPct val="100000"/>
                        </a:lnSpc>
                      </a:pPr>
                      <a:r>
                        <a:rPr lang="en-US" altLang="zh-CN" sz="1400" spc="-2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05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We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cannot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Rollback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the</a:t>
                      </a:r>
                      <a:r>
                        <a:rPr lang="en-US" altLang="zh-CN" sz="1400" spc="-64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data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We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can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Rollback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the</a:t>
                      </a:r>
                      <a:r>
                        <a:rPr lang="en-US" altLang="zh-CN" sz="1400" spc="-69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data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1689">
                <a:tc>
                  <a:txBody>
                    <a:bodyPr/>
                    <a:lstStyle/>
                    <a:p>
                      <a:pPr marL="0" indent="65531">
                        <a:lnSpc>
                          <a:spcPct val="100000"/>
                        </a:lnSpc>
                      </a:pPr>
                      <a:r>
                        <a:rPr lang="en-US" altLang="zh-CN" sz="1400" spc="-2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06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483" hangingPunct="0">
                        <a:lnSpc>
                          <a:spcPct val="95416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Truncate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will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reset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the</a:t>
                      </a:r>
                      <a:r>
                        <a:rPr lang="en-US" altLang="zh-CN" sz="1400" spc="-1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identity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Val</a:t>
                      </a:r>
                      <a:r>
                        <a:rPr lang="en-US" altLang="zh-CN" sz="14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ues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484" hangingPunct="0">
                        <a:lnSpc>
                          <a:spcPct val="95416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Delete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will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not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reset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the</a:t>
                      </a:r>
                      <a:r>
                        <a:rPr lang="en-US" altLang="zh-CN" sz="1400" spc="-11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identity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val</a:t>
                      </a:r>
                      <a:r>
                        <a:rPr lang="en-US" altLang="zh-CN" sz="14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ue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 147"/>
          <p:cNvSpPr txBox="1"/>
          <p:nvPr/>
        </p:nvSpPr>
        <p:spPr>
          <a:xfrm>
            <a:off x="914704" y="907483"/>
            <a:ext cx="5831013" cy="70159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rojection: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2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Retrieving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specific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known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Projection</a:t>
            </a:r>
          </a:p>
          <a:p>
            <a:pPr marL="0" indent="228600">
              <a:lnSpc>
                <a:spcPct val="100000"/>
              </a:lnSpc>
              <a:spcBef>
                <a:spcPts val="13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Syntax:</a:t>
            </a:r>
            <a:r>
              <a:rPr lang="en-US" altLang="zh-CN" sz="1400" b="1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COL1,COL2……..COLN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&lt;TABLE</a:t>
            </a:r>
            <a:r>
              <a:rPr lang="en-US" altLang="zh-CN" sz="1400" spc="-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5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EID,ENAME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EMP;</a:t>
            </a:r>
          </a:p>
          <a:p>
            <a:pPr>
              <a:lnSpc>
                <a:spcPts val="119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spc="5" dirty="0">
                <a:solidFill>
                  <a:srgbClr val="000000"/>
                </a:solidFill>
                <a:latin typeface="Times New Roman"/>
                <a:ea typeface="Times New Roman"/>
              </a:rPr>
              <a:t>S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election: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2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Retrieving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based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some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condition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selection</a:t>
            </a:r>
          </a:p>
          <a:p>
            <a:pPr marL="0" indent="228600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6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SQL,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whenever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need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check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condition,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need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special</a:t>
            </a:r>
          </a:p>
          <a:p>
            <a:pPr marL="0" indent="457149">
              <a:lnSpc>
                <a:spcPct val="100000"/>
              </a:lnSpc>
              <a:spcBef>
                <a:spcPts val="179"/>
              </a:spcBef>
            </a:pP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clause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ea typeface="Times New Roman"/>
              </a:rPr>
              <a:t>„where‟</a:t>
            </a:r>
          </a:p>
          <a:p>
            <a:pPr marL="0" indent="228600">
              <a:lnSpc>
                <a:spcPct val="100000"/>
              </a:lnSpc>
              <a:spcBef>
                <a:spcPts val="12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5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Syntax:</a:t>
            </a:r>
            <a:r>
              <a:rPr lang="en-US" altLang="zh-CN" sz="1400" b="1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&lt;TABLENAME&gt;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(CONDITION);</a:t>
            </a:r>
          </a:p>
          <a:p>
            <a:pPr marL="0" indent="228600">
              <a:lnSpc>
                <a:spcPct val="10000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8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EID=101;</a:t>
            </a:r>
          </a:p>
          <a:p>
            <a:pPr>
              <a:lnSpc>
                <a:spcPts val="118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WHERE</a:t>
            </a:r>
            <a:r>
              <a:rPr lang="en-US" altLang="zh-CN" sz="14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CLAUSE: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457149" indent="-228549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clause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check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condition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based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condition,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retrieve,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apply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clause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select,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&amp;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Select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Command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With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Where</a:t>
            </a:r>
            <a:r>
              <a:rPr lang="en-US" altLang="zh-CN" sz="14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clause:</a:t>
            </a:r>
          </a:p>
          <a:p>
            <a:pPr>
              <a:lnSpc>
                <a:spcPts val="115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6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Syntax:</a:t>
            </a:r>
            <a:r>
              <a:rPr lang="en-US" altLang="zh-CN" sz="1400" b="1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&lt;TABLE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&lt;CONDITION&gt;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8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EID=102;</a:t>
            </a:r>
          </a:p>
          <a:p>
            <a:pPr>
              <a:lnSpc>
                <a:spcPts val="118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Update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Command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With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Where</a:t>
            </a:r>
            <a:r>
              <a:rPr lang="en-US" altLang="zh-CN" sz="14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clause:</a:t>
            </a:r>
          </a:p>
          <a:p>
            <a:pPr>
              <a:lnSpc>
                <a:spcPts val="115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8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Syntax:</a:t>
            </a:r>
            <a:r>
              <a:rPr lang="en-US" altLang="zh-CN" sz="1400" b="1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&lt;TABLE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&lt;COLUMN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NAME&gt;=VALUE</a:t>
            </a:r>
          </a:p>
          <a:p>
            <a:pPr marL="0" indent="457149">
              <a:lnSpc>
                <a:spcPct val="10000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(CONDITION);</a:t>
            </a:r>
          </a:p>
          <a:p>
            <a:pPr marL="0" indent="228600">
              <a:lnSpc>
                <a:spcPct val="100000"/>
              </a:lnSpc>
              <a:spcBef>
                <a:spcPts val="15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7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ENAME=”sai”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EID=102;</a:t>
            </a:r>
          </a:p>
          <a:p>
            <a:pPr>
              <a:lnSpc>
                <a:spcPts val="118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Delete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Command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With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Where</a:t>
            </a:r>
            <a:r>
              <a:rPr lang="en-US" altLang="zh-CN" sz="14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clause:</a:t>
            </a:r>
          </a:p>
          <a:p>
            <a:pPr>
              <a:lnSpc>
                <a:spcPts val="115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2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Syntax:</a:t>
            </a:r>
            <a:r>
              <a:rPr lang="en-US" altLang="zh-CN" sz="1400" b="1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&lt;TABLE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NAME&gt;WHERE</a:t>
            </a:r>
            <a:r>
              <a:rPr lang="en-US" altLang="zh-CN" sz="1400" spc="-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&lt;CONDITION&gt;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2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EID=102;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Box 148"/>
          <p:cNvSpPr txBox="1"/>
          <p:nvPr/>
        </p:nvSpPr>
        <p:spPr>
          <a:xfrm>
            <a:off x="914704" y="907483"/>
            <a:ext cx="5963280" cy="76176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LIAS: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8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ALIAS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duplicate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(or)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alternate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original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(or)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(or)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name.</a:t>
            </a:r>
          </a:p>
          <a:p>
            <a:pPr>
              <a:lnSpc>
                <a:spcPts val="1929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spc="-55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6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spc="-4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-30" dirty="0">
                <a:solidFill>
                  <a:srgbClr val="000000"/>
                </a:solidFill>
                <a:latin typeface="Times New Roman"/>
                <a:ea typeface="Times New Roman"/>
              </a:rPr>
              <a:t>level</a:t>
            </a:r>
            <a:r>
              <a:rPr lang="en-US" altLang="zh-CN" sz="140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-25" dirty="0">
                <a:solidFill>
                  <a:srgbClr val="000000"/>
                </a:solidFill>
                <a:latin typeface="Times New Roman"/>
                <a:ea typeface="Times New Roman"/>
              </a:rPr>
              <a:t>Alias:</a:t>
            </a:r>
          </a:p>
          <a:p>
            <a:pPr marL="0" indent="228600">
              <a:lnSpc>
                <a:spcPct val="100000"/>
              </a:lnSpc>
              <a:spcBef>
                <a:spcPts val="15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9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Syntax:</a:t>
            </a:r>
            <a:r>
              <a:rPr lang="en-US" altLang="zh-CN" sz="1400" b="1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“ALIAS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NAME”,</a:t>
            </a:r>
          </a:p>
          <a:p>
            <a:pPr marL="0" indent="1434033">
              <a:lnSpc>
                <a:spcPct val="100000"/>
              </a:lnSpc>
              <a:spcBef>
                <a:spcPts val="20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“ALIAS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NAME”,</a:t>
            </a:r>
          </a:p>
          <a:p>
            <a:pPr marL="0" indent="2900502">
              <a:lnSpc>
                <a:spcPct val="100000"/>
              </a:lnSpc>
              <a:spcBef>
                <a:spcPts val="150"/>
              </a:spcBef>
            </a:pP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</a:p>
          <a:p>
            <a:pPr marL="0" indent="2900502">
              <a:lnSpc>
                <a:spcPct val="100000"/>
              </a:lnSpc>
              <a:spcBef>
                <a:spcPts val="179"/>
              </a:spcBef>
            </a:pP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</a:p>
          <a:p>
            <a:pPr marL="0" indent="1033221">
              <a:lnSpc>
                <a:spcPct val="100000"/>
              </a:lnSpc>
              <a:spcBef>
                <a:spcPts val="17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“ALIAS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NAME”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NAME&gt;;</a:t>
            </a:r>
          </a:p>
          <a:p>
            <a:pPr marL="0" indent="228600">
              <a:lnSpc>
                <a:spcPct val="100000"/>
              </a:lnSpc>
              <a:spcBef>
                <a:spcPts val="13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4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“EMPLOYEE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ID”,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“EMPLOYEE</a:t>
            </a:r>
          </a:p>
          <a:p>
            <a:pPr marL="0" indent="457149">
              <a:lnSpc>
                <a:spcPct val="100000"/>
              </a:lnSpc>
              <a:spcBef>
                <a:spcPts val="20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NAME”,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“SALARY”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EMP;</a:t>
            </a:r>
          </a:p>
          <a:p>
            <a:pPr marL="0" indent="228600">
              <a:lnSpc>
                <a:spcPct val="100000"/>
              </a:lnSpc>
              <a:spcBef>
                <a:spcPts val="13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0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NOTE:</a:t>
            </a:r>
            <a:r>
              <a:rPr lang="en-US" altLang="zh-CN" sz="1400" b="1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above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example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keyword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„as‟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optional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2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“EMPLOYEE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ID”,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“EMPLOYEE</a:t>
            </a:r>
            <a:r>
              <a:rPr lang="en-US" altLang="zh-CN" sz="1400" spc="-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NAME”,</a:t>
            </a:r>
          </a:p>
          <a:p>
            <a:pPr marL="0" indent="457149">
              <a:lnSpc>
                <a:spcPct val="100000"/>
              </a:lnSpc>
              <a:spcBef>
                <a:spcPts val="20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“SALARY”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EMP;</a:t>
            </a:r>
          </a:p>
          <a:p>
            <a:pPr marL="0" indent="228600">
              <a:lnSpc>
                <a:spcPct val="100000"/>
              </a:lnSpc>
              <a:spcBef>
                <a:spcPts val="13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9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NOTE:</a:t>
            </a:r>
            <a:r>
              <a:rPr lang="en-US" altLang="zh-CN" sz="1400" b="1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above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example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quotations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also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optional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but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there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should</a:t>
            </a:r>
          </a:p>
          <a:p>
            <a:pPr marL="0" indent="457149">
              <a:lnSpc>
                <a:spcPct val="10000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space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between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</a:p>
          <a:p>
            <a:pPr marL="0" indent="228600">
              <a:lnSpc>
                <a:spcPct val="100000"/>
              </a:lnSpc>
              <a:spcBef>
                <a:spcPts val="13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3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EMPLOYEEID,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EMPLOYEENAME,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</a:p>
          <a:p>
            <a:pPr marL="0" indent="457149">
              <a:lnSpc>
                <a:spcPct val="10000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EMP;</a:t>
            </a:r>
          </a:p>
          <a:p>
            <a:pPr marL="0" indent="228600">
              <a:lnSpc>
                <a:spcPct val="100000"/>
              </a:lnSpc>
              <a:spcBef>
                <a:spcPts val="15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EMPLOYEEID,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EMPLOYEENAME,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</a:p>
          <a:p>
            <a:pPr marL="0" indent="457149">
              <a:lnSpc>
                <a:spcPct val="10000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SAL*12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ANNUALSALARY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EMP;</a:t>
            </a:r>
          </a:p>
          <a:p>
            <a:pPr marL="457149" indent="-228549" hangingPunct="0">
              <a:lnSpc>
                <a:spcPct val="111249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5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EMPLOYEEID,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EMPLOYEENAME,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ANNUALSALARY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&gt;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115000</a:t>
            </a:r>
          </a:p>
          <a:p>
            <a:pPr marL="457149" indent="-228549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9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above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example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runtime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error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message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invalid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„annual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salary‟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because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cannot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check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conditions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Alias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</a:p>
          <a:p>
            <a:pPr>
              <a:lnSpc>
                <a:spcPts val="950"/>
              </a:lnSpc>
            </a:pPr>
            <a:endParaRPr lang="en-US" dirty="0"/>
          </a:p>
          <a:p>
            <a:pPr marL="0" hangingPunct="0">
              <a:lnSpc>
                <a:spcPct val="111666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IDENTITY:</a:t>
            </a:r>
            <a:r>
              <a:rPr lang="en-US" altLang="zh-CN" sz="1800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generate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unique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sequential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order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without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interaction.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default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identity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Identity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(1,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1).</a:t>
            </a:r>
          </a:p>
          <a:p>
            <a:pPr>
              <a:lnSpc>
                <a:spcPts val="110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Syntax: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Identity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(seed,</a:t>
            </a:r>
            <a:r>
              <a:rPr lang="en-US" altLang="zh-CN" sz="14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increment)</a:t>
            </a:r>
          </a:p>
          <a:p>
            <a:pPr>
              <a:lnSpc>
                <a:spcPts val="1030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IDENTITY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(100,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1),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50));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Box 149"/>
          <p:cNvSpPr txBox="1"/>
          <p:nvPr/>
        </p:nvSpPr>
        <p:spPr>
          <a:xfrm>
            <a:off x="914704" y="887891"/>
            <a:ext cx="5654447" cy="79114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0833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Built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Functions(System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Functions)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SQL: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provide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number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built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mathematical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functions,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aggregative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functions,convertion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etc.these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certain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value.</a:t>
            </a:r>
          </a:p>
          <a:p>
            <a:pPr>
              <a:lnSpc>
                <a:spcPts val="111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Syntax: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&lt;Function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[Expressions]</a:t>
            </a:r>
          </a:p>
          <a:p>
            <a:pPr>
              <a:lnSpc>
                <a:spcPts val="1050"/>
              </a:lnSpc>
            </a:pPr>
            <a:endParaRPr lang="en-US" dirty="0"/>
          </a:p>
          <a:p>
            <a:pPr marL="0" hangingPunct="0">
              <a:lnSpc>
                <a:spcPct val="110416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Mathematical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Functions: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calculation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based</a:t>
            </a:r>
            <a:r>
              <a:rPr lang="en-US" altLang="zh-CN" sz="1400" spc="-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input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provided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arguments,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numeric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value.</a:t>
            </a:r>
          </a:p>
          <a:p>
            <a:pPr>
              <a:lnSpc>
                <a:spcPts val="108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ABS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absolute,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positive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given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numeric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expression.</a:t>
            </a:r>
          </a:p>
          <a:p>
            <a:pPr>
              <a:lnSpc>
                <a:spcPts val="1150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ABS(-15)----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15</a:t>
            </a:r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ABS(45)-----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45</a:t>
            </a:r>
          </a:p>
          <a:p>
            <a:pPr>
              <a:lnSpc>
                <a:spcPts val="994"/>
              </a:lnSpc>
            </a:pPr>
            <a:endParaRPr lang="en-US" dirty="0"/>
          </a:p>
          <a:p>
            <a:pPr marL="0" hangingPunct="0">
              <a:lnSpc>
                <a:spcPct val="11208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CEILING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smallest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greater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equal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given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numeric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expression.</a:t>
            </a:r>
          </a:p>
          <a:p>
            <a:pPr>
              <a:lnSpc>
                <a:spcPts val="1030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ceiling(15.000)----15</a:t>
            </a:r>
          </a:p>
          <a:p>
            <a:pPr marL="457149" hangingPunct="0">
              <a:lnSpc>
                <a:spcPct val="95416"/>
              </a:lnSpc>
            </a:pPr>
            <a:r>
              <a:rPr lang="en-US" altLang="zh-CN" sz="1400" spc="1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1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ea typeface="Times New Roman"/>
              </a:rPr>
              <a:t>ceiling(15.0001)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ea typeface="Times New Roman"/>
              </a:rPr>
              <a:t>----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ea typeface="Times New Roman"/>
              </a:rPr>
              <a:t>16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ceiling(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ea typeface="Times New Roman"/>
              </a:rPr>
              <a:t>-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12.34)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-----(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-12)</a:t>
            </a:r>
          </a:p>
          <a:p>
            <a:pPr>
              <a:lnSpc>
                <a:spcPts val="1080"/>
              </a:lnSpc>
            </a:pPr>
            <a:endParaRPr lang="en-US" dirty="0"/>
          </a:p>
          <a:p>
            <a:pPr marL="0" hangingPunct="0">
              <a:lnSpc>
                <a:spcPct val="11208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FLOOR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largest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equal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given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numeric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xpression.</a:t>
            </a:r>
          </a:p>
          <a:p>
            <a:pPr>
              <a:lnSpc>
                <a:spcPts val="1030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floor(15.000)---15</a:t>
            </a:r>
          </a:p>
          <a:p>
            <a:pPr marL="457149" hangingPunct="0">
              <a:lnSpc>
                <a:spcPct val="95833"/>
              </a:lnSpc>
            </a:pPr>
            <a:r>
              <a:rPr lang="en-US" altLang="zh-CN" sz="1400" spc="1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1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ea typeface="Times New Roman"/>
              </a:rPr>
              <a:t>floor(15.0001)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ea typeface="Times New Roman"/>
              </a:rPr>
              <a:t>----15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floor(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12.34)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----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-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13)</a:t>
            </a:r>
          </a:p>
          <a:p>
            <a:pPr>
              <a:lnSpc>
                <a:spcPts val="118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SQUARE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square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given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expression.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</a:t>
            </a:r>
            <a:r>
              <a:rPr lang="en-US" altLang="zh-CN" sz="1400" b="1" u="sng" spc="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SQUARE(5)---25</a:t>
            </a:r>
          </a:p>
          <a:p>
            <a:pPr>
              <a:lnSpc>
                <a:spcPts val="575"/>
              </a:lnSpc>
            </a:pPr>
            <a:endParaRPr lang="en-US" dirty="0"/>
          </a:p>
          <a:p>
            <a:pPr marL="0" hangingPunct="0">
              <a:lnSpc>
                <a:spcPct val="169583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SQRT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square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given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</a:t>
            </a:r>
            <a:r>
              <a:rPr lang="en-US" altLang="zh-CN" sz="1400" b="1" u="sng" spc="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SQUARE(25)---5</a:t>
            </a:r>
          </a:p>
          <a:p>
            <a:pPr marL="0" hangingPunct="0">
              <a:lnSpc>
                <a:spcPct val="170416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POWER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(n,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power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given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POWER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(2,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----------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Box 150"/>
          <p:cNvSpPr txBox="1"/>
          <p:nvPr/>
        </p:nvSpPr>
        <p:spPr>
          <a:xfrm>
            <a:off x="914704" y="890590"/>
            <a:ext cx="5935016" cy="81239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SIGN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positive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(+1),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zero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(0),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negative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(-1)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sign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given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xpression.</a:t>
            </a:r>
          </a:p>
          <a:p>
            <a:pPr>
              <a:lnSpc>
                <a:spcPts val="1050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SIGN(42)------------1</a:t>
            </a:r>
          </a:p>
          <a:p>
            <a:pPr marL="457149" hangingPunct="0">
              <a:lnSpc>
                <a:spcPct val="95833"/>
              </a:lnSpc>
            </a:pPr>
            <a:r>
              <a:rPr lang="en-US" altLang="zh-CN" sz="1400" spc="1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1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ea typeface="Times New Roman"/>
              </a:rPr>
              <a:t>SIGN(0)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ea typeface="Times New Roman"/>
              </a:rPr>
              <a:t>-------------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SIGN(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-42)-----------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1)</a:t>
            </a:r>
          </a:p>
          <a:p>
            <a:pPr>
              <a:lnSpc>
                <a:spcPts val="118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PI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constant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PI.</a:t>
            </a:r>
          </a:p>
          <a:p>
            <a:pPr>
              <a:lnSpc>
                <a:spcPts val="1125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PI()---------3.14159265358979</a:t>
            </a:r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LOG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natural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logarithm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given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expression.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LOG(2)------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0.693147180559945</a:t>
            </a:r>
          </a:p>
          <a:p>
            <a:pPr marL="0" hangingPunct="0">
              <a:lnSpc>
                <a:spcPct val="169583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LOG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10():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base-10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logarithm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given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LOG10(10)----1</a:t>
            </a:r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SIN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trigonometric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given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angle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radians)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approximate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numeric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expression.</a:t>
            </a:r>
          </a:p>
          <a:p>
            <a:pPr>
              <a:lnSpc>
                <a:spcPts val="944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(0)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-------0</a:t>
            </a:r>
          </a:p>
          <a:p>
            <a:pPr>
              <a:lnSpc>
                <a:spcPts val="106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COS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mathematic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trigonometric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cosine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given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angle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radians)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given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expression.</a:t>
            </a:r>
          </a:p>
          <a:p>
            <a:pPr>
              <a:lnSpc>
                <a:spcPts val="1075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</a:t>
            </a:r>
            <a:r>
              <a:rPr lang="en-US" altLang="zh-CN" sz="1400" b="1" u="sng" spc="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(0)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-------1</a:t>
            </a:r>
          </a:p>
          <a:p>
            <a:pPr>
              <a:lnSpc>
                <a:spcPts val="590"/>
              </a:lnSpc>
            </a:pPr>
            <a:endParaRPr lang="en-US" dirty="0"/>
          </a:p>
          <a:p>
            <a:pPr marL="0" hangingPunct="0">
              <a:lnSpc>
                <a:spcPct val="169166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TAN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tangent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input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(0)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---------0</a:t>
            </a:r>
          </a:p>
          <a:p>
            <a:pPr>
              <a:lnSpc>
                <a:spcPts val="509"/>
              </a:lnSpc>
            </a:pPr>
            <a:endParaRPr lang="en-US" dirty="0"/>
          </a:p>
          <a:p>
            <a:pPr marL="0" hangingPunct="0">
              <a:lnSpc>
                <a:spcPct val="110416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String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Functions: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input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numeric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value.</a:t>
            </a:r>
          </a:p>
          <a:p>
            <a:pPr>
              <a:lnSpc>
                <a:spcPts val="969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ASCII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ASCII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leftmost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xpression.</a:t>
            </a:r>
          </a:p>
          <a:p>
            <a:pPr>
              <a:lnSpc>
                <a:spcPts val="10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ASCII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(„Z‟)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-----90</a:t>
            </a:r>
          </a:p>
          <a:p>
            <a:pPr>
              <a:lnSpc>
                <a:spcPts val="575"/>
              </a:lnSpc>
            </a:pPr>
            <a:endParaRPr lang="en-US" dirty="0"/>
          </a:p>
          <a:p>
            <a:pPr marL="0" hangingPunct="0">
              <a:lnSpc>
                <a:spcPct val="16958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CHAR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converts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ASCII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(90)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-----Z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Box 151"/>
          <p:cNvSpPr txBox="1"/>
          <p:nvPr/>
        </p:nvSpPr>
        <p:spPr>
          <a:xfrm>
            <a:off x="914704" y="890590"/>
            <a:ext cx="5988501" cy="59839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CHARINDEX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starting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position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string.</a:t>
            </a:r>
          </a:p>
          <a:p>
            <a:pPr>
              <a:lnSpc>
                <a:spcPts val="1075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ea typeface="Times New Roman"/>
              </a:rPr>
              <a:t>CHARINDEX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(„S‟,‟SUDHAKAR‟)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-------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</a:p>
          <a:p>
            <a:pPr>
              <a:lnSpc>
                <a:spcPts val="106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LEFT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left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number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haracters.</a:t>
            </a:r>
          </a:p>
          <a:p>
            <a:pPr>
              <a:lnSpc>
                <a:spcPts val="1060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LEFT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(„SUDHAKAR‟,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5)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----SUDHA</a:t>
            </a:r>
          </a:p>
          <a:p>
            <a:pPr>
              <a:lnSpc>
                <a:spcPts val="106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RIGHT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right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number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haracters.</a:t>
            </a:r>
          </a:p>
          <a:p>
            <a:pPr>
              <a:lnSpc>
                <a:spcPts val="1075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RIGHT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(„SUDHAKAR‟,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3)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------KAR</a:t>
            </a:r>
          </a:p>
          <a:p>
            <a:pPr>
              <a:lnSpc>
                <a:spcPts val="106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LEN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number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rather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number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bytes,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given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string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expression.</a:t>
            </a:r>
          </a:p>
          <a:p>
            <a:pPr>
              <a:lnSpc>
                <a:spcPts val="1060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ea typeface="Times New Roman"/>
              </a:rPr>
              <a:t>LEN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(„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WELCOME‟)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------------7</a:t>
            </a:r>
          </a:p>
          <a:p>
            <a:pPr>
              <a:lnSpc>
                <a:spcPts val="106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LOWER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after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converting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uppercase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lowercase.</a:t>
            </a:r>
          </a:p>
          <a:p>
            <a:pPr>
              <a:lnSpc>
                <a:spcPts val="1075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LOWER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(„SAI‟)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--------sai</a:t>
            </a:r>
          </a:p>
          <a:p>
            <a:pPr>
              <a:lnSpc>
                <a:spcPts val="106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UPPER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lowercase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converted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uppercase.</a:t>
            </a:r>
          </a:p>
          <a:p>
            <a:pPr>
              <a:lnSpc>
                <a:spcPts val="1060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UPPER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(„sai‟)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------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SAI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LTRIM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after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removing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leading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blanks.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914704" y="7023930"/>
            <a:ext cx="3892144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457149" algn="l"/>
                <a:tab pos="1962424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LTRIM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(„	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HELLO‟)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--------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HELLO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914704" y="7385499"/>
            <a:ext cx="5897794" cy="15346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RTRIM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after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truncating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trailing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blanks.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  <a:tab pos="2466162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RTRIM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(„HELLO	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„)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-------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HELLO</a:t>
            </a:r>
          </a:p>
          <a:p>
            <a:pPr>
              <a:lnSpc>
                <a:spcPts val="1044"/>
              </a:lnSpc>
            </a:pPr>
            <a:endParaRPr lang="en-US" dirty="0"/>
          </a:p>
          <a:p>
            <a:pPr marL="0" hangingPunct="0">
              <a:lnSpc>
                <a:spcPct val="11208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REPLACE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Replaces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occurrences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second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given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first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third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expression.</a:t>
            </a:r>
          </a:p>
          <a:p>
            <a:pPr>
              <a:lnSpc>
                <a:spcPts val="1050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ea typeface="Times New Roman"/>
              </a:rPr>
              <a:t>REPLACE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(„JACK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JUE‟,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„J‟,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„BL‟)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------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ea typeface="Times New Roman"/>
              </a:rPr>
              <a:t>BLACK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ea typeface="Times New Roman"/>
              </a:rPr>
              <a:t>BLUE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Box 154"/>
          <p:cNvSpPr txBox="1"/>
          <p:nvPr/>
        </p:nvSpPr>
        <p:spPr>
          <a:xfrm>
            <a:off x="914704" y="904435"/>
            <a:ext cx="5817148" cy="16611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REPLICATE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Repeats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number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times.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REPLICATE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(„SAI‟,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3)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-------SAISAISAI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REVERSE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reverse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expression.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REVERSE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(„HELLO‟)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--------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OLLEH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SPACE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repeated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spaces.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914704" y="2714947"/>
            <a:ext cx="5935203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457149" algn="l"/>
                <a:tab pos="4819494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(„SAI‟+SP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ea typeface="Times New Roman"/>
              </a:rPr>
              <a:t>ACE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(50)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+‟SUDHAKAR‟)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-----SAI	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SUDHAKAR</a:t>
            </a:r>
          </a:p>
        </p:txBody>
      </p:sp>
      <p:sp>
        <p:nvSpPr>
          <p:cNvPr id="156" name="TextBox 156"/>
          <p:cNvSpPr txBox="1"/>
          <p:nvPr/>
        </p:nvSpPr>
        <p:spPr>
          <a:xfrm>
            <a:off x="914704" y="3064196"/>
            <a:ext cx="5862993" cy="59427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SUBSTRING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(expression,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start,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length):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string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starting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position,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length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picked.</a:t>
            </a:r>
          </a:p>
          <a:p>
            <a:pPr>
              <a:lnSpc>
                <a:spcPts val="10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SUBSTRING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(„HELLO‟,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1,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3)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-----------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HEL</a:t>
            </a:r>
          </a:p>
          <a:p>
            <a:pPr>
              <a:lnSpc>
                <a:spcPts val="1185"/>
              </a:lnSpc>
            </a:pPr>
            <a:endParaRPr lang="en-US" dirty="0"/>
          </a:p>
          <a:p>
            <a:pPr marL="0" indent="265175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SUBSTRING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(„HELLO‟,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3,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3)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-----------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LLO</a:t>
            </a:r>
          </a:p>
          <a:p>
            <a:pPr>
              <a:lnSpc>
                <a:spcPts val="1019"/>
              </a:lnSpc>
            </a:pPr>
            <a:endParaRPr lang="en-US" dirty="0"/>
          </a:p>
          <a:p>
            <a:pPr marL="0" hangingPunct="0">
              <a:lnSpc>
                <a:spcPct val="111666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Date</a:t>
            </a:r>
            <a:r>
              <a:rPr lang="en-US" altLang="zh-CN" sz="18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and</a:t>
            </a:r>
            <a:r>
              <a:rPr lang="en-US" altLang="zh-CN" sz="18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Time</a:t>
            </a:r>
            <a:r>
              <a:rPr lang="en-US" altLang="zh-CN" sz="18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Functions:</a:t>
            </a:r>
            <a:r>
              <a:rPr lang="en-US" altLang="zh-CN" sz="1800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input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string,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numeric,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value.</a:t>
            </a:r>
          </a:p>
          <a:p>
            <a:pPr>
              <a:lnSpc>
                <a:spcPts val="960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GETDATE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current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system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standard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internal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format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values.</a:t>
            </a:r>
          </a:p>
          <a:p>
            <a:pPr>
              <a:lnSpc>
                <a:spcPts val="1075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-------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2014-02-15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15:35:22.670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DAY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representing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specified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date.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(get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())</a:t>
            </a:r>
          </a:p>
          <a:p>
            <a:pPr>
              <a:lnSpc>
                <a:spcPts val="575"/>
              </a:lnSpc>
            </a:pPr>
            <a:endParaRPr lang="en-US" dirty="0"/>
          </a:p>
          <a:p>
            <a:pPr marL="0" hangingPunct="0">
              <a:lnSpc>
                <a:spcPct val="16958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MONTH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represents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month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specified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MONTH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(get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())</a:t>
            </a:r>
          </a:p>
          <a:p>
            <a:pPr marL="0" hangingPunct="0">
              <a:lnSpc>
                <a:spcPct val="169166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YEAR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represents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year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specified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YEAR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(get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())</a:t>
            </a:r>
          </a:p>
          <a:p>
            <a:pPr>
              <a:lnSpc>
                <a:spcPts val="48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GETUTCDATE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representing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current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UTC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(Coordinated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Universal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Time).</a:t>
            </a:r>
          </a:p>
          <a:p>
            <a:pPr>
              <a:lnSpc>
                <a:spcPts val="106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GETUTCDATE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();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Box 157"/>
          <p:cNvSpPr txBox="1"/>
          <p:nvPr/>
        </p:nvSpPr>
        <p:spPr>
          <a:xfrm>
            <a:off x="914704" y="890590"/>
            <a:ext cx="5949378" cy="76258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NAME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representing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part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specified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date.</a:t>
            </a:r>
          </a:p>
          <a:p>
            <a:pPr>
              <a:lnSpc>
                <a:spcPts val="10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(DW,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())</a:t>
            </a:r>
          </a:p>
          <a:p>
            <a:pPr>
              <a:lnSpc>
                <a:spcPts val="106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PART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representing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date.</a:t>
            </a:r>
          </a:p>
          <a:p>
            <a:pPr>
              <a:lnSpc>
                <a:spcPts val="10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DATEPART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(DD,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())</a:t>
            </a:r>
          </a:p>
          <a:p>
            <a:pPr>
              <a:lnSpc>
                <a:spcPts val="106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ADD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adding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interval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date.</a:t>
            </a:r>
          </a:p>
          <a:p>
            <a:pPr>
              <a:lnSpc>
                <a:spcPts val="10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DATEADD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(DD,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5,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())</a:t>
            </a:r>
          </a:p>
          <a:p>
            <a:pPr>
              <a:lnSpc>
                <a:spcPts val="106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DIFF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difference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between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part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format.</a:t>
            </a:r>
          </a:p>
          <a:p>
            <a:pPr>
              <a:lnSpc>
                <a:spcPts val="10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DATEDIFF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(MM,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„2012-12-15‟,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())</a:t>
            </a:r>
          </a:p>
          <a:p>
            <a:pPr>
              <a:lnSpc>
                <a:spcPts val="104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Conversion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Functions: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convert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another.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conversion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CONVERT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provide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similar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functionality.</a:t>
            </a:r>
          </a:p>
          <a:p>
            <a:pPr>
              <a:lnSpc>
                <a:spcPts val="106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CAST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Convert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another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type.</a:t>
            </a:r>
          </a:p>
          <a:p>
            <a:pPr>
              <a:lnSpc>
                <a:spcPts val="590"/>
              </a:lnSpc>
            </a:pPr>
            <a:endParaRPr lang="en-US" dirty="0"/>
          </a:p>
          <a:p>
            <a:pPr marL="0" hangingPunct="0">
              <a:lnSpc>
                <a:spcPct val="169166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(Expression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[size])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(10.2587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Int)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-------------10</a:t>
            </a:r>
          </a:p>
          <a:p>
            <a:pPr>
              <a:lnSpc>
                <a:spcPts val="48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CONVERT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Convert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different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mat.</a:t>
            </a:r>
          </a:p>
          <a:p>
            <a:pPr>
              <a:lnSpc>
                <a:spcPts val="490"/>
              </a:lnSpc>
            </a:pPr>
            <a:endParaRPr lang="en-US" dirty="0"/>
          </a:p>
          <a:p>
            <a:pPr marL="0" hangingPunct="0">
              <a:lnSpc>
                <a:spcPct val="16958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Convert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[size],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Style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Convert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(Varchar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(24),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(),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113)</a:t>
            </a:r>
          </a:p>
          <a:p>
            <a:pPr>
              <a:lnSpc>
                <a:spcPts val="1039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below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represents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style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small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conversion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data: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Box 158"/>
          <p:cNvSpPr txBox="1"/>
          <p:nvPr/>
        </p:nvSpPr>
        <p:spPr>
          <a:xfrm>
            <a:off x="914704" y="1140655"/>
            <a:ext cx="5348443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1077417" algn="l"/>
                <a:tab pos="2549982" algn="l"/>
                <a:tab pos="4508575" algn="l"/>
              </a:tabLst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Sno	Value	Output	</a:t>
            </a: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Standard</a:t>
            </a:r>
          </a:p>
        </p:txBody>
      </p:sp>
      <p:sp>
        <p:nvSpPr>
          <p:cNvPr id="159" name="TextBox 159"/>
          <p:cNvSpPr txBox="1"/>
          <p:nvPr/>
        </p:nvSpPr>
        <p:spPr>
          <a:xfrm>
            <a:off x="914704" y="1587081"/>
            <a:ext cx="5169605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841197" algn="l"/>
                <a:tab pos="1795602" algn="l"/>
                <a:tab pos="4508575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	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100	mon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yyyy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hh:mi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(or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PM)	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Default</a:t>
            </a:r>
          </a:p>
        </p:txBody>
      </p:sp>
      <p:sp>
        <p:nvSpPr>
          <p:cNvPr id="160" name="TextBox 160"/>
          <p:cNvSpPr txBox="1"/>
          <p:nvPr/>
        </p:nvSpPr>
        <p:spPr>
          <a:xfrm>
            <a:off x="914704" y="1829398"/>
            <a:ext cx="4991470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841197" algn="l"/>
                <a:tab pos="1795602" algn="l"/>
                <a:tab pos="4508575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	101	mm/dd/yy	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USA</a:t>
            </a:r>
          </a:p>
        </p:txBody>
      </p:sp>
      <p:sp>
        <p:nvSpPr>
          <p:cNvPr id="161" name="TextBox 161"/>
          <p:cNvSpPr txBox="1"/>
          <p:nvPr/>
        </p:nvSpPr>
        <p:spPr>
          <a:xfrm>
            <a:off x="914704" y="2073237"/>
            <a:ext cx="5050138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841197" algn="l"/>
                <a:tab pos="1795602" algn="l"/>
                <a:tab pos="4508575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	102	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yy.mm.dd	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ANSI</a:t>
            </a:r>
          </a:p>
        </p:txBody>
      </p:sp>
      <p:sp>
        <p:nvSpPr>
          <p:cNvPr id="162" name="TextBox 162"/>
          <p:cNvSpPr txBox="1"/>
          <p:nvPr/>
        </p:nvSpPr>
        <p:spPr>
          <a:xfrm>
            <a:off x="914704" y="2315553"/>
            <a:ext cx="5662979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841197" algn="l"/>
                <a:tab pos="1795602" algn="l"/>
                <a:tab pos="4508575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	103	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dd/mm/yy	British/French</a:t>
            </a:r>
          </a:p>
        </p:txBody>
      </p:sp>
      <p:sp>
        <p:nvSpPr>
          <p:cNvPr id="163" name="TextBox 163"/>
          <p:cNvSpPr txBox="1"/>
          <p:nvPr/>
        </p:nvSpPr>
        <p:spPr>
          <a:xfrm>
            <a:off x="914704" y="2557869"/>
            <a:ext cx="5207582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841197" algn="l"/>
                <a:tab pos="1795602" algn="l"/>
                <a:tab pos="4508575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4	104	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dd.mm.yy	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German</a:t>
            </a:r>
          </a:p>
        </p:txBody>
      </p:sp>
      <p:sp>
        <p:nvSpPr>
          <p:cNvPr id="164" name="TextBox 164"/>
          <p:cNvSpPr txBox="1"/>
          <p:nvPr/>
        </p:nvSpPr>
        <p:spPr>
          <a:xfrm>
            <a:off x="914704" y="2800186"/>
            <a:ext cx="5089898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841197" algn="l"/>
                <a:tab pos="1795602" algn="l"/>
                <a:tab pos="4508575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5	105	dd-mm-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yy	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Italian</a:t>
            </a:r>
          </a:p>
        </p:txBody>
      </p:sp>
      <p:sp>
        <p:nvSpPr>
          <p:cNvPr id="165" name="TextBox 165"/>
          <p:cNvSpPr txBox="1"/>
          <p:nvPr/>
        </p:nvSpPr>
        <p:spPr>
          <a:xfrm>
            <a:off x="914704" y="3042882"/>
            <a:ext cx="2683080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841197" algn="l"/>
                <a:tab pos="1795602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6	106	dd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yy</a:t>
            </a:r>
          </a:p>
        </p:txBody>
      </p:sp>
      <p:sp>
        <p:nvSpPr>
          <p:cNvPr id="166" name="TextBox 166"/>
          <p:cNvSpPr txBox="1"/>
          <p:nvPr/>
        </p:nvSpPr>
        <p:spPr>
          <a:xfrm>
            <a:off x="914704" y="3285198"/>
            <a:ext cx="2747627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841197" algn="l"/>
                <a:tab pos="1795602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7	107	Mon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dd,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yy</a:t>
            </a:r>
          </a:p>
        </p:txBody>
      </p:sp>
      <p:sp>
        <p:nvSpPr>
          <p:cNvPr id="167" name="TextBox 167"/>
          <p:cNvSpPr txBox="1"/>
          <p:nvPr/>
        </p:nvSpPr>
        <p:spPr>
          <a:xfrm>
            <a:off x="914704" y="3527514"/>
            <a:ext cx="2613006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841197" algn="l"/>
                <a:tab pos="1795602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8	108	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hh:mm:ss</a:t>
            </a:r>
          </a:p>
        </p:txBody>
      </p:sp>
      <p:sp>
        <p:nvSpPr>
          <p:cNvPr id="168" name="TextBox 168"/>
          <p:cNvSpPr txBox="1"/>
          <p:nvPr/>
        </p:nvSpPr>
        <p:spPr>
          <a:xfrm>
            <a:off x="914704" y="3873462"/>
            <a:ext cx="72072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-</a:t>
            </a:r>
          </a:p>
        </p:txBody>
      </p:sp>
      <p:sp>
        <p:nvSpPr>
          <p:cNvPr id="169" name="TextBox 169"/>
          <p:cNvSpPr txBox="1"/>
          <p:nvPr/>
        </p:nvSpPr>
        <p:spPr>
          <a:xfrm>
            <a:off x="1755901" y="3873462"/>
            <a:ext cx="605925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9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109</a:t>
            </a:r>
          </a:p>
        </p:txBody>
      </p:sp>
      <p:sp>
        <p:nvSpPr>
          <p:cNvPr id="170" name="TextBox 170"/>
          <p:cNvSpPr txBox="1"/>
          <p:nvPr/>
        </p:nvSpPr>
        <p:spPr>
          <a:xfrm>
            <a:off x="2710307" y="3775672"/>
            <a:ext cx="2642788" cy="4089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yyyy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hh:mi:ss:mmmAM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PM)</a:t>
            </a:r>
          </a:p>
        </p:txBody>
      </p:sp>
      <p:sp>
        <p:nvSpPr>
          <p:cNvPr id="171" name="TextBox 171"/>
          <p:cNvSpPr txBox="1"/>
          <p:nvPr/>
        </p:nvSpPr>
        <p:spPr>
          <a:xfrm>
            <a:off x="5423280" y="3873462"/>
            <a:ext cx="1209674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efault+millisec</a:t>
            </a:r>
          </a:p>
        </p:txBody>
      </p:sp>
      <p:sp>
        <p:nvSpPr>
          <p:cNvPr id="172" name="TextBox 172"/>
          <p:cNvSpPr txBox="1"/>
          <p:nvPr/>
        </p:nvSpPr>
        <p:spPr>
          <a:xfrm>
            <a:off x="914704" y="4217886"/>
            <a:ext cx="4991470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841197" algn="l"/>
                <a:tab pos="1795602" algn="l"/>
                <a:tab pos="4508575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	110	mm-dd-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yy	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USA</a:t>
            </a:r>
          </a:p>
        </p:txBody>
      </p:sp>
      <p:sp>
        <p:nvSpPr>
          <p:cNvPr id="173" name="TextBox 173"/>
          <p:cNvSpPr txBox="1"/>
          <p:nvPr/>
        </p:nvSpPr>
        <p:spPr>
          <a:xfrm>
            <a:off x="914704" y="4460202"/>
            <a:ext cx="5041399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841197" algn="l"/>
                <a:tab pos="1795602" algn="l"/>
                <a:tab pos="4508575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11	111	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yy/mm/dd	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Japan</a:t>
            </a:r>
          </a:p>
        </p:txBody>
      </p:sp>
      <p:sp>
        <p:nvSpPr>
          <p:cNvPr id="174" name="TextBox 174"/>
          <p:cNvSpPr txBox="1"/>
          <p:nvPr/>
        </p:nvSpPr>
        <p:spPr>
          <a:xfrm>
            <a:off x="914704" y="4702518"/>
            <a:ext cx="4922821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841197" algn="l"/>
                <a:tab pos="1795602" algn="l"/>
                <a:tab pos="4508575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12	112	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Yymmdd	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ISO</a:t>
            </a:r>
          </a:p>
        </p:txBody>
      </p:sp>
      <p:sp>
        <p:nvSpPr>
          <p:cNvPr id="175" name="TextBox 175"/>
          <p:cNvSpPr txBox="1"/>
          <p:nvPr/>
        </p:nvSpPr>
        <p:spPr>
          <a:xfrm>
            <a:off x="914704" y="4944834"/>
            <a:ext cx="4401433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841197" algn="l"/>
                <a:tab pos="1795602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	13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113	dd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yyyy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hh:mi:ss:mmm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(24h)</a:t>
            </a:r>
          </a:p>
        </p:txBody>
      </p:sp>
      <p:sp>
        <p:nvSpPr>
          <p:cNvPr id="176" name="TextBox 176"/>
          <p:cNvSpPr txBox="1"/>
          <p:nvPr/>
        </p:nvSpPr>
        <p:spPr>
          <a:xfrm>
            <a:off x="914704" y="5188928"/>
            <a:ext cx="3419135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841197" algn="l"/>
                <a:tab pos="1795602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14	114	hh:mi:ss:mmm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(24h)</a:t>
            </a:r>
          </a:p>
        </p:txBody>
      </p:sp>
      <p:sp>
        <p:nvSpPr>
          <p:cNvPr id="177" name="TextBox 177"/>
          <p:cNvSpPr txBox="1"/>
          <p:nvPr/>
        </p:nvSpPr>
        <p:spPr>
          <a:xfrm>
            <a:off x="914704" y="5431244"/>
            <a:ext cx="3926979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841197" algn="l"/>
                <a:tab pos="1795602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	20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120	yyyy-mm-dd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hh:mi:ss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(24h)</a:t>
            </a:r>
          </a:p>
        </p:txBody>
      </p:sp>
      <p:sp>
        <p:nvSpPr>
          <p:cNvPr id="178" name="TextBox 178"/>
          <p:cNvSpPr txBox="1"/>
          <p:nvPr/>
        </p:nvSpPr>
        <p:spPr>
          <a:xfrm>
            <a:off x="914704" y="5673560"/>
            <a:ext cx="4387014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841197" algn="l"/>
                <a:tab pos="1795602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	21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121	yyyy-mm-dd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hh:mi:ss.mmm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(24h)</a:t>
            </a:r>
          </a:p>
        </p:txBody>
      </p:sp>
      <p:sp>
        <p:nvSpPr>
          <p:cNvPr id="179" name="TextBox 179"/>
          <p:cNvSpPr txBox="1"/>
          <p:nvPr/>
        </p:nvSpPr>
        <p:spPr>
          <a:xfrm>
            <a:off x="914704" y="6017984"/>
            <a:ext cx="72072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-</a:t>
            </a:r>
          </a:p>
        </p:txBody>
      </p:sp>
      <p:sp>
        <p:nvSpPr>
          <p:cNvPr id="180" name="TextBox 180"/>
          <p:cNvSpPr txBox="1"/>
          <p:nvPr/>
        </p:nvSpPr>
        <p:spPr>
          <a:xfrm>
            <a:off x="1755901" y="6017984"/>
            <a:ext cx="279978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126</a:t>
            </a:r>
          </a:p>
        </p:txBody>
      </p:sp>
      <p:sp>
        <p:nvSpPr>
          <p:cNvPr id="181" name="TextBox 181"/>
          <p:cNvSpPr txBox="1"/>
          <p:nvPr/>
        </p:nvSpPr>
        <p:spPr>
          <a:xfrm>
            <a:off x="2710307" y="5920194"/>
            <a:ext cx="2435081" cy="4089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95416"/>
              </a:lnSpc>
            </a:pPr>
            <a:r>
              <a:rPr lang="en-US" altLang="zh-CN" sz="1400" spc="10" dirty="0">
                <a:solidFill>
                  <a:srgbClr val="000000"/>
                </a:solidFill>
                <a:latin typeface="Times New Roman"/>
                <a:ea typeface="Times New Roman"/>
              </a:rPr>
              <a:t>yyyy-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ea typeface="Times New Roman"/>
              </a:rPr>
              <a:t>mm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ea typeface="Times New Roman"/>
              </a:rPr>
              <a:t>-ddThh:mi:ss.mmm</a:t>
            </a:r>
            <a:r>
              <a:rPr lang="en-US" altLang="zh-CN" sz="1400" spc="-1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ea typeface="Times New Roman"/>
              </a:rPr>
              <a:t>(no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sp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aces)</a:t>
            </a:r>
          </a:p>
        </p:txBody>
      </p:sp>
      <p:sp>
        <p:nvSpPr>
          <p:cNvPr id="182" name="TextBox 182"/>
          <p:cNvSpPr txBox="1"/>
          <p:nvPr/>
        </p:nvSpPr>
        <p:spPr>
          <a:xfrm>
            <a:off x="5423280" y="6017984"/>
            <a:ext cx="654959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O8601</a:t>
            </a:r>
          </a:p>
        </p:txBody>
      </p:sp>
      <p:sp>
        <p:nvSpPr>
          <p:cNvPr id="183" name="TextBox 183"/>
          <p:cNvSpPr txBox="1"/>
          <p:nvPr/>
        </p:nvSpPr>
        <p:spPr>
          <a:xfrm>
            <a:off x="914704" y="6362408"/>
            <a:ext cx="5021609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841197" algn="l"/>
                <a:tab pos="1795602" algn="l"/>
                <a:tab pos="4508575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	130	dd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yyyy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hh:mi:ss:mmmAM	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Hijiri</a:t>
            </a:r>
          </a:p>
        </p:txBody>
      </p:sp>
      <p:sp>
        <p:nvSpPr>
          <p:cNvPr id="184" name="TextBox 184"/>
          <p:cNvSpPr txBox="1"/>
          <p:nvPr/>
        </p:nvSpPr>
        <p:spPr>
          <a:xfrm>
            <a:off x="914704" y="6604723"/>
            <a:ext cx="5021609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841197" algn="l"/>
                <a:tab pos="1795602" algn="l"/>
                <a:tab pos="4508575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	131	dd/mm/yy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hh:mi:ss:mmmAM	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Hijiri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Box 185"/>
          <p:cNvSpPr txBox="1"/>
          <p:nvPr/>
        </p:nvSpPr>
        <p:spPr>
          <a:xfrm>
            <a:off x="914704" y="887891"/>
            <a:ext cx="5974444" cy="71160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1249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Aggregate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functions/Group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functions: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Aggregate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calculation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single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Aggregate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functions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often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GROUP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statement.</a:t>
            </a:r>
          </a:p>
          <a:p>
            <a:pPr>
              <a:lnSpc>
                <a:spcPts val="950"/>
              </a:lnSpc>
            </a:pPr>
            <a:endParaRPr lang="en-US" dirty="0"/>
          </a:p>
          <a:p>
            <a:pPr marL="0" hangingPunct="0">
              <a:lnSpc>
                <a:spcPct val="11208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SUM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.Sum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numeric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ignored.</a:t>
            </a:r>
          </a:p>
          <a:p>
            <a:pPr>
              <a:lnSpc>
                <a:spcPts val="1050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(SALARY)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</a:p>
          <a:p>
            <a:pPr>
              <a:lnSpc>
                <a:spcPts val="590"/>
              </a:lnSpc>
            </a:pPr>
            <a:endParaRPr lang="en-US" dirty="0"/>
          </a:p>
          <a:p>
            <a:pPr marL="0" hangingPunct="0">
              <a:lnSpc>
                <a:spcPct val="169166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AVG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():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average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group.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ignored.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AVG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(SALARY)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</a:p>
          <a:p>
            <a:pPr>
              <a:lnSpc>
                <a:spcPts val="60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MAX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():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maximum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expression.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MAX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(SALARY)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MIN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minimum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expression.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(SALARY)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</a:p>
          <a:p>
            <a:pPr>
              <a:lnSpc>
                <a:spcPts val="1044"/>
              </a:lnSpc>
            </a:pPr>
            <a:endParaRPr lang="en-US" dirty="0"/>
          </a:p>
          <a:p>
            <a:pPr marL="0" hangingPunct="0">
              <a:lnSpc>
                <a:spcPct val="11208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COUNT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number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again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three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ways.</a:t>
            </a:r>
          </a:p>
          <a:p>
            <a:pPr>
              <a:lnSpc>
                <a:spcPts val="105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COUNT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(*):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total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number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</a:p>
          <a:p>
            <a:pPr marL="0" indent="457149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COUNT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(*)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COUNT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(Expression/Column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name):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number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</a:p>
          <a:p>
            <a:pPr marL="457149" hangingPunct="0">
              <a:lnSpc>
                <a:spcPct val="108333"/>
              </a:lnSpc>
              <a:spcBef>
                <a:spcPts val="12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including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duplicate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vales.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COUNT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(ENAME)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</a:p>
          <a:p>
            <a:pPr marL="0" indent="228600">
              <a:lnSpc>
                <a:spcPct val="100000"/>
              </a:lnSpc>
              <a:spcBef>
                <a:spcPts val="10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COUNT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(Distinct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Column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name):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number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spc="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without</a:t>
            </a:r>
          </a:p>
          <a:p>
            <a:pPr marL="0" indent="457149">
              <a:lnSpc>
                <a:spcPct val="10000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duplicate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values.</a:t>
            </a:r>
          </a:p>
          <a:p>
            <a:pPr marL="0" indent="457149">
              <a:lnSpc>
                <a:spcPct val="100000"/>
              </a:lnSpc>
              <a:spcBef>
                <a:spcPts val="139"/>
              </a:spcBef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COUNT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(Distinct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</a:p>
          <a:p>
            <a:pPr>
              <a:lnSpc>
                <a:spcPts val="106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Distinct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Key: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retrieve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without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duplicates.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Box 186"/>
          <p:cNvSpPr txBox="1"/>
          <p:nvPr/>
        </p:nvSpPr>
        <p:spPr>
          <a:xfrm>
            <a:off x="914704" y="887891"/>
            <a:ext cx="5953945" cy="82534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1249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OPERATORS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SQL: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symbol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performs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operands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expressions.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operators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classified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6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SQL.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Assignment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operator</a:t>
            </a:r>
          </a:p>
          <a:p>
            <a:pPr marL="0" indent="457149">
              <a:lnSpc>
                <a:spcPct val="10000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Arithmetic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operator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Comparison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operator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4.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Logical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operator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5.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operator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 marL="0" hangingPunct="0">
              <a:lnSpc>
                <a:spcPct val="1125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Assignment</a:t>
            </a:r>
            <a:r>
              <a:rPr lang="en-US" altLang="zh-CN" sz="1800" b="1" u="sng" spc="-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operator:</a:t>
            </a:r>
            <a:r>
              <a:rPr lang="en-US" altLang="zh-CN" sz="1800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Assignment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operator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operator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knows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equal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„=‟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operator.</a:t>
            </a:r>
          </a:p>
          <a:p>
            <a:pPr>
              <a:lnSpc>
                <a:spcPts val="10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Ex1: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details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equal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to10000</a:t>
            </a:r>
          </a:p>
          <a:p>
            <a:pPr>
              <a:lnSpc>
                <a:spcPts val="1210"/>
              </a:lnSpc>
            </a:pPr>
            <a:endParaRPr lang="en-US" dirty="0"/>
          </a:p>
          <a:p>
            <a:pPr marL="0" indent="228600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SAL=10000</a:t>
            </a:r>
          </a:p>
          <a:p>
            <a:pPr>
              <a:lnSpc>
                <a:spcPts val="119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Ex2:</a:t>
            </a:r>
            <a:r>
              <a:rPr lang="en-US" altLang="zh-CN" sz="1400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deptno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„10‟whose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id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101</a:t>
            </a:r>
          </a:p>
          <a:p>
            <a:pPr>
              <a:lnSpc>
                <a:spcPts val="1200"/>
              </a:lnSpc>
            </a:pPr>
            <a:endParaRPr lang="en-US" dirty="0"/>
          </a:p>
          <a:p>
            <a:pPr marL="0" indent="228600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DEPTNO=10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EID=101</a:t>
            </a:r>
          </a:p>
          <a:p>
            <a:pPr>
              <a:lnSpc>
                <a:spcPts val="119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Ex3: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107</a:t>
            </a:r>
          </a:p>
          <a:p>
            <a:pPr>
              <a:lnSpc>
                <a:spcPts val="1210"/>
              </a:lnSpc>
            </a:pPr>
            <a:endParaRPr lang="en-US" dirty="0"/>
          </a:p>
          <a:p>
            <a:pPr marL="0" indent="228600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EID=107</a:t>
            </a:r>
          </a:p>
          <a:p>
            <a:pPr>
              <a:lnSpc>
                <a:spcPts val="120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Arithmetic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operator: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Arithmetic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operators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mathematical</a:t>
            </a:r>
          </a:p>
          <a:p>
            <a:pPr marL="0">
              <a:lnSpc>
                <a:spcPct val="100000"/>
              </a:lnSpc>
              <a:spcBef>
                <a:spcPts val="22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expressions.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lists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arithmetic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operators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+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(Add),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</a:t>
            </a:r>
          </a:p>
          <a:p>
            <a:pPr marL="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Subtraction,*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Multiplication.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(Divide)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Division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%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(Modulo)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</a:p>
          <a:p>
            <a:pPr marL="0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remainder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division.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example,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12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%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5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because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remainder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</a:p>
          <a:p>
            <a:pPr marL="0" hangingPunct="0">
              <a:lnSpc>
                <a:spcPct val="16875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12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divided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5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Ex1: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100+250</a:t>
            </a:r>
          </a:p>
          <a:p>
            <a:pPr marL="457149" hangingPunct="0">
              <a:lnSpc>
                <a:spcPct val="169583"/>
              </a:lnSpc>
            </a:pPr>
            <a:r>
              <a:rPr lang="en-US" altLang="zh-CN" sz="1400" spc="2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1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ea typeface="Times New Roman"/>
              </a:rPr>
              <a:t>245-400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spc="25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1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ea typeface="Times New Roman"/>
              </a:rPr>
              <a:t>20*20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1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44" dirty="0">
                <a:solidFill>
                  <a:srgbClr val="000000"/>
                </a:solidFill>
                <a:latin typeface="Times New Roman"/>
                <a:ea typeface="Times New Roman"/>
              </a:rPr>
              <a:t>25/5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37%6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Box 187"/>
          <p:cNvSpPr txBox="1"/>
          <p:nvPr/>
        </p:nvSpPr>
        <p:spPr>
          <a:xfrm>
            <a:off x="914704" y="907377"/>
            <a:ext cx="5731372" cy="73299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20/5+20/5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35.50+20</a:t>
            </a:r>
          </a:p>
          <a:p>
            <a:pPr>
              <a:lnSpc>
                <a:spcPts val="113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Ex2: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WAQ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student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TOTAL,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AVERAGE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</a:p>
          <a:p>
            <a:pPr>
              <a:lnSpc>
                <a:spcPts val="1114"/>
              </a:lnSpc>
            </a:pPr>
            <a:endParaRPr lang="en-US" dirty="0"/>
          </a:p>
          <a:p>
            <a:pPr marL="0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Step1: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student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(Sid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sname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(50),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math‟s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phy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total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average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(max))</a:t>
            </a:r>
          </a:p>
          <a:p>
            <a:pPr>
              <a:lnSpc>
                <a:spcPts val="509"/>
              </a:lnSpc>
            </a:pPr>
            <a:endParaRPr lang="en-US" dirty="0"/>
          </a:p>
          <a:p>
            <a:pPr marL="0" hangingPunct="0">
              <a:lnSpc>
                <a:spcPct val="1691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Step2: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student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total=maths+phy+che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Step3: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student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average=total/3</a:t>
            </a:r>
          </a:p>
          <a:p>
            <a:pPr>
              <a:lnSpc>
                <a:spcPts val="60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Step4: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student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class=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ase</a:t>
            </a:r>
          </a:p>
          <a:p>
            <a:pPr>
              <a:lnSpc>
                <a:spcPts val="575"/>
              </a:lnSpc>
            </a:pPr>
            <a:endParaRPr lang="en-US" dirty="0"/>
          </a:p>
          <a:p>
            <a:pPr marL="0" hangingPunct="0">
              <a:lnSpc>
                <a:spcPct val="16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average&gt;=60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'First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class'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average&gt;=50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'second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class'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average&gt;=40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'third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class'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lse</a:t>
            </a:r>
          </a:p>
          <a:p>
            <a:pPr>
              <a:lnSpc>
                <a:spcPts val="60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'F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ail'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569"/>
              </a:lnSpc>
            </a:pPr>
            <a:endParaRPr lang="en-US" dirty="0"/>
          </a:p>
          <a:p>
            <a:pPr marL="0" hangingPunct="0">
              <a:lnSpc>
                <a:spcPct val="169166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CASE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conditions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Case</a:t>
            </a:r>
          </a:p>
          <a:p>
            <a:pPr>
              <a:lnSpc>
                <a:spcPts val="619"/>
              </a:lnSpc>
            </a:pPr>
            <a:endParaRPr lang="en-US" dirty="0"/>
          </a:p>
          <a:p>
            <a:pPr marL="0" indent="665937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&lt;Condition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1&gt;-----------&lt;Condition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N&gt;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665937">
              <a:lnSpc>
                <a:spcPct val="100000"/>
              </a:lnSpc>
            </a:pP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lse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620217">
              <a:lnSpc>
                <a:spcPct val="100000"/>
              </a:lnSpc>
            </a:pP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&lt;S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tatement&gt;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665937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Box 188"/>
          <p:cNvSpPr txBox="1"/>
          <p:nvPr/>
        </p:nvSpPr>
        <p:spPr>
          <a:xfrm>
            <a:off x="914704" y="887891"/>
            <a:ext cx="5942039" cy="789117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5416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Comparison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operators: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Comparison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operators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test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whether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same.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Comparison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operators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except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text,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ntext,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image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lists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Transact-SQL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comparison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operators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2"/>
              </a:rPr>
              <a:t>&gt;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" action="ppaction://noaction"/>
              </a:rPr>
              <a:t>(Greater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" action="ppaction://noaction"/>
              </a:rPr>
              <a:t>Than)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,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3"/>
              </a:rPr>
              <a:t>&lt;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2"/>
              </a:rPr>
              <a:t>(Less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2"/>
              </a:rPr>
              <a:t>Than)</a:t>
            </a:r>
            <a:r>
              <a:rPr lang="en-US" altLang="zh-CN" sz="140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,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4"/>
              </a:rPr>
              <a:t>&gt;=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3"/>
              </a:rPr>
              <a:t>(Greater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3"/>
              </a:rPr>
              <a:t>Than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3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3"/>
              </a:rPr>
              <a:t>Equal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3"/>
              </a:rPr>
              <a:t>To)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,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5"/>
              </a:rPr>
              <a:t>&lt;=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4"/>
              </a:rPr>
              <a:t>(Less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4"/>
              </a:rPr>
              <a:t>Than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4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4"/>
              </a:rPr>
              <a:t>Equal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4"/>
              </a:rPr>
              <a:t>To)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,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6"/>
              </a:rPr>
              <a:t>!=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5"/>
              </a:rPr>
              <a:t>(Not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5"/>
              </a:rPr>
              <a:t>Equal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5"/>
              </a:rPr>
              <a:t>To)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,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7"/>
              </a:rPr>
              <a:t>!&lt;</a:t>
            </a:r>
            <a:r>
              <a:rPr lang="en-US" altLang="zh-CN" sz="1400" spc="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6"/>
              </a:rPr>
              <a:t>(Not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6"/>
              </a:rPr>
              <a:t>Less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6"/>
              </a:rPr>
              <a:t>Than)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,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8"/>
              </a:rPr>
              <a:t>!&gt;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7"/>
              </a:rPr>
              <a:t>(Not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7"/>
              </a:rPr>
              <a:t>Greater</a:t>
            </a:r>
            <a:r>
              <a:rPr lang="en-US" altLang="zh-CN" sz="140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7"/>
              </a:rPr>
              <a:t>Than)</a:t>
            </a:r>
          </a:p>
          <a:p>
            <a:pPr>
              <a:lnSpc>
                <a:spcPts val="95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xamples: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1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salary&lt;50000</a:t>
            </a:r>
          </a:p>
          <a:p>
            <a:pPr marL="0" indent="228600">
              <a:lnSpc>
                <a:spcPct val="100000"/>
              </a:lnSpc>
              <a:spcBef>
                <a:spcPts val="17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2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salary=1000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salary&gt;90000</a:t>
            </a:r>
          </a:p>
          <a:p>
            <a:pPr marL="0" indent="228600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2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ename='joshitha'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salary&lt;=25000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2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salary=98000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salary&gt;=1000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8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!&gt;98000</a:t>
            </a:r>
          </a:p>
          <a:p>
            <a:pPr marL="0" indent="228600">
              <a:lnSpc>
                <a:spcPct val="10000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8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!&lt;98000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8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!=98000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 marL="0" hangingPunct="0">
              <a:lnSpc>
                <a:spcPct val="110833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Logical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operator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Logical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operators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test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truth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some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condition.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Logical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operators,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comparison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operators,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Boolean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TRUE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FALSE.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Logical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operators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,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,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,</a:t>
            </a:r>
            <a:r>
              <a:rPr lang="en-US" altLang="zh-CN" sz="1400" b="1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BETWEEN,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BETWEEN,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EXISTS,NOT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EXISTS,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ALL,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SOME.</a:t>
            </a:r>
          </a:p>
          <a:p>
            <a:pPr>
              <a:lnSpc>
                <a:spcPts val="110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xamples: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5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ename='siddhu'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salary=45000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5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ename='joshitha'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salary=98000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8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ename='joshitha'</a:t>
            </a:r>
          </a:p>
          <a:p>
            <a:pPr marL="0" indent="228600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2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between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10000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50000</a:t>
            </a:r>
          </a:p>
          <a:p>
            <a:pPr marL="0" indent="228600">
              <a:lnSpc>
                <a:spcPct val="100000"/>
              </a:lnSpc>
              <a:spcBef>
                <a:spcPts val="17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6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ename='SAI'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eid=101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salary=25000</a:t>
            </a:r>
          </a:p>
          <a:p>
            <a:pPr>
              <a:lnSpc>
                <a:spcPts val="121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Queries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Using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‘Select’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with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‘where’</a:t>
            </a:r>
            <a:r>
              <a:rPr lang="en-US" altLang="zh-CN" sz="1400" b="1" u="sng" spc="-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clause:</a:t>
            </a:r>
          </a:p>
          <a:p>
            <a:pPr>
              <a:lnSpc>
                <a:spcPts val="1119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8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details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whose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less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</a:p>
          <a:p>
            <a:pPr marL="0" indent="457149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0000</a:t>
            </a:r>
          </a:p>
          <a:p>
            <a:pPr marL="0" indent="228600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SAL&lt;10000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Box 189"/>
          <p:cNvSpPr txBox="1"/>
          <p:nvPr/>
        </p:nvSpPr>
        <p:spPr>
          <a:xfrm>
            <a:off x="914704" y="907377"/>
            <a:ext cx="5991053" cy="82381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details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whose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greater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equal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9000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15000</a:t>
            </a:r>
          </a:p>
          <a:p>
            <a:pPr marL="0" indent="228600">
              <a:lnSpc>
                <a:spcPts val="172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SAL&gt;=9000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SAL&lt;=15000</a:t>
            </a:r>
          </a:p>
          <a:p>
            <a:pPr marL="0" indent="1877898">
              <a:lnSpc>
                <a:spcPct val="100000"/>
              </a:lnSpc>
              <a:spcBef>
                <a:spcPts val="209"/>
              </a:spcBef>
            </a:pP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OR)</a:t>
            </a:r>
          </a:p>
          <a:p>
            <a:pPr marL="0" indent="228600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5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BETWEEN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9000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15000</a:t>
            </a:r>
          </a:p>
          <a:p>
            <a:pPr marL="0" indent="228600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8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details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whose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between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9000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15000</a:t>
            </a:r>
          </a:p>
          <a:p>
            <a:pPr marL="0" indent="228600">
              <a:lnSpc>
                <a:spcPts val="172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5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BETWEEN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9000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AND15000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8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5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details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whose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starts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„r‟</a:t>
            </a:r>
          </a:p>
          <a:p>
            <a:pPr marL="0" indent="228600">
              <a:lnSpc>
                <a:spcPts val="1720"/>
              </a:lnSpc>
              <a:spcBef>
                <a:spcPts val="17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-2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„r%‟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8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5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details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whose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ends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„y‟</a:t>
            </a:r>
          </a:p>
          <a:p>
            <a:pPr marL="0" indent="228600">
              <a:lnSpc>
                <a:spcPts val="1720"/>
              </a:lnSpc>
              <a:spcBef>
                <a:spcPts val="17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-2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„%Y‟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69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9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details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whose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</a:p>
          <a:p>
            <a:pPr marL="0" indent="457149">
              <a:lnSpc>
                <a:spcPct val="100000"/>
              </a:lnSpc>
              <a:spcBef>
                <a:spcPts val="179"/>
              </a:spcBef>
            </a:pP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ea typeface="Times New Roman"/>
              </a:rPr>
              <a:t>letter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ea typeface="Times New Roman"/>
              </a:rPr>
              <a:t>„a‟</a:t>
            </a:r>
          </a:p>
          <a:p>
            <a:pPr marL="0" indent="228600">
              <a:lnSpc>
                <a:spcPts val="1720"/>
              </a:lnSpc>
              <a:spcBef>
                <a:spcPts val="17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-2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„%A%‟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69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9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details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whose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three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letters</a:t>
            </a:r>
          </a:p>
          <a:p>
            <a:pPr marL="0" indent="228600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-2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„---„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8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5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details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whose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names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„r‟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</a:p>
          <a:p>
            <a:pPr marL="0" indent="457149">
              <a:lnSpc>
                <a:spcPct val="100000"/>
              </a:lnSpc>
              <a:spcBef>
                <a:spcPts val="15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greater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9000</a:t>
            </a:r>
          </a:p>
          <a:p>
            <a:pPr marL="0" indent="228600">
              <a:lnSpc>
                <a:spcPts val="172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-15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„%R%‟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SAL&gt;9000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69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8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details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whose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greater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ram</a:t>
            </a:r>
          </a:p>
          <a:p>
            <a:pPr marL="0" indent="228600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-25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ENAME&gt;‟RAM‟</a:t>
            </a:r>
          </a:p>
          <a:p>
            <a:pPr marL="0" indent="228600">
              <a:lnSpc>
                <a:spcPct val="100000"/>
              </a:lnSpc>
              <a:spcBef>
                <a:spcPts val="20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8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details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whose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starts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</a:p>
          <a:p>
            <a:pPr marL="0" indent="457149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</a:p>
          <a:p>
            <a:pPr marL="0" indent="228600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-15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„1%1‟</a:t>
            </a:r>
          </a:p>
          <a:p>
            <a:pPr>
              <a:lnSpc>
                <a:spcPts val="1130"/>
              </a:lnSpc>
            </a:pPr>
            <a:endParaRPr lang="en-US" dirty="0"/>
          </a:p>
          <a:p>
            <a:pPr marL="0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sensitive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available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sensitive,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oracle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available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sensitive)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Box 190"/>
          <p:cNvSpPr txBox="1"/>
          <p:nvPr/>
        </p:nvSpPr>
        <p:spPr>
          <a:xfrm>
            <a:off x="914704" y="912404"/>
            <a:ext cx="5913184" cy="82095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Queries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using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‘Update’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with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‘where’</a:t>
            </a:r>
            <a:r>
              <a:rPr lang="en-US" altLang="zh-CN" sz="14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clause:</a:t>
            </a:r>
          </a:p>
          <a:p>
            <a:pPr>
              <a:lnSpc>
                <a:spcPts val="1144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4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deptno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„10‟whose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id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101,</a:t>
            </a:r>
            <a:r>
              <a:rPr lang="en-US" altLang="zh-CN" sz="1400" spc="-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103,</a:t>
            </a:r>
          </a:p>
          <a:p>
            <a:pPr marL="0" indent="457149">
              <a:lnSpc>
                <a:spcPct val="100000"/>
              </a:lnSpc>
              <a:spcBef>
                <a:spcPts val="154"/>
              </a:spcBef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107</a:t>
            </a:r>
          </a:p>
          <a:p>
            <a:pPr marL="0" indent="228600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DEPTNO=10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EID=101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EID=103</a:t>
            </a:r>
            <a:r>
              <a:rPr lang="en-US" altLang="zh-CN" sz="1400" spc="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</a:p>
          <a:p>
            <a:pPr marL="0" indent="457149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EI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D=107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14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deptno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20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does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deptno</a:t>
            </a:r>
          </a:p>
          <a:p>
            <a:pPr marL="0" indent="228600">
              <a:lnSpc>
                <a:spcPts val="172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DEPTNO=20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NULL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69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salaries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12000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working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under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their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starts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spc="-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„r‟</a:t>
            </a:r>
          </a:p>
          <a:p>
            <a:pPr marL="0" indent="228600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SAL=12000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DEPTNO=10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</a:p>
          <a:p>
            <a:pPr marL="0" indent="457149">
              <a:lnSpc>
                <a:spcPct val="100000"/>
              </a:lnSpc>
              <a:spcBef>
                <a:spcPts val="234"/>
              </a:spcBef>
            </a:pP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ea typeface="Times New Roman"/>
              </a:rPr>
              <a:t>„R%‟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1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4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deptno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30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whose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second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letter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„a‟</a:t>
            </a:r>
          </a:p>
          <a:p>
            <a:pPr marL="0" indent="228600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-3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EMPSET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DEPTNO=30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ENAME=‟-A%‟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69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salaries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8500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working</a:t>
            </a:r>
          </a:p>
          <a:p>
            <a:pPr marL="0" indent="457149">
              <a:lnSpc>
                <a:spcPct val="100000"/>
              </a:lnSpc>
              <a:spcBef>
                <a:spcPts val="17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under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20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deptno</a:t>
            </a:r>
          </a:p>
          <a:p>
            <a:pPr marL="0" indent="228600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SAL=8500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DEPTNO=10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spc="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DEPTNO=20</a:t>
            </a:r>
          </a:p>
          <a:p>
            <a:pPr marL="0" indent="2457018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(O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R)</a:t>
            </a:r>
          </a:p>
          <a:p>
            <a:pPr marL="0" indent="228600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1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EMPSET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SAL=8500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DEPTNO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IN(10,20)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69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8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salaries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8500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working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under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20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deptno</a:t>
            </a:r>
          </a:p>
          <a:p>
            <a:pPr marL="0" indent="228600">
              <a:lnSpc>
                <a:spcPts val="172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SAL=8500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(10,20)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6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salaries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15000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ends</a:t>
            </a:r>
          </a:p>
          <a:p>
            <a:pPr marL="0" indent="457149">
              <a:lnSpc>
                <a:spcPct val="100000"/>
              </a:lnSpc>
              <a:spcBef>
                <a:spcPts val="19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„m‟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&amp;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working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under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deptno</a:t>
            </a:r>
          </a:p>
          <a:p>
            <a:pPr marL="0" indent="228600">
              <a:lnSpc>
                <a:spcPts val="172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-25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EMPSET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SAL=15000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ENAME=‟%M‟</a:t>
            </a:r>
            <a:r>
              <a:rPr lang="en-US" altLang="zh-CN" sz="140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</a:p>
          <a:p>
            <a:pPr marL="0" indent="457149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DEP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TNO=10</a:t>
            </a:r>
          </a:p>
          <a:p>
            <a:pPr>
              <a:lnSpc>
                <a:spcPts val="1925"/>
              </a:lnSpc>
            </a:pPr>
            <a:endParaRPr lang="en-US" dirty="0"/>
          </a:p>
          <a:p>
            <a:pPr marL="457149" indent="-228549" hangingPunct="0">
              <a:lnSpc>
                <a:spcPct val="110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9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salaries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5500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whose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starts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Box 191"/>
          <p:cNvSpPr txBox="1"/>
          <p:nvPr/>
        </p:nvSpPr>
        <p:spPr>
          <a:xfrm>
            <a:off x="914704" y="909124"/>
            <a:ext cx="5932058" cy="69258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228600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-2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EMPSET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SAL=5500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„%4‟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DEPTNO</a:t>
            </a:r>
          </a:p>
          <a:p>
            <a:pPr marL="0" indent="457149">
              <a:lnSpc>
                <a:spcPct val="100000"/>
              </a:lnSpc>
              <a:spcBef>
                <a:spcPts val="234"/>
              </a:spcBef>
            </a:pP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ea typeface="Times New Roman"/>
              </a:rPr>
              <a:t>„2%‟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salaries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25000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whose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less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10000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letter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„a‟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working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under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20</a:t>
            </a:r>
          </a:p>
          <a:p>
            <a:pPr marL="0" indent="228600">
              <a:lnSpc>
                <a:spcPts val="172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SAL=25000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SAL&lt;10000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</a:p>
          <a:p>
            <a:pPr marL="0" indent="457149">
              <a:lnSpc>
                <a:spcPct val="100000"/>
              </a:lnSpc>
              <a:spcBef>
                <a:spcPts val="22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„%A%‟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DEPTNO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(20)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1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salaries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10000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whose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</a:p>
          <a:p>
            <a:pPr marL="0" indent="457149">
              <a:lnSpc>
                <a:spcPct val="100000"/>
              </a:lnSpc>
              <a:spcBef>
                <a:spcPts val="17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greater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equal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8500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equal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9000</a:t>
            </a:r>
          </a:p>
          <a:p>
            <a:pPr marL="0" indent="228600">
              <a:lnSpc>
                <a:spcPts val="172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SAL=10000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BETWEEN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8500</a:t>
            </a:r>
            <a:r>
              <a:rPr lang="en-US" altLang="zh-CN" sz="1400" spc="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</a:p>
          <a:p>
            <a:pPr marL="0" indent="457149">
              <a:lnSpc>
                <a:spcPct val="100000"/>
              </a:lnSpc>
              <a:spcBef>
                <a:spcPts val="209"/>
              </a:spcBef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90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00</a:t>
            </a:r>
          </a:p>
          <a:p>
            <a:pPr>
              <a:lnSpc>
                <a:spcPts val="1019"/>
              </a:lnSpc>
            </a:pPr>
            <a:endParaRPr lang="en-US" dirty="0"/>
          </a:p>
          <a:p>
            <a:pPr marL="0" hangingPunct="0">
              <a:lnSpc>
                <a:spcPct val="111666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Set</a:t>
            </a:r>
            <a:r>
              <a:rPr lang="en-US" altLang="zh-CN" sz="1800" b="1" u="sng" spc="-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Operators:</a:t>
            </a:r>
            <a:r>
              <a:rPr lang="en-US" altLang="zh-CN" sz="180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operators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combine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results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more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queries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single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result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provides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operators.</a:t>
            </a:r>
          </a:p>
          <a:p>
            <a:pPr>
              <a:lnSpc>
                <a:spcPts val="1094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73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UNION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spc="-8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9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spc="-65" dirty="0">
                <a:solidFill>
                  <a:srgbClr val="000000"/>
                </a:solidFill>
                <a:latin typeface="Times New Roman"/>
                <a:ea typeface="Times New Roman"/>
              </a:rPr>
              <a:t>UNION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65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72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INTERSECT</a:t>
            </a:r>
          </a:p>
          <a:p>
            <a:pPr marL="0" indent="228600">
              <a:lnSpc>
                <a:spcPct val="10000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72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EXCEPT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combine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results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queries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below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basic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rules.</a:t>
            </a:r>
          </a:p>
          <a:p>
            <a:pPr>
              <a:lnSpc>
                <a:spcPts val="1614"/>
              </a:lnSpc>
            </a:pPr>
            <a:endParaRPr lang="en-US" dirty="0"/>
          </a:p>
          <a:p>
            <a:pPr marL="0" indent="228600">
              <a:lnSpc>
                <a:spcPts val="1589"/>
              </a:lnSpc>
              <a:tabLst>
                <a:tab pos="457149" algn="l"/>
              </a:tabLst>
            </a:pPr>
            <a:r>
              <a:rPr lang="en-US" altLang="zh-CN" sz="1000" spc="-5" dirty="0">
                <a:solidFill>
                  <a:srgbClr val="000000"/>
                </a:solidFill>
                <a:latin typeface="Symbol"/>
                <a:ea typeface="Symbol"/>
              </a:rPr>
              <a:t>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number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order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queries.</a:t>
            </a:r>
          </a:p>
          <a:p>
            <a:pPr marL="0" indent="228600">
              <a:lnSpc>
                <a:spcPts val="1589"/>
              </a:lnSpc>
              <a:tabLst>
                <a:tab pos="457149" algn="l"/>
              </a:tabLst>
            </a:pPr>
            <a:r>
              <a:rPr lang="en-US" altLang="zh-CN" sz="1000" spc="-5" dirty="0">
                <a:solidFill>
                  <a:srgbClr val="000000"/>
                </a:solidFill>
                <a:latin typeface="Symbol"/>
                <a:ea typeface="Symbol"/>
              </a:rPr>
              <a:t>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compatible(Well-Matched)</a:t>
            </a:r>
          </a:p>
          <a:p>
            <a:pPr>
              <a:lnSpc>
                <a:spcPts val="135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Example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</a:p>
          <a:p>
            <a:pPr>
              <a:lnSpc>
                <a:spcPts val="1400"/>
              </a:lnSpc>
            </a:pPr>
            <a:endParaRPr lang="en-US" dirty="0"/>
          </a:p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EMP_HYD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(50),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MONE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Y)</a:t>
            </a:r>
          </a:p>
          <a:p>
            <a:pPr>
              <a:lnSpc>
                <a:spcPts val="158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EMP_CHENNAI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(50))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Box 192"/>
          <p:cNvSpPr txBox="1"/>
          <p:nvPr/>
        </p:nvSpPr>
        <p:spPr>
          <a:xfrm>
            <a:off x="914704" y="907008"/>
            <a:ext cx="1010863" cy="5367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EMP</a:t>
            </a:r>
            <a:r>
              <a:rPr lang="en-US" altLang="zh-CN" sz="12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_HYD</a:t>
            </a:r>
          </a:p>
          <a:p>
            <a:pPr>
              <a:lnSpc>
                <a:spcPts val="1344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200" spc="-5" dirty="0">
                <a:solidFill>
                  <a:srgbClr val="000000"/>
                </a:solidFill>
                <a:latin typeface="Times New Roman"/>
                <a:ea typeface="Times New Roman"/>
              </a:rPr>
              <a:t>EID	</a:t>
            </a:r>
            <a:r>
              <a:rPr lang="en-US" altLang="zh-CN" sz="1200" spc="-1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</a:p>
        </p:txBody>
      </p:sp>
      <p:sp>
        <p:nvSpPr>
          <p:cNvPr id="193" name="TextBox 193"/>
          <p:cNvSpPr txBox="1"/>
          <p:nvPr/>
        </p:nvSpPr>
        <p:spPr>
          <a:xfrm>
            <a:off x="2286254" y="1260830"/>
            <a:ext cx="620616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-1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ea typeface="Times New Roman"/>
              </a:rPr>
              <a:t>ARY</a:t>
            </a:r>
          </a:p>
        </p:txBody>
      </p:sp>
      <p:sp>
        <p:nvSpPr>
          <p:cNvPr id="194" name="TextBox 194"/>
          <p:cNvSpPr txBox="1"/>
          <p:nvPr/>
        </p:nvSpPr>
        <p:spPr>
          <a:xfrm>
            <a:off x="914704" y="1612874"/>
            <a:ext cx="2070044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457149" algn="l"/>
                <a:tab pos="1371549" algn="l"/>
              </a:tabLst>
            </a:pPr>
            <a:r>
              <a:rPr lang="en-US" altLang="zh-CN" sz="1200" spc="-5" dirty="0">
                <a:solidFill>
                  <a:srgbClr val="000000"/>
                </a:solidFill>
                <a:latin typeface="Times New Roman"/>
                <a:ea typeface="Times New Roman"/>
              </a:rPr>
              <a:t>101	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ea typeface="Times New Roman"/>
              </a:rPr>
              <a:t>SAI	</a:t>
            </a:r>
            <a:r>
              <a:rPr lang="en-US" altLang="zh-CN" sz="1200" spc="-10" dirty="0">
                <a:solidFill>
                  <a:srgbClr val="000000"/>
                </a:solidFill>
                <a:latin typeface="Times New Roman"/>
                <a:ea typeface="Times New Roman"/>
              </a:rPr>
              <a:t>25000.00</a:t>
            </a:r>
          </a:p>
        </p:txBody>
      </p:sp>
      <p:sp>
        <p:nvSpPr>
          <p:cNvPr id="195" name="TextBox 195"/>
          <p:cNvSpPr txBox="1"/>
          <p:nvPr/>
        </p:nvSpPr>
        <p:spPr>
          <a:xfrm>
            <a:off x="914704" y="1966442"/>
            <a:ext cx="2070044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457149" algn="l"/>
                <a:tab pos="1371549" algn="l"/>
              </a:tabLst>
            </a:pPr>
            <a:r>
              <a:rPr lang="en-US" altLang="zh-CN" sz="1200" spc="-5" dirty="0">
                <a:solidFill>
                  <a:srgbClr val="000000"/>
                </a:solidFill>
                <a:latin typeface="Times New Roman"/>
                <a:ea typeface="Times New Roman"/>
              </a:rPr>
              <a:t>102	SIDDHU	</a:t>
            </a:r>
            <a:r>
              <a:rPr lang="en-US" altLang="zh-CN" sz="1200" spc="-10" dirty="0">
                <a:solidFill>
                  <a:srgbClr val="000000"/>
                </a:solidFill>
                <a:latin typeface="Times New Roman"/>
                <a:ea typeface="Times New Roman"/>
              </a:rPr>
              <a:t>32000.00</a:t>
            </a:r>
          </a:p>
        </p:txBody>
      </p:sp>
      <p:sp>
        <p:nvSpPr>
          <p:cNvPr id="196" name="TextBox 196"/>
          <p:cNvSpPr txBox="1"/>
          <p:nvPr/>
        </p:nvSpPr>
        <p:spPr>
          <a:xfrm>
            <a:off x="914704" y="2320010"/>
            <a:ext cx="2070044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457149" algn="l"/>
                <a:tab pos="1371549" algn="l"/>
              </a:tabLst>
            </a:pPr>
            <a:r>
              <a:rPr lang="en-US" altLang="zh-CN" sz="1200" spc="-5" dirty="0">
                <a:solidFill>
                  <a:srgbClr val="000000"/>
                </a:solidFill>
                <a:latin typeface="Times New Roman"/>
                <a:ea typeface="Times New Roman"/>
              </a:rPr>
              <a:t>103	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ea typeface="Times New Roman"/>
              </a:rPr>
              <a:t>KAMAL	</a:t>
            </a:r>
            <a:r>
              <a:rPr lang="en-US" altLang="zh-CN" sz="1200" spc="-10" dirty="0">
                <a:solidFill>
                  <a:srgbClr val="000000"/>
                </a:solidFill>
                <a:latin typeface="Times New Roman"/>
                <a:ea typeface="Times New Roman"/>
              </a:rPr>
              <a:t>42000.00</a:t>
            </a:r>
          </a:p>
        </p:txBody>
      </p:sp>
      <p:sp>
        <p:nvSpPr>
          <p:cNvPr id="197" name="TextBox 197"/>
          <p:cNvSpPr txBox="1"/>
          <p:nvPr/>
        </p:nvSpPr>
        <p:spPr>
          <a:xfrm>
            <a:off x="914704" y="2672054"/>
            <a:ext cx="2070044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457149" algn="l"/>
                <a:tab pos="1371549" algn="l"/>
              </a:tabLst>
            </a:pPr>
            <a:r>
              <a:rPr lang="en-US" altLang="zh-CN" sz="1200" spc="-5" dirty="0">
                <a:solidFill>
                  <a:srgbClr val="000000"/>
                </a:solidFill>
                <a:latin typeface="Times New Roman"/>
                <a:ea typeface="Times New Roman"/>
              </a:rPr>
              <a:t>104	NEETHU	</a:t>
            </a:r>
            <a:r>
              <a:rPr lang="en-US" altLang="zh-CN" sz="1200" spc="-10" dirty="0">
                <a:solidFill>
                  <a:srgbClr val="000000"/>
                </a:solidFill>
                <a:latin typeface="Times New Roman"/>
                <a:ea typeface="Times New Roman"/>
              </a:rPr>
              <a:t>63000.00</a:t>
            </a:r>
          </a:p>
        </p:txBody>
      </p:sp>
      <p:sp>
        <p:nvSpPr>
          <p:cNvPr id="198" name="TextBox 198"/>
          <p:cNvSpPr txBox="1"/>
          <p:nvPr/>
        </p:nvSpPr>
        <p:spPr>
          <a:xfrm>
            <a:off x="914704" y="3025622"/>
            <a:ext cx="5979414" cy="60641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-5" dirty="0">
                <a:solidFill>
                  <a:srgbClr val="000000"/>
                </a:solidFill>
                <a:latin typeface="Times New Roman"/>
                <a:ea typeface="Times New Roman"/>
              </a:rPr>
              <a:t>--------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ea typeface="Times New Roman"/>
              </a:rPr>
              <a:t>----------------------------------------</a:t>
            </a:r>
          </a:p>
          <a:p>
            <a:pPr>
              <a:lnSpc>
                <a:spcPts val="134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200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</a:t>
            </a:r>
            <a:r>
              <a:rPr lang="en-US" altLang="zh-CN" sz="12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MP_CHENNAI</a:t>
            </a:r>
          </a:p>
          <a:p>
            <a:pPr>
              <a:lnSpc>
                <a:spcPts val="1330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200" spc="-5" dirty="0">
                <a:solidFill>
                  <a:srgbClr val="000000"/>
                </a:solidFill>
                <a:latin typeface="Times New Roman"/>
                <a:ea typeface="Times New Roman"/>
              </a:rPr>
              <a:t>EID	</a:t>
            </a:r>
            <a:r>
              <a:rPr lang="en-US" altLang="zh-CN" sz="1200" spc="-1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</a:p>
          <a:p>
            <a:pPr>
              <a:lnSpc>
                <a:spcPts val="133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200" spc="-5" dirty="0">
                <a:solidFill>
                  <a:srgbClr val="000000"/>
                </a:solidFill>
                <a:latin typeface="Times New Roman"/>
                <a:ea typeface="Times New Roman"/>
              </a:rPr>
              <a:t>101	</a:t>
            </a:r>
            <a:r>
              <a:rPr lang="en-US" altLang="zh-CN" sz="1200" spc="-10" dirty="0">
                <a:solidFill>
                  <a:srgbClr val="000000"/>
                </a:solidFill>
                <a:latin typeface="Times New Roman"/>
                <a:ea typeface="Times New Roman"/>
              </a:rPr>
              <a:t>SAI</a:t>
            </a:r>
          </a:p>
          <a:p>
            <a:pPr>
              <a:lnSpc>
                <a:spcPts val="133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200" spc="-5" dirty="0">
                <a:solidFill>
                  <a:srgbClr val="000000"/>
                </a:solidFill>
                <a:latin typeface="Times New Roman"/>
                <a:ea typeface="Times New Roman"/>
              </a:rPr>
              <a:t>105	</a:t>
            </a:r>
            <a:r>
              <a:rPr lang="en-US" altLang="zh-CN" sz="1200" spc="-10" dirty="0">
                <a:solidFill>
                  <a:srgbClr val="000000"/>
                </a:solidFill>
                <a:latin typeface="Times New Roman"/>
                <a:ea typeface="Times New Roman"/>
              </a:rPr>
              <a:t>POOJA</a:t>
            </a:r>
          </a:p>
          <a:p>
            <a:pPr>
              <a:lnSpc>
                <a:spcPts val="1330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200" spc="-5" dirty="0">
                <a:solidFill>
                  <a:srgbClr val="000000"/>
                </a:solidFill>
                <a:latin typeface="Times New Roman"/>
                <a:ea typeface="Times New Roman"/>
              </a:rPr>
              <a:t>106	</a:t>
            </a:r>
            <a:r>
              <a:rPr lang="en-US" altLang="zh-CN" sz="1200" spc="-10" dirty="0">
                <a:solidFill>
                  <a:srgbClr val="000000"/>
                </a:solidFill>
                <a:latin typeface="Times New Roman"/>
                <a:ea typeface="Times New Roman"/>
              </a:rPr>
              <a:t>JASMIN</a:t>
            </a:r>
          </a:p>
          <a:p>
            <a:pPr>
              <a:lnSpc>
                <a:spcPts val="1210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UNION: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combines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result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single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result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includes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belongs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queries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except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duplicate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values.</a:t>
            </a:r>
          </a:p>
          <a:p>
            <a:pPr>
              <a:lnSpc>
                <a:spcPts val="1075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501345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EMP_HYD</a:t>
            </a:r>
          </a:p>
          <a:p>
            <a:pPr>
              <a:lnSpc>
                <a:spcPts val="118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nion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457149" hangingPunct="0">
              <a:lnSpc>
                <a:spcPct val="1683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EMP_CHENNAI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b="1" u="sng" spc="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</a:t>
            </a:r>
            <a:r>
              <a:rPr lang="en-US" altLang="zh-CN" sz="1400" b="1" u="sng" spc="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UTPUT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200" u="sng" spc="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ENAME</a:t>
            </a:r>
          </a:p>
          <a:p>
            <a:pPr marL="914349" hangingPunct="0">
              <a:lnSpc>
                <a:spcPct val="179583"/>
              </a:lnSpc>
            </a:pPr>
            <a:r>
              <a:rPr lang="en-US" altLang="zh-CN" sz="1200" spc="-5" dirty="0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ea typeface="Times New Roman"/>
              </a:rPr>
              <a:t>ASMIN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200" spc="5" dirty="0">
                <a:solidFill>
                  <a:srgbClr val="000000"/>
                </a:solidFill>
                <a:latin typeface="Times New Roman"/>
                <a:ea typeface="Times New Roman"/>
              </a:rPr>
              <a:t>KAM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ea typeface="Times New Roman"/>
              </a:rPr>
              <a:t>AL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200" spc="-15" dirty="0">
                <a:solidFill>
                  <a:srgbClr val="000000"/>
                </a:solidFill>
                <a:latin typeface="Times New Roman"/>
                <a:ea typeface="Times New Roman"/>
              </a:rPr>
              <a:t>NEE</a:t>
            </a:r>
            <a:r>
              <a:rPr lang="en-US" altLang="zh-CN" sz="1200" spc="-5" dirty="0">
                <a:solidFill>
                  <a:srgbClr val="000000"/>
                </a:solidFill>
                <a:latin typeface="Times New Roman"/>
                <a:ea typeface="Times New Roman"/>
              </a:rPr>
              <a:t>THU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200" spc="10" dirty="0">
                <a:solidFill>
                  <a:srgbClr val="000000"/>
                </a:solidFill>
                <a:latin typeface="Times New Roman"/>
                <a:ea typeface="Times New Roman"/>
              </a:rPr>
              <a:t>PO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ea typeface="Times New Roman"/>
              </a:rPr>
              <a:t>OJA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200" spc="5" dirty="0">
                <a:solidFill>
                  <a:srgbClr val="000000"/>
                </a:solidFill>
                <a:latin typeface="Times New Roman"/>
                <a:ea typeface="Times New Roman"/>
              </a:rPr>
              <a:t>SAI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200" spc="-5" dirty="0">
                <a:solidFill>
                  <a:srgbClr val="000000"/>
                </a:solidFill>
                <a:latin typeface="Times New Roman"/>
                <a:ea typeface="Times New Roman"/>
              </a:rPr>
              <a:t>SIDD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ea typeface="Times New Roman"/>
              </a:rPr>
              <a:t>HU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Box 199"/>
          <p:cNvSpPr txBox="1"/>
          <p:nvPr/>
        </p:nvSpPr>
        <p:spPr>
          <a:xfrm>
            <a:off x="914704" y="829759"/>
            <a:ext cx="4479332" cy="13775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69583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UNION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ALL: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duplicate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EMP_HYD</a:t>
            </a:r>
          </a:p>
          <a:p>
            <a:pPr>
              <a:lnSpc>
                <a:spcPts val="609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EMP_CHENNAI</a:t>
            </a:r>
          </a:p>
        </p:txBody>
      </p:sp>
      <p:sp>
        <p:nvSpPr>
          <p:cNvPr id="200" name="TextBox 200"/>
          <p:cNvSpPr txBox="1"/>
          <p:nvPr/>
        </p:nvSpPr>
        <p:spPr>
          <a:xfrm>
            <a:off x="914704" y="2352235"/>
            <a:ext cx="802880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OUTPUT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</a:p>
        </p:txBody>
      </p:sp>
      <p:sp>
        <p:nvSpPr>
          <p:cNvPr id="201" name="TextBox 201"/>
          <p:cNvSpPr txBox="1"/>
          <p:nvPr/>
        </p:nvSpPr>
        <p:spPr>
          <a:xfrm>
            <a:off x="2286254" y="2300960"/>
            <a:ext cx="659631" cy="26445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80416"/>
              </a:lnSpc>
            </a:pPr>
            <a:r>
              <a:rPr lang="en-US" altLang="zh-CN" sz="1200" u="sng" spc="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</a:t>
            </a:r>
            <a:r>
              <a:rPr lang="en-US" altLang="zh-CN" sz="12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NAME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5" dirty="0">
                <a:solidFill>
                  <a:srgbClr val="000000"/>
                </a:solidFill>
                <a:latin typeface="Times New Roman"/>
                <a:ea typeface="Times New Roman"/>
              </a:rPr>
              <a:t>SAI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-10" dirty="0">
                <a:solidFill>
                  <a:srgbClr val="000000"/>
                </a:solidFill>
                <a:latin typeface="Times New Roman"/>
                <a:ea typeface="Times New Roman"/>
              </a:rPr>
              <a:t>SID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ea typeface="Times New Roman"/>
              </a:rPr>
              <a:t>DHU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5" dirty="0">
                <a:solidFill>
                  <a:srgbClr val="000000"/>
                </a:solidFill>
                <a:latin typeface="Times New Roman"/>
                <a:ea typeface="Times New Roman"/>
              </a:rPr>
              <a:t>KAM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ea typeface="Times New Roman"/>
              </a:rPr>
              <a:t>AL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-15" dirty="0">
                <a:solidFill>
                  <a:srgbClr val="000000"/>
                </a:solidFill>
                <a:latin typeface="Times New Roman"/>
                <a:ea typeface="Times New Roman"/>
              </a:rPr>
              <a:t>NEE</a:t>
            </a:r>
            <a:r>
              <a:rPr lang="en-US" altLang="zh-CN" sz="1200" spc="-5" dirty="0">
                <a:solidFill>
                  <a:srgbClr val="000000"/>
                </a:solidFill>
                <a:latin typeface="Times New Roman"/>
                <a:ea typeface="Times New Roman"/>
              </a:rPr>
              <a:t>THU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5" dirty="0">
                <a:solidFill>
                  <a:srgbClr val="000000"/>
                </a:solidFill>
                <a:latin typeface="Times New Roman"/>
                <a:ea typeface="Times New Roman"/>
              </a:rPr>
              <a:t>SAI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0" dirty="0">
                <a:solidFill>
                  <a:srgbClr val="000000"/>
                </a:solidFill>
                <a:latin typeface="Times New Roman"/>
                <a:ea typeface="Times New Roman"/>
              </a:rPr>
              <a:t>PO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ea typeface="Times New Roman"/>
              </a:rPr>
              <a:t>OJA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-10" dirty="0">
                <a:solidFill>
                  <a:srgbClr val="000000"/>
                </a:solidFill>
                <a:latin typeface="Times New Roman"/>
                <a:ea typeface="Times New Roman"/>
              </a:rPr>
              <a:t>JAS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ea typeface="Times New Roman"/>
              </a:rPr>
              <a:t>MIN</a:t>
            </a:r>
          </a:p>
        </p:txBody>
      </p:sp>
      <p:sp>
        <p:nvSpPr>
          <p:cNvPr id="202" name="TextBox 202"/>
          <p:cNvSpPr txBox="1"/>
          <p:nvPr/>
        </p:nvSpPr>
        <p:spPr>
          <a:xfrm>
            <a:off x="914704" y="5330638"/>
            <a:ext cx="5755071" cy="15514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INTERSECT: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INTERSECT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distinct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left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right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tables.</a:t>
            </a:r>
          </a:p>
          <a:p>
            <a:pPr>
              <a:lnSpc>
                <a:spcPts val="1075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EMP_HYD</a:t>
            </a:r>
          </a:p>
          <a:p>
            <a:pPr>
              <a:lnSpc>
                <a:spcPts val="118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ntersect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EMP_CHENNAI</a:t>
            </a:r>
          </a:p>
        </p:txBody>
      </p:sp>
      <p:sp>
        <p:nvSpPr>
          <p:cNvPr id="203" name="TextBox 203"/>
          <p:cNvSpPr txBox="1"/>
          <p:nvPr/>
        </p:nvSpPr>
        <p:spPr>
          <a:xfrm>
            <a:off x="914704" y="7026978"/>
            <a:ext cx="917180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OUTPUT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</a:p>
        </p:txBody>
      </p:sp>
      <p:sp>
        <p:nvSpPr>
          <p:cNvPr id="204" name="TextBox 204"/>
          <p:cNvSpPr txBox="1"/>
          <p:nvPr/>
        </p:nvSpPr>
        <p:spPr>
          <a:xfrm>
            <a:off x="2286254" y="7029920"/>
            <a:ext cx="644438" cy="5764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ENA</a:t>
            </a:r>
            <a:r>
              <a:rPr lang="en-US" altLang="zh-CN" sz="14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ME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SAI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Box 205"/>
          <p:cNvSpPr txBox="1"/>
          <p:nvPr/>
        </p:nvSpPr>
        <p:spPr>
          <a:xfrm>
            <a:off x="914704" y="890590"/>
            <a:ext cx="5687248" cy="15514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EXCEPT: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EXCEPT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distinct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left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found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right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query.</a:t>
            </a:r>
          </a:p>
          <a:p>
            <a:pPr>
              <a:lnSpc>
                <a:spcPts val="1075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EMP_HYD</a:t>
            </a:r>
          </a:p>
          <a:p>
            <a:pPr>
              <a:lnSpc>
                <a:spcPts val="1194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xcept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EMP_CHENNAI</a:t>
            </a:r>
          </a:p>
        </p:txBody>
      </p:sp>
      <p:sp>
        <p:nvSpPr>
          <p:cNvPr id="206" name="TextBox 206"/>
          <p:cNvSpPr txBox="1"/>
          <p:nvPr/>
        </p:nvSpPr>
        <p:spPr>
          <a:xfrm>
            <a:off x="1371853" y="2588455"/>
            <a:ext cx="802930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OUTPUT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</a:p>
        </p:txBody>
      </p:sp>
      <p:sp>
        <p:nvSpPr>
          <p:cNvPr id="207" name="TextBox 207"/>
          <p:cNvSpPr txBox="1"/>
          <p:nvPr/>
        </p:nvSpPr>
        <p:spPr>
          <a:xfrm>
            <a:off x="2743835" y="2517483"/>
            <a:ext cx="767877" cy="14489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69583"/>
              </a:lnSpc>
            </a:pPr>
            <a:r>
              <a:rPr lang="en-US" altLang="zh-CN" sz="1400" u="sng" spc="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EN</a:t>
            </a:r>
            <a:r>
              <a:rPr lang="en-US" altLang="zh-CN" sz="14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KA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NEE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THU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SID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DHU</a:t>
            </a:r>
          </a:p>
        </p:txBody>
      </p:sp>
      <p:sp>
        <p:nvSpPr>
          <p:cNvPr id="208" name="TextBox 208"/>
          <p:cNvSpPr txBox="1"/>
          <p:nvPr/>
        </p:nvSpPr>
        <p:spPr>
          <a:xfrm>
            <a:off x="914704" y="4036636"/>
            <a:ext cx="3130913" cy="9402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EMP_CHENNAI</a:t>
            </a:r>
          </a:p>
          <a:p>
            <a:pPr>
              <a:lnSpc>
                <a:spcPts val="1194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xcept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EMP_HYD</a:t>
            </a:r>
          </a:p>
        </p:txBody>
      </p:sp>
      <p:sp>
        <p:nvSpPr>
          <p:cNvPr id="209" name="TextBox 209"/>
          <p:cNvSpPr txBox="1"/>
          <p:nvPr/>
        </p:nvSpPr>
        <p:spPr>
          <a:xfrm>
            <a:off x="1371853" y="5123248"/>
            <a:ext cx="802930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OUTPUT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</a:p>
        </p:txBody>
      </p:sp>
      <p:sp>
        <p:nvSpPr>
          <p:cNvPr id="210" name="TextBox 210"/>
          <p:cNvSpPr txBox="1"/>
          <p:nvPr/>
        </p:nvSpPr>
        <p:spPr>
          <a:xfrm>
            <a:off x="2743835" y="5051387"/>
            <a:ext cx="700833" cy="10862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69583"/>
              </a:lnSpc>
            </a:pPr>
            <a:r>
              <a:rPr lang="en-US" altLang="zh-CN" sz="1400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ENA</a:t>
            </a:r>
            <a:r>
              <a:rPr lang="en-US" altLang="zh-CN" sz="14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JA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SMIN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PO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OJA</a:t>
            </a:r>
          </a:p>
        </p:txBody>
      </p:sp>
      <p:sp>
        <p:nvSpPr>
          <p:cNvPr id="211" name="TextBox 211"/>
          <p:cNvSpPr txBox="1"/>
          <p:nvPr/>
        </p:nvSpPr>
        <p:spPr>
          <a:xfrm>
            <a:off x="914704" y="6516658"/>
            <a:ext cx="5969657" cy="24695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1249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CLAUSES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SQL: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add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adding</a:t>
            </a:r>
            <a:r>
              <a:rPr lang="en-US" altLang="zh-CN" sz="1400" spc="-1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additional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filtering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sorting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grouping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clauses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clauses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are,</a:t>
            </a:r>
          </a:p>
          <a:p>
            <a:pPr>
              <a:lnSpc>
                <a:spcPts val="109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WHERE: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filter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restricts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>
              <a:lnSpc>
                <a:spcPts val="116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SAL=10000</a:t>
            </a:r>
          </a:p>
          <a:p>
            <a:pPr>
              <a:lnSpc>
                <a:spcPts val="1019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ORDER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BY: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order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clause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sort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arrange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6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ascending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descending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order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default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order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600" spc="-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clause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arrange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sort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ascending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order</a:t>
            </a:r>
            <a:r>
              <a:rPr lang="en-US" altLang="zh-CN" sz="16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only.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Box 212"/>
          <p:cNvSpPr txBox="1"/>
          <p:nvPr/>
        </p:nvSpPr>
        <p:spPr>
          <a:xfrm>
            <a:off x="914704" y="906499"/>
            <a:ext cx="5965690" cy="79416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228600">
              <a:lnSpc>
                <a:spcPct val="10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6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6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want</a:t>
            </a:r>
            <a:r>
              <a:rPr lang="en-US" altLang="zh-CN" sz="16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6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arrange</a:t>
            </a:r>
            <a:r>
              <a:rPr lang="en-US" altLang="zh-CN" sz="1600" spc="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6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6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6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600" spc="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descending</a:t>
            </a:r>
            <a:r>
              <a:rPr lang="en-US" altLang="zh-CN" sz="16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order</a:t>
            </a:r>
            <a:r>
              <a:rPr lang="en-US" altLang="zh-CN" sz="16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6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</a:p>
          <a:p>
            <a:pPr marL="0" indent="457149">
              <a:lnSpc>
                <a:spcPct val="100000"/>
              </a:lnSpc>
              <a:spcBef>
                <a:spcPts val="18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use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Desc</a:t>
            </a:r>
            <a:r>
              <a:rPr lang="en-US" altLang="zh-CN" sz="16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keyword.</a:t>
            </a:r>
          </a:p>
          <a:p>
            <a:pPr marL="0" indent="228600">
              <a:lnSpc>
                <a:spcPct val="100000"/>
              </a:lnSpc>
              <a:spcBef>
                <a:spcPts val="200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600" spc="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6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apply</a:t>
            </a:r>
            <a:r>
              <a:rPr lang="en-US" altLang="zh-CN" sz="16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order</a:t>
            </a:r>
            <a:r>
              <a:rPr lang="en-US" altLang="zh-CN" sz="1600" spc="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6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clause</a:t>
            </a:r>
            <a:r>
              <a:rPr lang="en-US" altLang="zh-CN" sz="16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6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integer</a:t>
            </a:r>
            <a:r>
              <a:rPr lang="en-US" altLang="zh-CN" sz="1600" spc="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6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string</a:t>
            </a:r>
            <a:r>
              <a:rPr lang="en-US" altLang="zh-CN" sz="16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columns.</a:t>
            </a:r>
          </a:p>
          <a:p>
            <a:pPr>
              <a:lnSpc>
                <a:spcPts val="116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ORDER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Ascending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Order)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ORDER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DESC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Descending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Order)</a:t>
            </a:r>
          </a:p>
          <a:p>
            <a:pPr>
              <a:lnSpc>
                <a:spcPts val="1085"/>
              </a:lnSpc>
            </a:pPr>
            <a:endParaRPr lang="en-US" dirty="0"/>
          </a:p>
          <a:p>
            <a:pPr marL="0" hangingPunct="0">
              <a:lnSpc>
                <a:spcPct val="110416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TOP</a:t>
            </a:r>
            <a:r>
              <a:rPr lang="en-US" altLang="zh-CN" sz="16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N</a:t>
            </a:r>
            <a:r>
              <a:rPr lang="en-US" altLang="zh-CN" sz="16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CLAUSE:</a:t>
            </a:r>
            <a:r>
              <a:rPr lang="en-US" altLang="zh-CN" sz="16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clause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top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number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able.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</a:p>
          <a:p>
            <a:pPr>
              <a:lnSpc>
                <a:spcPts val="118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TOP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ENAME=‟SAI‟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</a:p>
          <a:p>
            <a:pPr>
              <a:lnSpc>
                <a:spcPts val="1044"/>
              </a:lnSpc>
            </a:pPr>
            <a:endParaRPr lang="en-US" dirty="0"/>
          </a:p>
          <a:p>
            <a:pPr marL="0" hangingPunct="0">
              <a:lnSpc>
                <a:spcPct val="110833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GROUP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BY: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Group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arrange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similar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groups.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apply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group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group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functions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co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unt(),sum(),max(),min(),avg().</a:t>
            </a:r>
          </a:p>
          <a:p>
            <a:pPr>
              <a:lnSpc>
                <a:spcPts val="989"/>
              </a:lnSpc>
            </a:pPr>
            <a:endParaRPr lang="en-US" dirty="0"/>
          </a:p>
          <a:p>
            <a:pPr marL="0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group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first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divided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different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groups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group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each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group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result.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92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Ex1: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WAQ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number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working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organization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Sol: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COUNT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(*)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</a:p>
          <a:p>
            <a:pPr>
              <a:lnSpc>
                <a:spcPts val="1044"/>
              </a:lnSpc>
            </a:pPr>
            <a:endParaRPr lang="en-US" dirty="0"/>
          </a:p>
          <a:p>
            <a:pPr marL="0" hangingPunct="0">
              <a:lnSpc>
                <a:spcPct val="11208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Ex2: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WAQ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number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working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each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group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rganization.</a:t>
            </a:r>
          </a:p>
          <a:p>
            <a:pPr>
              <a:lnSpc>
                <a:spcPts val="465"/>
              </a:lnSpc>
            </a:pPr>
            <a:endParaRPr lang="en-US" dirty="0"/>
          </a:p>
          <a:p>
            <a:pPr marL="0" hangingPunct="0">
              <a:lnSpc>
                <a:spcPct val="16958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Sol: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COUNT=COUNT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(*)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GROUP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Ex3: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WAQ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total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each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organization</a:t>
            </a:r>
          </a:p>
          <a:p>
            <a:pPr>
              <a:lnSpc>
                <a:spcPts val="490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Sol: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TOTALSALARY=SUM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(SALARY)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GROUP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(Like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max,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min,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avg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organization)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extBox 213"/>
          <p:cNvSpPr txBox="1"/>
          <p:nvPr/>
        </p:nvSpPr>
        <p:spPr>
          <a:xfrm>
            <a:off x="914704" y="893442"/>
            <a:ext cx="5952634" cy="79579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0416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HAVING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CLAUSE: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filtering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restricting</a:t>
            </a:r>
            <a:r>
              <a:rPr lang="en-US" altLang="zh-CN" sz="1400" spc="-1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just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clause.</a:t>
            </a:r>
          </a:p>
          <a:p>
            <a:pPr>
              <a:lnSpc>
                <a:spcPts val="969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WAQ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number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each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count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greater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</a:p>
          <a:p>
            <a:pPr>
              <a:lnSpc>
                <a:spcPts val="96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Sol: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COUNT=COUNT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(*)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GROUP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COUNT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(*)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&gt;3</a:t>
            </a:r>
          </a:p>
          <a:p>
            <a:pPr>
              <a:lnSpc>
                <a:spcPts val="108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Differences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Between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WHERE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and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HAVING</a:t>
            </a:r>
            <a:r>
              <a:rPr lang="en-US" altLang="zh-CN" sz="1800" b="1" u="sng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Clause: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594"/>
              </a:lnSpc>
            </a:pPr>
            <a:endParaRPr lang="en-US" dirty="0"/>
          </a:p>
          <a:p>
            <a:pPr marL="0" hangingPunct="0">
              <a:lnSpc>
                <a:spcPct val="112916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SYNONYM:</a:t>
            </a:r>
            <a:r>
              <a:rPr lang="en-US" altLang="zh-CN" sz="200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synonym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object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created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“alias”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object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etc.</a:t>
            </a:r>
          </a:p>
          <a:p>
            <a:pPr>
              <a:lnSpc>
                <a:spcPts val="1085"/>
              </a:lnSpc>
            </a:pPr>
            <a:endParaRPr lang="en-US" dirty="0"/>
          </a:p>
          <a:p>
            <a:pPr marL="0" indent="228600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apply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DML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synonym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same</a:t>
            </a:r>
            <a:r>
              <a:rPr lang="en-US" altLang="zh-CN" sz="1400" spc="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operations</a:t>
            </a:r>
          </a:p>
          <a:p>
            <a:pPr marL="0" indent="457149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automatically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effected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corresponding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vice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versa.</a:t>
            </a:r>
          </a:p>
          <a:p>
            <a:pPr marL="0" indent="228600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synonym,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synonym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entire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</a:p>
          <a:p>
            <a:pPr marL="0" indent="457149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possible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synonym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partial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 marL="0" indent="228600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synonym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another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synonym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does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spc="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allow</a:t>
            </a:r>
          </a:p>
          <a:p>
            <a:pPr marL="0" indent="457149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DML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because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Synonym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chaining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allowed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  <a:p>
            <a:pPr marL="0" indent="228600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Synonym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become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invalid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spc="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cases,</a:t>
            </a:r>
          </a:p>
          <a:p>
            <a:pPr marL="0" indent="685749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drop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base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</a:p>
          <a:p>
            <a:pPr marL="0" indent="6857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43076" y="3171698"/>
          <a:ext cx="6093918" cy="22881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37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217">
                <a:tc>
                  <a:txBody>
                    <a:bodyPr/>
                    <a:lstStyle/>
                    <a:p>
                      <a:pPr marL="0" indent="1176477">
                        <a:lnSpc>
                          <a:spcPct val="96249"/>
                        </a:lnSpc>
                      </a:pPr>
                      <a:r>
                        <a:rPr lang="en-US" altLang="zh-CN" sz="1400" b="1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WHE</a:t>
                      </a: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1147826">
                        <a:lnSpc>
                          <a:spcPct val="96249"/>
                        </a:lnSpc>
                      </a:pPr>
                      <a:r>
                        <a:rPr lang="en-US" altLang="zh-CN" sz="1400" b="1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HAV</a:t>
                      </a: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ING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527">
                <a:tc>
                  <a:txBody>
                    <a:bodyPr/>
                    <a:lstStyle/>
                    <a:p>
                      <a:pPr marL="65531" hangingPunct="0">
                        <a:lnSpc>
                          <a:spcPct val="95416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WHERE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clause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is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used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to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filter</a:t>
                      </a:r>
                      <a:r>
                        <a:rPr lang="en-US" altLang="zh-CN" sz="1400" spc="-1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and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restrict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the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records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before</a:t>
                      </a:r>
                      <a:r>
                        <a:rPr lang="en-US" altLang="zh-CN" sz="1400" spc="-8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grouping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484" hangingPunct="0">
                        <a:lnSpc>
                          <a:spcPct val="95416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HAVING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clause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is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used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to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filter</a:t>
                      </a:r>
                      <a:r>
                        <a:rPr lang="en-US" altLang="zh-CN" sz="1400" spc="-104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and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restrict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the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records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after</a:t>
                      </a:r>
                      <a:r>
                        <a:rPr lang="en-US" altLang="zh-CN" sz="1400" spc="-7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grouping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268">
                <a:tc>
                  <a:txBody>
                    <a:bodyPr/>
                    <a:lstStyle/>
                    <a:p>
                      <a:pPr marL="65531" hangingPunct="0">
                        <a:lnSpc>
                          <a:spcPct val="95416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If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restriction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column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associated</a:t>
                      </a:r>
                      <a:r>
                        <a:rPr lang="en-US" altLang="zh-CN" sz="1400" spc="-5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with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br/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aggregative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function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then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we</a:t>
                      </a:r>
                      <a:r>
                        <a:rPr lang="en-US" altLang="zh-CN" sz="1400" spc="-11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cannot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use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WHERE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clause</a:t>
                      </a:r>
                      <a:r>
                        <a:rPr lang="en-US" altLang="zh-CN" sz="1400" spc="-5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there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484" hangingPunct="0">
                        <a:lnSpc>
                          <a:spcPct val="95416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But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we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can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use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HAVING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clause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at</a:t>
                      </a:r>
                      <a:r>
                        <a:rPr lang="en-US" altLang="zh-CN" sz="1400" spc="-89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this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si</a:t>
                      </a:r>
                      <a:r>
                        <a:rPr lang="en-US" altLang="zh-CN" sz="14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tuations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527">
                <a:tc>
                  <a:txBody>
                    <a:bodyPr/>
                    <a:lstStyle/>
                    <a:p>
                      <a:pPr marL="65531" hangingPunct="0">
                        <a:lnSpc>
                          <a:spcPct val="95416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WHERE</a:t>
                      </a: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clause</a:t>
                      </a:r>
                      <a:r>
                        <a:rPr lang="en-US" altLang="zh-CN" sz="1400" spc="-2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can</a:t>
                      </a: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apply</a:t>
                      </a:r>
                      <a:r>
                        <a:rPr lang="en-US" altLang="zh-CN" sz="1400" spc="-2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without</a:t>
                      </a:r>
                      <a:r>
                        <a:rPr lang="en-US" altLang="zh-CN" sz="1400" spc="-2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group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by</a:t>
                      </a: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clause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484" hangingPunct="0">
                        <a:lnSpc>
                          <a:spcPct val="95416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HAVING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clause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cannot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be</a:t>
                      </a:r>
                      <a:r>
                        <a:rPr lang="en-US" altLang="zh-CN" sz="1400" spc="-104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applied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without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group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by</a:t>
                      </a:r>
                      <a:r>
                        <a:rPr lang="en-US" altLang="zh-CN" sz="1400" spc="-69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clause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6618">
                <a:tc>
                  <a:txBody>
                    <a:bodyPr/>
                    <a:lstStyle/>
                    <a:p>
                      <a:pPr marL="65531" hangingPunct="0">
                        <a:lnSpc>
                          <a:spcPct val="95416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WHERE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clause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can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used</a:t>
                      </a:r>
                      <a:r>
                        <a:rPr lang="en-US" altLang="zh-CN" sz="1400" spc="-1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for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restricting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individual</a:t>
                      </a:r>
                      <a:r>
                        <a:rPr lang="en-US" altLang="zh-CN" sz="1400" spc="-6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rows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484" hangingPunct="0">
                        <a:lnSpc>
                          <a:spcPct val="95416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Where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as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HAVING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clause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is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used</a:t>
                      </a:r>
                      <a:r>
                        <a:rPr lang="en-US" altLang="zh-CN" sz="1400" spc="-104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along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with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group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by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clause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to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filter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or</a:t>
                      </a:r>
                      <a:r>
                        <a:rPr lang="en-US" altLang="zh-CN" sz="1400" spc="-5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restrict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gro</a:t>
                      </a:r>
                      <a:r>
                        <a:rPr lang="en-US" altLang="zh-CN" sz="14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ups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TextBox 215"/>
          <p:cNvSpPr txBox="1"/>
          <p:nvPr/>
        </p:nvSpPr>
        <p:spPr>
          <a:xfrm>
            <a:off x="914704" y="909124"/>
            <a:ext cx="5974798" cy="71487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228600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invalid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synonym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apply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DML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cannot</a:t>
            </a:r>
          </a:p>
          <a:p>
            <a:pPr marL="0" indent="457149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synonym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time.</a:t>
            </a:r>
          </a:p>
          <a:p>
            <a:pPr marL="0" indent="228600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structure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corresponding</a:t>
            </a:r>
            <a:r>
              <a:rPr lang="en-US" altLang="zh-CN" sz="1400" spc="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synonym</a:t>
            </a:r>
          </a:p>
          <a:p>
            <a:pPr marL="0" indent="457149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automatically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reflected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same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changes.</a:t>
            </a:r>
          </a:p>
          <a:p>
            <a:pPr marL="0" indent="228600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But,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structure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synonym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reflected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</a:p>
          <a:p>
            <a:pPr marL="0" indent="457149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because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structure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synonym.</a:t>
            </a:r>
          </a:p>
          <a:p>
            <a:pPr>
              <a:lnSpc>
                <a:spcPts val="116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synonym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&lt;synonym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&lt;object</a:t>
            </a:r>
            <a:r>
              <a:rPr lang="en-US" altLang="zh-CN" sz="1400" b="1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</a:p>
          <a:p>
            <a:pPr>
              <a:lnSpc>
                <a:spcPts val="120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synonym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synemp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b="1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</a:p>
          <a:p>
            <a:pPr>
              <a:lnSpc>
                <a:spcPts val="118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drop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synonym: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Drop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synonym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&lt;synonym</a:t>
            </a:r>
            <a:r>
              <a:rPr lang="en-US" altLang="zh-CN" sz="1400" b="1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</a:p>
          <a:p>
            <a:pPr>
              <a:lnSpc>
                <a:spcPts val="120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Drop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synonym</a:t>
            </a:r>
            <a:r>
              <a:rPr lang="en-US" altLang="zh-CN" sz="1400" b="1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synemp</a:t>
            </a:r>
          </a:p>
          <a:p>
            <a:pPr>
              <a:lnSpc>
                <a:spcPts val="118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Creating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table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from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an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existing</a:t>
            </a:r>
            <a:r>
              <a:rPr lang="en-US" altLang="zh-CN" sz="2000" b="1" u="sng" spc="-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table: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hangingPunct="0">
              <a:lnSpc>
                <a:spcPct val="110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existing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maintain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copy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actual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before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manipulating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>
              <a:lnSpc>
                <a:spcPts val="469"/>
              </a:lnSpc>
            </a:pPr>
            <a:endParaRPr lang="en-US" dirty="0"/>
          </a:p>
          <a:p>
            <a:pPr marL="0" hangingPunct="0">
              <a:lnSpc>
                <a:spcPct val="17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&lt;New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&lt;Old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Ex1: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New_Emp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</a:p>
          <a:p>
            <a:pPr>
              <a:lnSpc>
                <a:spcPts val="530"/>
              </a:lnSpc>
            </a:pPr>
            <a:endParaRPr lang="en-US" dirty="0"/>
          </a:p>
          <a:p>
            <a:pPr marL="0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New_Emp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copying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>
              <a:lnSpc>
                <a:spcPts val="106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Ex2: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Test_Emp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</a:p>
          <a:p>
            <a:pPr>
              <a:lnSpc>
                <a:spcPts val="1114"/>
              </a:lnSpc>
            </a:pPr>
            <a:endParaRPr lang="en-US" dirty="0"/>
          </a:p>
          <a:p>
            <a:pPr marL="0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Test_Emp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>
              <a:lnSpc>
                <a:spcPts val="450"/>
              </a:lnSpc>
            </a:pPr>
            <a:endParaRPr lang="en-US" dirty="0"/>
          </a:p>
          <a:p>
            <a:pPr marL="0" hangingPunct="0">
              <a:lnSpc>
                <a:spcPct val="17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Ex3: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Dummy_Emp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1=2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Dummy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without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Box 216"/>
          <p:cNvSpPr txBox="1"/>
          <p:nvPr/>
        </p:nvSpPr>
        <p:spPr>
          <a:xfrm>
            <a:off x="914704" y="884629"/>
            <a:ext cx="5946164" cy="79948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1666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Copying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data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from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one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existing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table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another</a:t>
            </a:r>
            <a:r>
              <a:rPr lang="en-US" altLang="zh-CN" sz="2000" b="1" u="sng" spc="-5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table: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copy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another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combination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following</a:t>
            </a:r>
          </a:p>
          <a:p>
            <a:pPr>
              <a:lnSpc>
                <a:spcPts val="475"/>
              </a:lnSpc>
            </a:pPr>
            <a:endParaRPr lang="en-US" dirty="0"/>
          </a:p>
          <a:p>
            <a:pPr marL="0" hangingPunct="0">
              <a:lnSpc>
                <a:spcPct val="145416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&lt;Dummy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&lt;Table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Dummy_Emp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2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Constraint</a:t>
            </a:r>
            <a:r>
              <a:rPr lang="en-US" altLang="zh-CN" sz="2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</a:t>
            </a:r>
            <a:r>
              <a:rPr lang="en-US" altLang="zh-CN" sz="2400" b="1" u="sng" spc="-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SQL</a:t>
            </a:r>
          </a:p>
          <a:p>
            <a:pPr marL="0" hangingPunct="0">
              <a:lnSpc>
                <a:spcPct val="111249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Why</a:t>
            </a:r>
            <a:r>
              <a:rPr lang="en-US" altLang="zh-CN" sz="1800" b="1" u="sng" spc="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Constraint</a:t>
            </a:r>
            <a:r>
              <a:rPr lang="en-US" altLang="zh-CN" sz="1800" b="1" u="sng" spc="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</a:t>
            </a:r>
            <a:r>
              <a:rPr lang="en-US" altLang="zh-CN" sz="1800" b="1" u="sng" spc="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SQL:</a:t>
            </a:r>
            <a:r>
              <a:rPr lang="en-US" altLang="zh-CN" sz="1800" b="1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Constraint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restrict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insertion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unwanted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constraints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single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multiple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maintains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integrity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i.e.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accurate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original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integrity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rules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three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categories:</a:t>
            </a:r>
          </a:p>
          <a:p>
            <a:pPr>
              <a:lnSpc>
                <a:spcPts val="939"/>
              </a:lnSpc>
            </a:pPr>
            <a:endParaRPr lang="en-US" dirty="0"/>
          </a:p>
          <a:p>
            <a:pPr marL="0" indent="228600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Entity</a:t>
            </a:r>
            <a:r>
              <a:rPr lang="en-US" altLang="zh-CN" sz="1400" spc="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integrity</a:t>
            </a:r>
          </a:p>
          <a:p>
            <a:pPr marL="0" indent="228600">
              <a:lnSpc>
                <a:spcPts val="1720"/>
              </a:lnSpc>
              <a:spcBef>
                <a:spcPts val="23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Referential</a:t>
            </a:r>
            <a:r>
              <a:rPr lang="en-US" altLang="zh-CN" sz="1400" spc="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integrity</a:t>
            </a:r>
          </a:p>
          <a:p>
            <a:pPr marL="0" indent="228600">
              <a:lnSpc>
                <a:spcPts val="172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Domain</a:t>
            </a:r>
            <a:r>
              <a:rPr lang="en-US" altLang="zh-CN" sz="1400" spc="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integrity</a:t>
            </a:r>
          </a:p>
          <a:p>
            <a:pPr>
              <a:lnSpc>
                <a:spcPts val="1639"/>
              </a:lnSpc>
            </a:pPr>
            <a:endParaRPr lang="en-US" dirty="0"/>
          </a:p>
          <a:p>
            <a:pPr marL="0" hangingPunct="0">
              <a:lnSpc>
                <a:spcPct val="95416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Entity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Integrity: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Entity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integrity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ensures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each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uniquely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identifiable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entity.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You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apply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entity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integrity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specifying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PRIMARY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UNIQUE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constraint.</a:t>
            </a:r>
          </a:p>
          <a:p>
            <a:pPr>
              <a:lnSpc>
                <a:spcPts val="1419"/>
              </a:lnSpc>
            </a:pPr>
            <a:endParaRPr lang="en-US" dirty="0"/>
          </a:p>
          <a:p>
            <a:pPr marL="0" hangingPunct="0">
              <a:lnSpc>
                <a:spcPct val="95416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Referential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Integrity: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Referential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integrity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ensures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relationships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between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remain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preserved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inserted,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deleted,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modified.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You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apply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referential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integrity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FOREIGN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constraint.</a:t>
            </a:r>
          </a:p>
          <a:p>
            <a:pPr>
              <a:lnSpc>
                <a:spcPts val="1419"/>
              </a:lnSpc>
            </a:pPr>
            <a:endParaRPr lang="en-US" dirty="0"/>
          </a:p>
          <a:p>
            <a:pPr marL="0" hangingPunct="0">
              <a:lnSpc>
                <a:spcPct val="95416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Domain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Integrity: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Domain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integrity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ensures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inside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defined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rules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range,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format.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enforce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rules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CHECK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constraints.</a:t>
            </a:r>
          </a:p>
          <a:p>
            <a:pPr>
              <a:lnSpc>
                <a:spcPts val="136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Types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of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constraints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SQL</a:t>
            </a:r>
            <a:r>
              <a:rPr lang="en-US" altLang="zh-CN" sz="16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Server</a:t>
            </a:r>
            <a:r>
              <a:rPr lang="en-US" altLang="zh-CN" sz="16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:-</a:t>
            </a:r>
          </a:p>
          <a:p>
            <a:pPr>
              <a:lnSpc>
                <a:spcPts val="1294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Unique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constraint.</a:t>
            </a:r>
          </a:p>
          <a:p>
            <a:pPr marL="0" indent="228600">
              <a:lnSpc>
                <a:spcPct val="970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Null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constraint.</a:t>
            </a:r>
          </a:p>
          <a:p>
            <a:pPr marL="0" indent="22860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Check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constraint</a:t>
            </a:r>
          </a:p>
          <a:p>
            <a:pPr marL="0" indent="228600">
              <a:lnSpc>
                <a:spcPct val="94999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4.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Primary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spc="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constraint.</a:t>
            </a:r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5.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Foreign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spc="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constraint.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Box 217"/>
          <p:cNvSpPr txBox="1"/>
          <p:nvPr/>
        </p:nvSpPr>
        <p:spPr>
          <a:xfrm>
            <a:off x="914704" y="906049"/>
            <a:ext cx="5949865" cy="67493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9583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1.</a:t>
            </a:r>
            <a:r>
              <a:rPr lang="en-US" altLang="zh-CN" sz="1400" b="1" u="sng" spc="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Unique</a:t>
            </a:r>
            <a:r>
              <a:rPr lang="en-US" altLang="zh-CN" sz="1400" b="1" u="sng" spc="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Key:-</a:t>
            </a:r>
            <a:r>
              <a:rPr lang="en-US" altLang="zh-CN" sz="1400" b="1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Unique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constraint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make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sure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there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duplicate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unique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primary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enforces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uniqueness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difference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between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unique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constraint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primary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does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null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value.</a:t>
            </a:r>
          </a:p>
          <a:p>
            <a:pPr>
              <a:lnSpc>
                <a:spcPts val="1439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primary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unique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Server.</a:t>
            </a:r>
          </a:p>
          <a:p>
            <a:pPr>
              <a:lnSpc>
                <a:spcPts val="1635"/>
              </a:lnSpc>
            </a:pPr>
            <a:endParaRPr lang="en-US" dirty="0"/>
          </a:p>
          <a:p>
            <a:pPr marL="0" hangingPunct="0">
              <a:lnSpc>
                <a:spcPct val="95416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create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table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Courier New"/>
                <a:ea typeface="Courier New"/>
              </a:rPr>
              <a:t>EMP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(EID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int</a:t>
            </a:r>
            <a:r>
              <a:rPr lang="en-US" altLang="zh-CN" sz="1600" spc="-6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unique,ENAME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varchar(50)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unique,SALARY</a:t>
            </a:r>
            <a:r>
              <a:rPr lang="en-US" altLang="zh-CN" sz="1600" spc="-2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money);</a:t>
            </a:r>
          </a:p>
          <a:p>
            <a:pPr>
              <a:lnSpc>
                <a:spcPts val="1505"/>
              </a:lnSpc>
            </a:pPr>
            <a:endParaRPr lang="en-US" dirty="0"/>
          </a:p>
          <a:p>
            <a:pPr marL="0" hangingPunct="0">
              <a:lnSpc>
                <a:spcPct val="9708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2.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Not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null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constraint: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-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constraint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restrict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duplicate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values.</a:t>
            </a:r>
          </a:p>
          <a:p>
            <a:pPr>
              <a:lnSpc>
                <a:spcPts val="1625"/>
              </a:lnSpc>
            </a:pPr>
            <a:endParaRPr lang="en-US" dirty="0"/>
          </a:p>
          <a:p>
            <a:pPr marL="0" hangingPunct="0">
              <a:lnSpc>
                <a:spcPct val="95416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 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create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table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Courier New"/>
                <a:ea typeface="Courier New"/>
              </a:rPr>
              <a:t>EMP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(EID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not</a:t>
            </a:r>
            <a:r>
              <a:rPr lang="en-US" altLang="zh-CN" sz="1600" spc="9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null,ENAME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varchar(50)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not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null,SALARY</a:t>
            </a:r>
            <a:r>
              <a:rPr lang="en-US" altLang="zh-CN" sz="1600" spc="-2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money);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160"/>
              </a:lnSpc>
            </a:pPr>
            <a:endParaRPr lang="en-US" dirty="0"/>
          </a:p>
          <a:p>
            <a:pPr marL="0" hangingPunct="0">
              <a:lnSpc>
                <a:spcPct val="96666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3.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Check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Constraint: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-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constraint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check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always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greater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zero.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check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constraint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greater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zero.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18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ourier New"/>
                <a:ea typeface="Courier New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create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table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Courier New"/>
                <a:ea typeface="Courier New"/>
              </a:rPr>
              <a:t>emp4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(eno</a:t>
            </a:r>
            <a:r>
              <a:rPr lang="en-US" altLang="zh-CN" sz="1600" spc="-2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int,ename</a:t>
            </a:r>
          </a:p>
          <a:p>
            <a:pPr marL="0">
              <a:lnSpc>
                <a:spcPct val="9458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varchar(50),age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check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(age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between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Courier New"/>
                <a:ea typeface="Courier New"/>
              </a:rPr>
              <a:t>20</a:t>
            </a:r>
            <a:r>
              <a:rPr lang="en-US" altLang="zh-CN" sz="1600" b="1" spc="-2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and</a:t>
            </a:r>
          </a:p>
          <a:p>
            <a:pPr marL="0">
              <a:lnSpc>
                <a:spcPct val="100000"/>
              </a:lnSpc>
            </a:pPr>
            <a:r>
              <a:rPr lang="en-US" altLang="zh-CN" sz="1600" b="1" spc="-5" dirty="0">
                <a:solidFill>
                  <a:srgbClr val="000000"/>
                </a:solidFill>
                <a:latin typeface="Courier New"/>
                <a:ea typeface="Courier New"/>
              </a:rPr>
              <a:t>30</a:t>
            </a:r>
            <a:r>
              <a:rPr lang="en-US" altLang="zh-CN" sz="1600" spc="-5" dirty="0">
                <a:solidFill>
                  <a:srgbClr val="000000"/>
                </a:solidFill>
                <a:latin typeface="Courier New"/>
                <a:ea typeface="Courier New"/>
              </a:rPr>
              <a:t>))</a:t>
            </a:r>
          </a:p>
          <a:p>
            <a:pPr>
              <a:lnSpc>
                <a:spcPts val="1425"/>
              </a:lnSpc>
            </a:pPr>
            <a:endParaRPr lang="en-US" dirty="0"/>
          </a:p>
          <a:p>
            <a:pPr marL="0" hangingPunct="0">
              <a:lnSpc>
                <a:spcPct val="96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4.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Primary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Key:-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Primary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combination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unique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does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duplicate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primary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only.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300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ourier New"/>
                <a:ea typeface="Courier New"/>
              </a:rPr>
              <a:t>Ex:</a:t>
            </a:r>
            <a:r>
              <a:rPr lang="en-US" altLang="zh-CN" sz="1400" dirty="0">
                <a:solidFill>
                  <a:srgbClr val="000000"/>
                </a:solidFill>
                <a:latin typeface="Courier New"/>
                <a:ea typeface="Courier New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urier New"/>
                <a:ea typeface="Courier New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ourier New"/>
                <a:ea typeface="Courier New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Courier New"/>
                <a:ea typeface="Courier New"/>
              </a:rPr>
              <a:t>(EID</a:t>
            </a:r>
            <a:r>
              <a:rPr lang="en-US" altLang="zh-CN" sz="14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urier New"/>
                <a:ea typeface="Courier New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urier New"/>
                <a:ea typeface="Courier New"/>
              </a:rPr>
              <a:t>primary</a:t>
            </a:r>
            <a:r>
              <a:rPr lang="en-US" altLang="zh-CN" sz="1400" spc="-5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urier New"/>
                <a:ea typeface="Courier New"/>
              </a:rPr>
              <a:t>key,ENAME</a:t>
            </a:r>
            <a:r>
              <a:rPr lang="en-US" altLang="zh-CN" sz="14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urier New"/>
                <a:ea typeface="Courier New"/>
              </a:rPr>
              <a:t>varchar(50),SALARY</a:t>
            </a:r>
            <a:r>
              <a:rPr lang="en-US" altLang="zh-CN" sz="1400" spc="-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urier New"/>
                <a:ea typeface="Courier New"/>
              </a:rPr>
              <a:t>money)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extBox 218"/>
          <p:cNvSpPr txBox="1"/>
          <p:nvPr/>
        </p:nvSpPr>
        <p:spPr>
          <a:xfrm>
            <a:off x="914704" y="906049"/>
            <a:ext cx="5986419" cy="799594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96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5.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Foreign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Key: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-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important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concepts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relationships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between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relationships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provide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mechanism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linking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multiple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retrieving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efficient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manner.</a:t>
            </a:r>
          </a:p>
          <a:p>
            <a:pPr>
              <a:lnSpc>
                <a:spcPts val="1635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order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link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between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foreign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references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another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  <a:p>
            <a:pPr>
              <a:lnSpc>
                <a:spcPts val="1600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Foreign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constraint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binding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each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other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verifies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existence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other.</a:t>
            </a:r>
          </a:p>
          <a:p>
            <a:pPr>
              <a:lnSpc>
                <a:spcPts val="158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impose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foreign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constraint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require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following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things.</a:t>
            </a:r>
          </a:p>
          <a:p>
            <a:pPr>
              <a:lnSpc>
                <a:spcPts val="1569"/>
              </a:lnSpc>
            </a:pPr>
            <a:endParaRPr lang="en-US" dirty="0"/>
          </a:p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require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binding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each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other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those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linking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tables.</a:t>
            </a:r>
          </a:p>
          <a:p>
            <a:pPr>
              <a:lnSpc>
                <a:spcPts val="158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ample:</a:t>
            </a:r>
          </a:p>
          <a:p>
            <a:pPr>
              <a:lnSpc>
                <a:spcPts val="151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create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Department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Table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(PARENT</a:t>
            </a:r>
            <a:r>
              <a:rPr lang="en-US" altLang="zh-CN" sz="1400" b="1" u="sng" spc="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TABLE):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</a:t>
            </a:r>
          </a:p>
          <a:p>
            <a:pPr>
              <a:lnSpc>
                <a:spcPts val="1544"/>
              </a:lnSpc>
            </a:pPr>
            <a:endParaRPr lang="en-US" dirty="0"/>
          </a:p>
          <a:p>
            <a:pPr marL="0" hangingPunct="0">
              <a:lnSpc>
                <a:spcPct val="970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(Deptno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primary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key,DNAME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varchar(50),LOCATION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varchar(max))</a:t>
            </a:r>
          </a:p>
          <a:p>
            <a:pPr>
              <a:lnSpc>
                <a:spcPts val="15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Insert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Records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Into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Department</a:t>
            </a:r>
            <a:r>
              <a:rPr lang="en-US" altLang="zh-CN" sz="1400" b="1" u="sng" spc="-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Table:</a:t>
            </a:r>
          </a:p>
          <a:p>
            <a:pPr>
              <a:lnSpc>
                <a:spcPts val="1560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insert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into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b="1" dirty="0">
                <a:solidFill>
                  <a:srgbClr val="000000"/>
                </a:solidFill>
                <a:latin typeface="Courier New"/>
                <a:ea typeface="Courier New"/>
              </a:rPr>
              <a:t>Department</a:t>
            </a:r>
            <a:r>
              <a:rPr lang="en-US" altLang="zh-CN" sz="1200" b="1" spc="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values(10,'Sales','Chennai')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br>
              <a:rPr dirty="0"/>
            </a:b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insert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into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b="1" dirty="0">
                <a:solidFill>
                  <a:srgbClr val="000000"/>
                </a:solidFill>
                <a:latin typeface="Courier New"/>
                <a:ea typeface="Courier New"/>
              </a:rPr>
              <a:t>Department</a:t>
            </a:r>
            <a:r>
              <a:rPr lang="en-US" altLang="zh-CN" sz="1200" b="1" spc="-6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values(20,'Production','Mumbai')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br>
              <a:rPr dirty="0"/>
            </a:b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insert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into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b="1" dirty="0">
                <a:solidFill>
                  <a:srgbClr val="000000"/>
                </a:solidFill>
                <a:latin typeface="Courier New"/>
                <a:ea typeface="Courier New"/>
              </a:rPr>
              <a:t>Department</a:t>
            </a:r>
            <a:r>
              <a:rPr lang="en-US" altLang="zh-CN" sz="1200" b="1" spc="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values(30,'Finance','Delhi')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br>
              <a:rPr dirty="0"/>
            </a:b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insert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into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b="1" dirty="0">
                <a:solidFill>
                  <a:srgbClr val="000000"/>
                </a:solidFill>
                <a:latin typeface="Courier New"/>
                <a:ea typeface="Courier New"/>
              </a:rPr>
              <a:t>Department</a:t>
            </a:r>
            <a:r>
              <a:rPr lang="en-US" altLang="zh-CN" sz="1200" b="1" spc="-8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values(40,'Research','Hyderabad')</a:t>
            </a:r>
          </a:p>
          <a:p>
            <a:pPr>
              <a:lnSpc>
                <a:spcPts val="173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create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Employee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Table(CHILD</a:t>
            </a:r>
            <a:r>
              <a:rPr lang="en-US" altLang="zh-CN" sz="1400" b="1" u="sng" spc="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TABLE):-</a:t>
            </a:r>
          </a:p>
          <a:p>
            <a:pPr>
              <a:lnSpc>
                <a:spcPts val="1785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varchar(50),SALARY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money,Deptno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foreign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references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(Deptno))</a:t>
            </a:r>
          </a:p>
          <a:p>
            <a:pPr>
              <a:lnSpc>
                <a:spcPts val="159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Insert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Records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Into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Employee</a:t>
            </a:r>
            <a:r>
              <a:rPr lang="en-US" altLang="zh-CN" sz="1400" b="1" u="sng" spc="-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Table:</a:t>
            </a:r>
          </a:p>
          <a:p>
            <a:pPr>
              <a:lnSpc>
                <a:spcPts val="1544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insert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into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b="1" dirty="0">
                <a:solidFill>
                  <a:srgbClr val="000000"/>
                </a:solidFill>
                <a:latin typeface="Courier New"/>
                <a:ea typeface="Courier New"/>
              </a:rPr>
              <a:t>Employee</a:t>
            </a:r>
            <a:r>
              <a:rPr lang="en-US" altLang="zh-CN" sz="1200" b="1" spc="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values(101,'Sai',35000,10)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br>
              <a:rPr dirty="0"/>
            </a:b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insert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into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b="1" dirty="0">
                <a:solidFill>
                  <a:srgbClr val="000000"/>
                </a:solidFill>
                <a:latin typeface="Courier New"/>
                <a:ea typeface="Courier New"/>
              </a:rPr>
              <a:t>Employee</a:t>
            </a:r>
            <a:r>
              <a:rPr lang="en-US" altLang="zh-CN" sz="1200" b="1" spc="-6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values(102,'Pavan',45000,20)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br>
              <a:rPr dirty="0"/>
            </a:b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insert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into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b="1" dirty="0">
                <a:solidFill>
                  <a:srgbClr val="000000"/>
                </a:solidFill>
                <a:latin typeface="Courier New"/>
                <a:ea typeface="Courier New"/>
              </a:rPr>
              <a:t>Employee</a:t>
            </a:r>
            <a:r>
              <a:rPr lang="en-US" altLang="zh-CN" sz="1200" b="1" spc="-6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values(103,'Kamal',74000,30)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br>
              <a:rPr dirty="0"/>
            </a:b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insert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into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b="1" dirty="0">
                <a:solidFill>
                  <a:srgbClr val="000000"/>
                </a:solidFill>
                <a:latin typeface="Courier New"/>
                <a:ea typeface="Courier New"/>
              </a:rPr>
              <a:t>Employee</a:t>
            </a:r>
            <a:r>
              <a:rPr lang="en-US" altLang="zh-CN" sz="1200" b="1" spc="-2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values(104,'Ravi',58000,40)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Picture 2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019" y="2179320"/>
            <a:ext cx="5471160" cy="2232660"/>
          </a:xfrm>
          <a:prstGeom prst="rect">
            <a:avLst/>
          </a:prstGeom>
        </p:spPr>
      </p:pic>
      <p:sp>
        <p:nvSpPr>
          <p:cNvPr id="2" name="TextBox 220"/>
          <p:cNvSpPr txBox="1"/>
          <p:nvPr/>
        </p:nvSpPr>
        <p:spPr>
          <a:xfrm>
            <a:off x="914704" y="1258003"/>
            <a:ext cx="5958423" cy="78342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810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The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below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records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are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not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allowed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employee</a:t>
            </a:r>
            <a:r>
              <a:rPr lang="en-US" altLang="zh-CN" sz="1400" b="1" u="sng" spc="-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table:</a:t>
            </a:r>
          </a:p>
          <a:p>
            <a:pPr>
              <a:lnSpc>
                <a:spcPts val="1569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insert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into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b="1" dirty="0">
                <a:solidFill>
                  <a:srgbClr val="000000"/>
                </a:solidFill>
                <a:latin typeface="Courier New"/>
                <a:ea typeface="Courier New"/>
              </a:rPr>
              <a:t>Employee</a:t>
            </a:r>
            <a:r>
              <a:rPr lang="en-US" altLang="zh-CN" sz="1200" b="1" spc="-6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values(105,'Kamal',74000,50)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br>
              <a:rPr dirty="0"/>
            </a:b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insert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into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b="1" dirty="0">
                <a:solidFill>
                  <a:srgbClr val="000000"/>
                </a:solidFill>
                <a:latin typeface="Courier New"/>
                <a:ea typeface="Courier New"/>
              </a:rPr>
              <a:t>Employee</a:t>
            </a:r>
            <a:r>
              <a:rPr lang="en-US" altLang="zh-CN" sz="1200" b="1" spc="-2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values(106,'Ravi',58000,60)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635"/>
              </a:lnSpc>
            </a:pPr>
            <a:endParaRPr lang="en-US" dirty="0"/>
          </a:p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impose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foreign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constraint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establish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between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table,the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followiong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three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rules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picture.</a:t>
            </a:r>
          </a:p>
          <a:p>
            <a:pPr>
              <a:lnSpc>
                <a:spcPts val="1564"/>
              </a:lnSpc>
            </a:pPr>
            <a:endParaRPr lang="en-US" dirty="0"/>
          </a:p>
          <a:p>
            <a:pPr marL="0" hangingPunct="0">
              <a:lnSpc>
                <a:spcPct val="975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Rule1:-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foreign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provided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existing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under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refernce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parent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>
              <a:lnSpc>
                <a:spcPts val="1564"/>
              </a:lnSpc>
            </a:pPr>
            <a:endParaRPr lang="en-US" dirty="0"/>
          </a:p>
          <a:p>
            <a:pPr marL="0" hangingPunct="0">
              <a:lnSpc>
                <a:spcPct val="96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Rule2:-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reference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provided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corresponding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child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child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addressing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what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child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record.</a:t>
            </a:r>
          </a:p>
          <a:p>
            <a:pPr>
              <a:lnSpc>
                <a:spcPts val="1589"/>
              </a:lnSpc>
            </a:pPr>
            <a:endParaRPr lang="en-US" dirty="0"/>
          </a:p>
          <a:p>
            <a:pPr marL="0" hangingPunct="0">
              <a:lnSpc>
                <a:spcPct val="96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Rule3:-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provided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reference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child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child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addressing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what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child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record.</a:t>
            </a:r>
          </a:p>
          <a:p>
            <a:pPr>
              <a:lnSpc>
                <a:spcPts val="1860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they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corresponding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child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child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provide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rules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knows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cascade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rules.</a:t>
            </a:r>
          </a:p>
          <a:p>
            <a:pPr>
              <a:lnSpc>
                <a:spcPts val="1560"/>
              </a:lnSpc>
            </a:pPr>
            <a:endParaRPr lang="en-US" dirty="0"/>
          </a:p>
          <a:p>
            <a:pPr marL="0" hangingPunct="0">
              <a:lnSpc>
                <a:spcPct val="96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On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delete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cascade:-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referenced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foreign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other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those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foreign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keys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child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also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deleted.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TextBox 221"/>
          <p:cNvSpPr txBox="1"/>
          <p:nvPr/>
        </p:nvSpPr>
        <p:spPr>
          <a:xfrm>
            <a:off x="914704" y="906049"/>
            <a:ext cx="5958423" cy="80887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96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On</a:t>
            </a:r>
            <a:r>
              <a:rPr lang="en-US" altLang="zh-CN" sz="1400" b="1" u="sng" spc="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Update</a:t>
            </a:r>
            <a:r>
              <a:rPr lang="en-US" altLang="zh-CN" sz="1400" b="1" u="sng" spc="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cascade:-</a:t>
            </a:r>
            <a:r>
              <a:rPr lang="en-US" altLang="zh-CN" sz="1400" b="1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parent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referenced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foreign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other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those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foreign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keys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child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also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updated.</a:t>
            </a:r>
          </a:p>
          <a:p>
            <a:pPr>
              <a:lnSpc>
                <a:spcPts val="160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apply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rule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child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below</a:t>
            </a:r>
          </a:p>
          <a:p>
            <a:pPr>
              <a:lnSpc>
                <a:spcPts val="1544"/>
              </a:lnSpc>
            </a:pPr>
            <a:endParaRPr lang="en-US" dirty="0"/>
          </a:p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varchar(50),SALARY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money,Deptno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foreign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references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(Deptno)on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cascade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cascade)</a:t>
            </a:r>
          </a:p>
          <a:p>
            <a:pPr>
              <a:lnSpc>
                <a:spcPts val="160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Ex:-</a:t>
            </a:r>
          </a:p>
          <a:p>
            <a:pPr>
              <a:lnSpc>
                <a:spcPts val="152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1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400" b="1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Deptno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=222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Deptno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=20</a:t>
            </a:r>
          </a:p>
          <a:p>
            <a:pPr>
              <a:lnSpc>
                <a:spcPts val="153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5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400" b="1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Deptno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=222</a:t>
            </a:r>
          </a:p>
          <a:p>
            <a:pPr>
              <a:lnSpc>
                <a:spcPts val="154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Making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Relationship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between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Three</a:t>
            </a:r>
            <a:r>
              <a:rPr lang="en-US" altLang="zh-CN" sz="20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Tables</a:t>
            </a:r>
          </a:p>
          <a:p>
            <a:pPr>
              <a:lnSpc>
                <a:spcPts val="152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CASE-</a:t>
            </a:r>
            <a:r>
              <a:rPr lang="en-US" altLang="zh-CN" sz="14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1: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695"/>
              </a:lnSpc>
            </a:pPr>
            <a:endParaRPr lang="en-US" dirty="0"/>
          </a:p>
          <a:p>
            <a:pPr marL="0" hangingPunct="0">
              <a:lnSpc>
                <a:spcPct val="11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CUSTOMER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(CID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primary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key,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CNAME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Varchar</a:t>
            </a:r>
            <a:r>
              <a:rPr lang="en-US" altLang="zh-CN" sz="1400" b="1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(20),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MAILID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Varchar</a:t>
            </a:r>
            <a:r>
              <a:rPr lang="en-US" altLang="zh-CN" sz="14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(40))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 marL="0" hangingPunct="0">
              <a:lnSpc>
                <a:spcPct val="110416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customer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(1,'a','a@gmail.com'),</a:t>
            </a:r>
            <a:r>
              <a:rPr lang="en-US" altLang="zh-CN" sz="1400" b="1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(2,'b','b@gmail.com'),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(3,'c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','c@gmail.com')</a:t>
            </a:r>
          </a:p>
          <a:p>
            <a:pPr>
              <a:lnSpc>
                <a:spcPts val="125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CASE</a:t>
            </a:r>
            <a:r>
              <a:rPr lang="en-US" altLang="zh-CN" sz="14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-</a:t>
            </a:r>
            <a:r>
              <a:rPr lang="en-US" altLang="zh-CN" sz="14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2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 hangingPunct="0">
              <a:lnSpc>
                <a:spcPct val="11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PRODUCTS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(PCODE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primary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key,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PNAME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varchar</a:t>
            </a:r>
            <a:r>
              <a:rPr lang="en-US" altLang="zh-CN" sz="1400" b="1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(50),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PRICE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money</a:t>
            </a: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</a:p>
          <a:p>
            <a:pPr>
              <a:lnSpc>
                <a:spcPts val="960"/>
              </a:lnSpc>
            </a:pPr>
            <a:endParaRPr lang="en-US" dirty="0"/>
          </a:p>
          <a:p>
            <a:pPr marL="0" hangingPunct="0">
              <a:lnSpc>
                <a:spcPct val="112083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products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(10,'C',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500),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(20,'C++’,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1000),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(30,'.NET’,</a:t>
            </a:r>
            <a:r>
              <a:rPr lang="en-US" altLang="zh-CN" sz="1400" b="1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35000),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(40,’SQL’,</a:t>
            </a:r>
            <a:r>
              <a:rPr lang="en-US" altLang="zh-CN" sz="14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1800)</a:t>
            </a:r>
          </a:p>
          <a:p>
            <a:pPr>
              <a:lnSpc>
                <a:spcPts val="106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-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--------------------------------------------------------------------------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CASE</a:t>
            </a:r>
            <a:r>
              <a:rPr lang="en-US" altLang="zh-CN" sz="14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-</a:t>
            </a:r>
            <a:r>
              <a:rPr lang="en-US" altLang="zh-CN" sz="14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3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 hangingPunct="0">
              <a:lnSpc>
                <a:spcPct val="109583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ORDERS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(ORID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primary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key,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ORDATE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date,</a:t>
            </a:r>
            <a:r>
              <a:rPr lang="en-US" altLang="zh-CN" sz="140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QUANTITY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int,CID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foreign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references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CUSTOMER(cid)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cascade</a:t>
            </a:r>
            <a:r>
              <a:rPr lang="en-US" altLang="zh-CN" sz="14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Box 222"/>
          <p:cNvSpPr txBox="1"/>
          <p:nvPr/>
        </p:nvSpPr>
        <p:spPr>
          <a:xfrm>
            <a:off x="914704" y="896815"/>
            <a:ext cx="5972915" cy="76247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cascade,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PCODE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foreign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references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PRODUCTS(pcode)</a:t>
            </a:r>
            <a:r>
              <a:rPr lang="en-US" altLang="zh-CN" sz="1400" b="1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cascade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cascade)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ORDERS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(101,’2014/10/15’,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3,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2,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10)</a:t>
            </a:r>
            <a:r>
              <a:rPr lang="en-US" altLang="zh-CN" sz="1400" b="1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//ALLOWED</a:t>
            </a:r>
          </a:p>
          <a:p>
            <a:pPr>
              <a:lnSpc>
                <a:spcPts val="590"/>
              </a:lnSpc>
            </a:pPr>
            <a:endParaRPr lang="en-US" dirty="0"/>
          </a:p>
          <a:p>
            <a:pPr marL="0" hangingPunct="0">
              <a:lnSpc>
                <a:spcPct val="169166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ORDERS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(102,’2014/10/25’,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3,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4,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50)</a:t>
            </a:r>
            <a:r>
              <a:rPr lang="en-US" altLang="zh-CN" sz="1400" b="1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//NOTALLOWED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--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--------------------------------------------------------</a:t>
            </a:r>
          </a:p>
          <a:p>
            <a:pPr marL="0" hangingPunct="0">
              <a:lnSpc>
                <a:spcPct val="169583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CUSTOMER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cid=100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b="1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cid=1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CUSTOMER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b="1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cid=100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PRODUCTS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orid=21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b="1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orid=20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PRODUCTS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orid=30</a:t>
            </a:r>
          </a:p>
          <a:p>
            <a:pPr>
              <a:lnSpc>
                <a:spcPts val="56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Adding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Constraint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on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an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Existing</a:t>
            </a:r>
            <a:r>
              <a:rPr lang="en-US" altLang="zh-CN" sz="20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Table:</a:t>
            </a:r>
          </a:p>
          <a:p>
            <a:pPr>
              <a:lnSpc>
                <a:spcPts val="1364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Adding</a:t>
            </a:r>
            <a:r>
              <a:rPr lang="en-US" altLang="zh-CN" sz="1600" b="1" u="sng" spc="8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Primary</a:t>
            </a:r>
            <a:r>
              <a:rPr lang="en-US" altLang="zh-CN" sz="1600" b="1" u="sng" spc="8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Key</a:t>
            </a:r>
            <a:r>
              <a:rPr lang="en-US" altLang="zh-CN" sz="1600" b="1" u="sng" spc="8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on</a:t>
            </a:r>
            <a:r>
              <a:rPr lang="en-US" altLang="zh-CN" sz="1600" b="1" u="sng" spc="8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an</a:t>
            </a:r>
            <a:r>
              <a:rPr lang="en-US" altLang="zh-CN" sz="1600" b="1" u="sng" spc="8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existing</a:t>
            </a:r>
            <a:r>
              <a:rPr lang="en-US" altLang="zh-CN" sz="1600" b="1" u="sng" spc="8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table:</a:t>
            </a:r>
          </a:p>
          <a:p>
            <a:pPr>
              <a:lnSpc>
                <a:spcPts val="1385"/>
              </a:lnSpc>
            </a:pPr>
            <a:endParaRPr lang="en-US" dirty="0"/>
          </a:p>
          <a:p>
            <a:pPr marL="0" hangingPunct="0">
              <a:lnSpc>
                <a:spcPct val="1020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Ex: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(EID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INT,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ENAME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VARCHAR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(50),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SALARY</a:t>
            </a:r>
            <a:r>
              <a:rPr lang="en-US" altLang="zh-CN" sz="1400" spc="6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MONEY)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Note:</a:t>
            </a:r>
            <a:r>
              <a:rPr lang="en-US" altLang="zh-CN" sz="16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ea typeface="Calibri"/>
              </a:rPr>
              <a:t>Before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ea typeface="Calibri"/>
              </a:rPr>
              <a:t>adding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ea typeface="Calibri"/>
              </a:rPr>
              <a:t>primary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ea typeface="Calibri"/>
              </a:rPr>
              <a:t>key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ea typeface="Calibri"/>
              </a:rPr>
              <a:t>constraint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ea typeface="Calibri"/>
              </a:rPr>
              <a:t>make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ea typeface="Calibri"/>
              </a:rPr>
              <a:t>column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ea typeface="Calibri"/>
              </a:rPr>
              <a:t>is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ea typeface="Calibri"/>
              </a:rPr>
              <a:t>not</a:t>
            </a:r>
            <a:r>
              <a:rPr lang="en-US" altLang="zh-CN" sz="1600" spc="-8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ea typeface="Calibri"/>
              </a:rPr>
              <a:t>null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ea typeface="Calibri"/>
              </a:rPr>
              <a:t>later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ea typeface="Calibri"/>
              </a:rPr>
              <a:t>add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ea typeface="Calibri"/>
              </a:rPr>
              <a:t>primary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ea typeface="Calibri"/>
              </a:rPr>
              <a:t>key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ea typeface="Calibri"/>
              </a:rPr>
              <a:t>like</a:t>
            </a:r>
            <a:r>
              <a:rPr lang="en-US" altLang="zh-CN" sz="160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ea typeface="Calibri"/>
              </a:rPr>
              <a:t>below.</a:t>
            </a:r>
          </a:p>
          <a:p>
            <a:pPr>
              <a:lnSpc>
                <a:spcPts val="19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Ex: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ALTER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ALTER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COLUMN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EID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NOT</a:t>
            </a:r>
            <a:r>
              <a:rPr lang="en-US" altLang="zh-CN" sz="140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NULL</a:t>
            </a:r>
          </a:p>
          <a:p>
            <a:pPr>
              <a:lnSpc>
                <a:spcPts val="1820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Ex: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ALTER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ADD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CONSTRAINT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X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PRIMARY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(EID)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(Here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‘x’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constraint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variable)</a:t>
            </a:r>
          </a:p>
          <a:p>
            <a:pPr>
              <a:lnSpc>
                <a:spcPts val="197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Adding</a:t>
            </a:r>
            <a:r>
              <a:rPr lang="en-US" altLang="zh-CN" sz="1600" b="1" u="sng" spc="8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Unique</a:t>
            </a:r>
            <a:r>
              <a:rPr lang="en-US" altLang="zh-CN" sz="1600" b="1" u="sng" spc="8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Key</a:t>
            </a:r>
            <a:r>
              <a:rPr lang="en-US" altLang="zh-CN" sz="1600" b="1" u="sng" spc="8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on</a:t>
            </a:r>
            <a:r>
              <a:rPr lang="en-US" altLang="zh-CN" sz="1600" b="1" u="sng" spc="8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an</a:t>
            </a:r>
            <a:r>
              <a:rPr lang="en-US" altLang="zh-CN" sz="1600" b="1" u="sng" spc="8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existing</a:t>
            </a:r>
            <a:r>
              <a:rPr lang="en-US" altLang="zh-CN" sz="1600" b="1" u="sng" spc="8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table:</a:t>
            </a:r>
          </a:p>
          <a:p>
            <a:pPr>
              <a:lnSpc>
                <a:spcPts val="141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Ex: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ALTER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ADD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CONSTRAINT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X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UNIQUE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(ENAME)</a:t>
            </a:r>
          </a:p>
          <a:p>
            <a:pPr>
              <a:lnSpc>
                <a:spcPts val="188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Adding</a:t>
            </a:r>
            <a:r>
              <a:rPr lang="en-US" altLang="zh-CN" sz="1600" b="1" u="sng" spc="8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Check</a:t>
            </a:r>
            <a:r>
              <a:rPr lang="en-US" altLang="zh-CN" sz="1600" b="1" u="sng" spc="8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Key</a:t>
            </a:r>
            <a:r>
              <a:rPr lang="en-US" altLang="zh-CN" sz="1600" b="1" u="sng" spc="8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on</a:t>
            </a:r>
            <a:r>
              <a:rPr lang="en-US" altLang="zh-CN" sz="1600" b="1" u="sng" spc="8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an</a:t>
            </a:r>
            <a:r>
              <a:rPr lang="en-US" altLang="zh-CN" sz="1600" b="1" u="sng" spc="8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existing</a:t>
            </a:r>
            <a:r>
              <a:rPr lang="en-US" altLang="zh-CN" sz="1600" b="1" u="sng" spc="8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table:</a:t>
            </a:r>
          </a:p>
          <a:p>
            <a:pPr>
              <a:lnSpc>
                <a:spcPts val="142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Ex: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ALTER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ADD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CONSTRAINT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X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CHECK</a:t>
            </a:r>
            <a:r>
              <a:rPr lang="en-US" altLang="zh-CN" sz="140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(SALARY&gt;8000)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Box 223"/>
          <p:cNvSpPr txBox="1"/>
          <p:nvPr/>
        </p:nvSpPr>
        <p:spPr>
          <a:xfrm>
            <a:off x="914704" y="920516"/>
            <a:ext cx="5913042" cy="79171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228600">
              <a:lnSpc>
                <a:spcPct val="10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Adding</a:t>
            </a:r>
            <a:r>
              <a:rPr lang="en-US" altLang="zh-CN" sz="1600" b="1" u="sng" spc="8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Foreign</a:t>
            </a:r>
            <a:r>
              <a:rPr lang="en-US" altLang="zh-CN" sz="1600" b="1" u="sng" spc="8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Key</a:t>
            </a:r>
            <a:r>
              <a:rPr lang="en-US" altLang="zh-CN" sz="1600" b="1" u="sng" spc="8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on</a:t>
            </a:r>
            <a:r>
              <a:rPr lang="en-US" altLang="zh-CN" sz="1600" b="1" u="sng" spc="8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an</a:t>
            </a:r>
            <a:r>
              <a:rPr lang="en-US" altLang="zh-CN" sz="1600" b="1" u="sng" spc="8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existing</a:t>
            </a:r>
            <a:r>
              <a:rPr lang="en-US" altLang="zh-CN" sz="1600" b="1" u="sng" spc="8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table:</a:t>
            </a:r>
          </a:p>
          <a:p>
            <a:pPr>
              <a:lnSpc>
                <a:spcPts val="1505"/>
              </a:lnSpc>
            </a:pPr>
            <a:endParaRPr lang="en-US" dirty="0"/>
          </a:p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Ex: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ALTER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DEPT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ADD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CONSTRAINT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FOREIGN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(EID)</a:t>
            </a:r>
            <a:r>
              <a:rPr lang="en-US" altLang="zh-CN" sz="140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REFERENCES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(EID)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CASCADE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DELETE</a:t>
            </a:r>
            <a:r>
              <a:rPr lang="en-US" altLang="zh-CN" sz="140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CASCADE</a:t>
            </a:r>
          </a:p>
          <a:p>
            <a:pPr>
              <a:lnSpc>
                <a:spcPts val="1964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Dropping</a:t>
            </a:r>
            <a:r>
              <a:rPr lang="en-US" altLang="zh-CN" sz="1600" b="1" u="sng" spc="94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Constraint</a:t>
            </a:r>
            <a:r>
              <a:rPr lang="en-US" altLang="zh-CN" sz="1600" b="1" u="sng" spc="1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from</a:t>
            </a:r>
            <a:r>
              <a:rPr lang="en-US" altLang="zh-CN" sz="1600" b="1" u="sng" spc="1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an</a:t>
            </a:r>
            <a:r>
              <a:rPr lang="en-US" altLang="zh-CN" sz="1600" b="1" u="sng" spc="1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existing</a:t>
            </a:r>
            <a:r>
              <a:rPr lang="en-US" altLang="zh-CN" sz="1600" b="1" u="sng" spc="94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table: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9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Ex: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ALTER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DROP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CONSTRAINT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X</a:t>
            </a:r>
          </a:p>
          <a:p>
            <a:pPr>
              <a:lnSpc>
                <a:spcPts val="1364"/>
              </a:lnSpc>
            </a:pPr>
            <a:endParaRPr lang="en-US" dirty="0"/>
          </a:p>
          <a:p>
            <a:pPr marL="0" hangingPunct="0">
              <a:lnSpc>
                <a:spcPct val="1125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JOINS</a:t>
            </a:r>
            <a:r>
              <a:rPr lang="en-US" altLang="zh-CN" sz="18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</a:t>
            </a:r>
            <a:r>
              <a:rPr lang="en-US" altLang="zh-CN" sz="18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SQL:</a:t>
            </a:r>
            <a:r>
              <a:rPr lang="en-US" altLang="zh-CN" sz="18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Joins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retrieving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more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classified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following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types.</a:t>
            </a:r>
          </a:p>
          <a:p>
            <a:pPr>
              <a:lnSpc>
                <a:spcPts val="107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spc="-85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0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ea typeface="Times New Roman"/>
              </a:rPr>
              <a:t>EQUI</a:t>
            </a:r>
            <a:r>
              <a:rPr lang="en-US" altLang="zh-CN" sz="140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</a:p>
          <a:p>
            <a:pPr marL="0" indent="228600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spc="-8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9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ea typeface="Times New Roman"/>
              </a:rPr>
              <a:t>INNER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spc="-75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9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spc="-65" dirty="0">
                <a:solidFill>
                  <a:srgbClr val="000000"/>
                </a:solidFill>
                <a:latin typeface="Times New Roman"/>
                <a:ea typeface="Times New Roman"/>
              </a:rPr>
              <a:t>OUTER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spc="-55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6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spc="-45" dirty="0">
                <a:solidFill>
                  <a:srgbClr val="000000"/>
                </a:solidFill>
                <a:latin typeface="Times New Roman"/>
                <a:ea typeface="Times New Roman"/>
              </a:rPr>
              <a:t>LEFT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ea typeface="Times New Roman"/>
              </a:rPr>
              <a:t>OUTER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</a:p>
          <a:p>
            <a:pPr marL="0" indent="228600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spc="-55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6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ea typeface="Times New Roman"/>
              </a:rPr>
              <a:t>RIGHT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45" dirty="0">
                <a:solidFill>
                  <a:srgbClr val="000000"/>
                </a:solidFill>
                <a:latin typeface="Times New Roman"/>
                <a:ea typeface="Times New Roman"/>
              </a:rPr>
              <a:t>OUTER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spc="-55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6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spc="-45" dirty="0">
                <a:solidFill>
                  <a:srgbClr val="000000"/>
                </a:solidFill>
                <a:latin typeface="Times New Roman"/>
                <a:ea typeface="Times New Roman"/>
              </a:rPr>
              <a:t>FULL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ea typeface="Times New Roman"/>
              </a:rPr>
              <a:t>OUTER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spc="-65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7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ea typeface="Times New Roman"/>
              </a:rPr>
              <a:t>NON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ea typeface="Times New Roman"/>
              </a:rPr>
              <a:t>EQUI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45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</a:p>
          <a:p>
            <a:pPr marL="0" indent="228600">
              <a:lnSpc>
                <a:spcPct val="100000"/>
              </a:lnSpc>
              <a:spcBef>
                <a:spcPts val="170"/>
              </a:spcBef>
            </a:pPr>
            <a:r>
              <a:rPr lang="en-US" altLang="zh-CN" sz="1400" spc="-85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0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spc="-65" dirty="0">
                <a:solidFill>
                  <a:srgbClr val="000000"/>
                </a:solidFill>
                <a:latin typeface="Times New Roman"/>
                <a:ea typeface="Times New Roman"/>
              </a:rPr>
              <a:t>SELF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</a:p>
          <a:p>
            <a:pPr marL="0" indent="228600">
              <a:lnSpc>
                <a:spcPct val="100000"/>
              </a:lnSpc>
              <a:spcBef>
                <a:spcPts val="179"/>
              </a:spcBef>
            </a:pPr>
            <a:r>
              <a:rPr lang="en-US" altLang="zh-CN" sz="1400" spc="-75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9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ea typeface="Times New Roman"/>
              </a:rPr>
              <a:t>CROSS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spc="-65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8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ea typeface="Times New Roman"/>
              </a:rPr>
              <a:t>NATURAL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</a:p>
          <a:p>
            <a:pPr>
              <a:lnSpc>
                <a:spcPts val="1064"/>
              </a:lnSpc>
            </a:pPr>
            <a:endParaRPr lang="en-US" dirty="0"/>
          </a:p>
          <a:p>
            <a:pPr marL="0" hangingPunct="0">
              <a:lnSpc>
                <a:spcPct val="110416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EQUI</a:t>
            </a:r>
            <a:r>
              <a:rPr lang="en-US" altLang="zh-CN" sz="16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JOIN:</a:t>
            </a:r>
            <a:r>
              <a:rPr lang="en-US" altLang="zh-CN" sz="16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more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combined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equality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condition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Equi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join.</a:t>
            </a:r>
          </a:p>
          <a:p>
            <a:pPr>
              <a:lnSpc>
                <a:spcPts val="106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WAQ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matching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</a:t>
            </a:r>
          </a:p>
          <a:p>
            <a:pPr>
              <a:lnSpc>
                <a:spcPts val="106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Sol: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(EMP.EID=DEPT.DNO)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(NON-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ANSI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STANDARD)</a:t>
            </a:r>
          </a:p>
          <a:p>
            <a:pPr>
              <a:lnSpc>
                <a:spcPts val="969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Sol: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E.EID,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E.ENAME,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E.SALARY,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D.DNO,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D.DNAME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E.EID=D.DNO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(NON-ANSI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STANDARD)</a:t>
            </a:r>
          </a:p>
          <a:p>
            <a:pPr>
              <a:lnSpc>
                <a:spcPts val="10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INNER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JOIN: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Inner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those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match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both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</a:p>
          <a:p>
            <a:pPr>
              <a:lnSpc>
                <a:spcPts val="118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INNER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E.EID=D.DNO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(ANSI)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Box 224"/>
          <p:cNvSpPr txBox="1"/>
          <p:nvPr/>
        </p:nvSpPr>
        <p:spPr>
          <a:xfrm>
            <a:off x="914704" y="890590"/>
            <a:ext cx="5983387" cy="751816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OUTTER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JOIN: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extension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Equi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Equi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condition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matching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</a:t>
            </a:r>
            <a:r>
              <a:rPr lang="en-US" altLang="zh-CN" sz="1400" spc="-1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matching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tables.</a:t>
            </a:r>
          </a:p>
          <a:p>
            <a:pPr>
              <a:lnSpc>
                <a:spcPts val="989"/>
              </a:lnSpc>
            </a:pPr>
            <a:endParaRPr lang="en-US" dirty="0"/>
          </a:p>
          <a:p>
            <a:pPr marL="0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overcome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above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problem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matching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matching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again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classified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three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</a:t>
            </a:r>
          </a:p>
          <a:p>
            <a:pPr>
              <a:lnSpc>
                <a:spcPts val="950"/>
              </a:lnSpc>
            </a:pPr>
            <a:endParaRPr lang="en-US" dirty="0"/>
          </a:p>
          <a:p>
            <a:pPr marL="0" hangingPunct="0">
              <a:lnSpc>
                <a:spcPct val="11208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LEFT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OUTER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JOIN: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retrieve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matching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matching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left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side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</a:p>
          <a:p>
            <a:pPr>
              <a:lnSpc>
                <a:spcPts val="939"/>
              </a:lnSpc>
            </a:pPr>
            <a:endParaRPr lang="en-US" dirty="0"/>
          </a:p>
          <a:p>
            <a:pPr marL="0" hangingPunct="0">
              <a:lnSpc>
                <a:spcPct val="11208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LEFT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P.EID=DEPT.DNO;</a:t>
            </a:r>
          </a:p>
          <a:p>
            <a:pPr>
              <a:lnSpc>
                <a:spcPts val="939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RIGHT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OUTER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JOIN: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retrieve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matching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matching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right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side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</a:p>
          <a:p>
            <a:pPr>
              <a:lnSpc>
                <a:spcPts val="96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RIGHT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P.EID=DEPT.DNO;</a:t>
            </a:r>
          </a:p>
          <a:p>
            <a:pPr>
              <a:lnSpc>
                <a:spcPts val="960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FULL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OUTER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JOIN: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retrieve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matching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matching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left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plus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right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also.</a:t>
            </a:r>
          </a:p>
          <a:p>
            <a:pPr>
              <a:lnSpc>
                <a:spcPts val="96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P.EID=DEPT.DNO;</a:t>
            </a:r>
          </a:p>
          <a:p>
            <a:pPr>
              <a:lnSpc>
                <a:spcPts val="96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NON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EQUI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JOIN: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condition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other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equality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condition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Equi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join.</a:t>
            </a:r>
          </a:p>
          <a:p>
            <a:pPr>
              <a:lnSpc>
                <a:spcPts val="96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SALGRADE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&gt;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LOWSAL)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HIGHSAL)</a:t>
            </a:r>
          </a:p>
          <a:p>
            <a:pPr>
              <a:lnSpc>
                <a:spcPts val="950"/>
              </a:lnSpc>
            </a:pPr>
            <a:endParaRPr lang="en-US" dirty="0"/>
          </a:p>
          <a:p>
            <a:pPr marL="0" hangingPunct="0">
              <a:lnSpc>
                <a:spcPct val="11208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SELF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JOIN: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itself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known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have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between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self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join.</a:t>
            </a:r>
          </a:p>
          <a:p>
            <a:pPr>
              <a:lnSpc>
                <a:spcPts val="985"/>
              </a:lnSpc>
            </a:pPr>
            <a:endParaRPr lang="en-US" dirty="0"/>
          </a:p>
          <a:p>
            <a:pPr marL="0" hangingPunct="0">
              <a:lnSpc>
                <a:spcPct val="110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implement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should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alias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alias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Freeform 225"/>
          <p:cNvSpPr/>
          <p:nvPr/>
        </p:nvSpPr>
        <p:spPr>
          <a:xfrm>
            <a:off x="906017" y="4436617"/>
            <a:ext cx="363982" cy="21082"/>
          </a:xfrm>
          <a:custGeom>
            <a:avLst/>
            <a:gdLst>
              <a:gd name="connsiteX0" fmla="*/ 8686 w 363982"/>
              <a:gd name="connsiteY0" fmla="*/ 16383 h 21082"/>
              <a:gd name="connsiteX1" fmla="*/ 359206 w 363982"/>
              <a:gd name="connsiteY1" fmla="*/ 16383 h 21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3982" h="21082">
                <a:moveTo>
                  <a:pt x="8686" y="16383"/>
                </a:moveTo>
                <a:lnTo>
                  <a:pt x="359206" y="16383"/>
                </a:lnTo>
              </a:path>
            </a:pathLst>
          </a:custGeom>
          <a:ln w="16764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" name="TextBox 226"/>
          <p:cNvSpPr txBox="1"/>
          <p:nvPr/>
        </p:nvSpPr>
        <p:spPr>
          <a:xfrm>
            <a:off x="914704" y="890590"/>
            <a:ext cx="5976140" cy="79235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E.EID,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E.ENAME,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E.SALARY,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M.MID,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M.ENAME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MANAGERSNAME,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M.SALARY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E.EID=M.M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ID.</a:t>
            </a:r>
          </a:p>
          <a:p>
            <a:pPr>
              <a:lnSpc>
                <a:spcPts val="94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CROSS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JOIN: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Cross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without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condition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cross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cross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each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first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each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second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>
              <a:lnSpc>
                <a:spcPts val="96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So,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first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„m‟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second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„n‟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rows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output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ea typeface="Times New Roman"/>
              </a:rPr>
              <a:t>„m*n‟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ea typeface="Times New Roman"/>
              </a:rPr>
              <a:t>rows.</a:t>
            </a:r>
          </a:p>
          <a:p>
            <a:pPr>
              <a:lnSpc>
                <a:spcPts val="105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EMP,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CROSS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NATURAL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JOIN: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avoid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duplicate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tables.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4195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DNO,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</a:p>
          <a:p>
            <a:pPr marL="0">
              <a:lnSpc>
                <a:spcPct val="10000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E.EID=D.DNO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Making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Joins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Three</a:t>
            </a:r>
            <a:r>
              <a:rPr lang="en-US" altLang="zh-CN" sz="2000" b="1" u="sng" spc="-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Tables:</a:t>
            </a:r>
          </a:p>
          <a:p>
            <a:pPr>
              <a:lnSpc>
                <a:spcPts val="1314"/>
              </a:lnSpc>
            </a:pPr>
            <a:endParaRPr lang="en-US" dirty="0"/>
          </a:p>
          <a:p>
            <a:pPr marL="0" hangingPunct="0">
              <a:lnSpc>
                <a:spcPct val="117083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CREATE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TABLE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STUDENTS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(SID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Int,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SNAME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varchar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(20),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SMBNO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char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(10),</a:t>
            </a:r>
            <a:r>
              <a:rPr lang="en-US" altLang="zh-CN" sz="1400" b="1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CID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spc="-5" dirty="0">
                <a:solidFill>
                  <a:srgbClr val="000000"/>
                </a:solidFill>
                <a:latin typeface="Calibri"/>
                <a:ea typeface="Calibri"/>
              </a:rPr>
              <a:t>I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nt)</a:t>
            </a:r>
          </a:p>
          <a:p>
            <a:pPr>
              <a:lnSpc>
                <a:spcPts val="994"/>
              </a:lnSpc>
            </a:pPr>
            <a:endParaRPr lang="en-US" dirty="0"/>
          </a:p>
          <a:p>
            <a:pPr marL="0" hangingPunct="0">
              <a:lnSpc>
                <a:spcPct val="117083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INSERT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STUDENT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VALUES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(1,'aa',’7894561233’,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10),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(2,'bb',’9874563211’,</a:t>
            </a:r>
            <a:r>
              <a:rPr lang="en-US" altLang="zh-CN" sz="1400" b="1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20),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(3,'cc',’8749653215’,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30),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(4,’dd’,’7788996655’,</a:t>
            </a:r>
            <a:r>
              <a:rPr lang="en-US" altLang="zh-CN" sz="1400" b="1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40)</a:t>
            </a:r>
          </a:p>
          <a:p>
            <a:pPr>
              <a:lnSpc>
                <a:spcPts val="113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CREATE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TABLE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COURSES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(CID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int,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CNAME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Varchar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(20),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CFEE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decimal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(6,</a:t>
            </a:r>
            <a:r>
              <a:rPr lang="en-US" altLang="zh-CN" sz="1400" b="1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2))</a:t>
            </a:r>
          </a:p>
          <a:p>
            <a:pPr>
              <a:lnSpc>
                <a:spcPts val="1139"/>
              </a:lnSpc>
            </a:pPr>
            <a:endParaRPr lang="en-US" dirty="0"/>
          </a:p>
          <a:p>
            <a:pPr marL="0" hangingPunct="0">
              <a:lnSpc>
                <a:spcPct val="117083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INSERT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COURSES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VALUES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(10,'c',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500),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(20,'c++',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1000),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(50,'sql',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1800),</a:t>
            </a:r>
            <a:r>
              <a:rPr lang="en-US" altLang="zh-CN" sz="1400" b="1" spc="-3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(60,’.net’,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3500),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(70,’sap’,</a:t>
            </a:r>
            <a:r>
              <a:rPr lang="en-US" altLang="zh-CN" sz="1400" b="1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8000)</a:t>
            </a:r>
          </a:p>
          <a:p>
            <a:pPr>
              <a:lnSpc>
                <a:spcPts val="114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CREATE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TABLE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REGISTER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(SNO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int,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REGDATE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date,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CID</a:t>
            </a:r>
            <a:r>
              <a:rPr lang="en-US" altLang="zh-CN" sz="1400" b="1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Int)</a:t>
            </a:r>
          </a:p>
          <a:p>
            <a:pPr>
              <a:lnSpc>
                <a:spcPts val="1139"/>
              </a:lnSpc>
            </a:pPr>
            <a:endParaRPr lang="en-US" dirty="0"/>
          </a:p>
          <a:p>
            <a:pPr marL="0" hangingPunct="0">
              <a:lnSpc>
                <a:spcPct val="117083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INSERT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REGISTER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VALUES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(100,’2014/10/20’,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10),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(101,’2014/10/21’,</a:t>
            </a:r>
            <a:r>
              <a:rPr lang="en-US" altLang="zh-CN" sz="1400" b="1" spc="-6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80),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(102,’2014/10/22’,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spc="-10" dirty="0">
                <a:solidFill>
                  <a:srgbClr val="000000"/>
                </a:solidFill>
                <a:latin typeface="Calibri"/>
                <a:ea typeface="Calibri"/>
              </a:rPr>
              <a:t>9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0)</a:t>
            </a:r>
          </a:p>
          <a:p>
            <a:pPr>
              <a:lnSpc>
                <a:spcPts val="113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----------------------------------------------</a:t>
            </a:r>
            <a:r>
              <a:rPr lang="en-US" altLang="zh-CN" sz="1400" b="1" spc="-5" dirty="0">
                <a:solidFill>
                  <a:srgbClr val="000000"/>
                </a:solidFill>
                <a:latin typeface="Calibri"/>
                <a:ea typeface="Calibri"/>
              </a:rPr>
              <a:t>--------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---------------------------------------------------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extBox 227"/>
          <p:cNvSpPr txBox="1"/>
          <p:nvPr/>
        </p:nvSpPr>
        <p:spPr>
          <a:xfrm>
            <a:off x="914704" y="913511"/>
            <a:ext cx="5937415" cy="63843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7499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Select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*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from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course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c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inner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join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student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s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on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c.cid=s.cid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inner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join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register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r</a:t>
            </a:r>
            <a:r>
              <a:rPr lang="en-US" altLang="zh-CN" sz="1400" b="1" spc="-3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on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spc="5" dirty="0">
                <a:solidFill>
                  <a:srgbClr val="000000"/>
                </a:solidFill>
                <a:latin typeface="Calibri"/>
                <a:ea typeface="Calibri"/>
              </a:rPr>
              <a:t>s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.cid=r.cid</a:t>
            </a:r>
          </a:p>
          <a:p>
            <a:pPr>
              <a:lnSpc>
                <a:spcPts val="980"/>
              </a:lnSpc>
            </a:pPr>
            <a:endParaRPr lang="en-US" dirty="0"/>
          </a:p>
          <a:p>
            <a:pPr marL="0" hangingPunct="0">
              <a:lnSpc>
                <a:spcPct val="117499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Select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*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from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student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s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left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outer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join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course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c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on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s.cid=c.cid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left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outer</a:t>
            </a:r>
            <a:r>
              <a:rPr lang="en-US" altLang="zh-CN" sz="1400" b="1" spc="-6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join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register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r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on</a:t>
            </a:r>
            <a:r>
              <a:rPr lang="en-US" altLang="zh-CN" sz="1400" b="1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c.cid=r.cid</a:t>
            </a:r>
          </a:p>
          <a:p>
            <a:pPr>
              <a:lnSpc>
                <a:spcPts val="131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TRANSACTION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CONTROLL</a:t>
            </a:r>
            <a:r>
              <a:rPr lang="en-US" altLang="zh-CN" sz="1800" b="1" u="sng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LANGUAGE</a:t>
            </a:r>
          </a:p>
          <a:p>
            <a:pPr>
              <a:lnSpc>
                <a:spcPts val="1305"/>
              </a:lnSpc>
            </a:pPr>
            <a:endParaRPr lang="en-US" dirty="0"/>
          </a:p>
          <a:p>
            <a:pPr marL="0" hangingPunct="0">
              <a:lnSpc>
                <a:spcPct val="96666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TRANSACTION: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against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(Insert,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should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unit.</a:t>
            </a:r>
          </a:p>
          <a:p>
            <a:pPr>
              <a:lnSpc>
                <a:spcPts val="1405"/>
              </a:lnSpc>
            </a:pPr>
            <a:endParaRPr lang="en-US" dirty="0"/>
          </a:p>
          <a:p>
            <a:pPr marL="457149" indent="-228549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propagation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more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database.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example,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you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deleting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you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important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control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ensure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integrity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handle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errors.</a:t>
            </a:r>
          </a:p>
          <a:p>
            <a:pPr marL="457149" indent="-228549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9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rule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tells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either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should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successfully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those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executed.</a:t>
            </a:r>
          </a:p>
          <a:p>
            <a:pPr>
              <a:lnSpc>
                <a:spcPts val="1405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manage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provide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control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provides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commands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</a:p>
          <a:p>
            <a:pPr>
              <a:lnSpc>
                <a:spcPts val="1325"/>
              </a:lnSpc>
            </a:pPr>
            <a:endParaRPr lang="en-US" dirty="0"/>
          </a:p>
          <a:p>
            <a:pPr marL="0" indent="266700">
              <a:lnSpc>
                <a:spcPct val="100000"/>
              </a:lnSpc>
            </a:pPr>
            <a:r>
              <a:rPr lang="en-US" altLang="zh-CN" sz="1400" spc="-44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5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ea typeface="Times New Roman"/>
              </a:rPr>
              <a:t>EGIN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</a:p>
          <a:p>
            <a:pPr marL="0" indent="266700">
              <a:lnSpc>
                <a:spcPct val="966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71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COMMIT</a:t>
            </a:r>
          </a:p>
          <a:p>
            <a:pPr marL="0" indent="266700">
              <a:lnSpc>
                <a:spcPct val="96249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72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ROLLBACK</a:t>
            </a:r>
          </a:p>
          <a:p>
            <a:pPr marL="0" indent="266700">
              <a:lnSpc>
                <a:spcPct val="100000"/>
              </a:lnSpc>
            </a:pPr>
            <a:r>
              <a:rPr lang="en-US" altLang="zh-CN" sz="1400" spc="-75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9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spc="-65" dirty="0">
                <a:solidFill>
                  <a:srgbClr val="000000"/>
                </a:solidFill>
                <a:latin typeface="Times New Roman"/>
                <a:ea typeface="Times New Roman"/>
              </a:rPr>
              <a:t>SAVE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ea typeface="Times New Roman"/>
              </a:rPr>
              <a:t>POINT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76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BEGIN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TRANSACTION: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Begin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  <a:hlinkClick r:id="rId2"/>
              </a:rPr>
              <a:t>Transaction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start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Begin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  <a:hlinkClick r:id="" action="ppaction://noaction"/>
              </a:rPr>
              <a:t>Transaction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add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nested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transactions.</a:t>
            </a:r>
          </a:p>
        </p:txBody>
      </p:sp>
      <p:sp>
        <p:nvSpPr>
          <p:cNvPr id="228" name="TextBox 228"/>
          <p:cNvSpPr txBox="1"/>
          <p:nvPr/>
        </p:nvSpPr>
        <p:spPr>
          <a:xfrm>
            <a:off x="914704" y="7435791"/>
            <a:ext cx="711489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u="sng" spc="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yntax:</a:t>
            </a:r>
          </a:p>
        </p:txBody>
      </p:sp>
      <p:sp>
        <p:nvSpPr>
          <p:cNvPr id="229" name="TextBox 229"/>
          <p:cNvSpPr txBox="1"/>
          <p:nvPr/>
        </p:nvSpPr>
        <p:spPr>
          <a:xfrm>
            <a:off x="1829054" y="7435791"/>
            <a:ext cx="1544715" cy="4495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44195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Begin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</a:p>
          <a:p>
            <a:pPr marL="0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&lt;Write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Statements&gt;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Box 230"/>
          <p:cNvSpPr txBox="1"/>
          <p:nvPr/>
        </p:nvSpPr>
        <p:spPr>
          <a:xfrm>
            <a:off x="914704" y="890590"/>
            <a:ext cx="5879078" cy="25927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COMMIT: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  <a:hlinkClick r:id="rId2"/>
              </a:rPr>
              <a:t>transaction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permanent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(or)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make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permanent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undo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records.</a:t>
            </a:r>
          </a:p>
          <a:p>
            <a:pPr>
              <a:lnSpc>
                <a:spcPts val="1845"/>
              </a:lnSpc>
            </a:pPr>
            <a:endParaRPr lang="en-US" dirty="0"/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8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Commit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saving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been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permanently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because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whenever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you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DML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Manipulation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you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required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every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DML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order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save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perm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anently.</a:t>
            </a:r>
          </a:p>
          <a:p>
            <a:pPr marL="457149" indent="-228549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you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Commit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your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restored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its</a:t>
            </a:r>
            <a:r>
              <a:rPr lang="en-US" altLang="zh-CN" sz="1400" spc="-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previous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ondition.</a:t>
            </a:r>
          </a:p>
        </p:txBody>
      </p:sp>
      <p:sp>
        <p:nvSpPr>
          <p:cNvPr id="231" name="TextBox 231"/>
          <p:cNvSpPr txBox="1"/>
          <p:nvPr/>
        </p:nvSpPr>
        <p:spPr>
          <a:xfrm>
            <a:off x="914704" y="3620584"/>
            <a:ext cx="711489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u="sng" spc="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yntax:</a:t>
            </a:r>
          </a:p>
        </p:txBody>
      </p:sp>
      <p:sp>
        <p:nvSpPr>
          <p:cNvPr id="232" name="TextBox 232"/>
          <p:cNvSpPr txBox="1"/>
          <p:nvPr/>
        </p:nvSpPr>
        <p:spPr>
          <a:xfrm>
            <a:off x="1829054" y="3620584"/>
            <a:ext cx="1496230" cy="7870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44195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Begin</a:t>
            </a: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</a:p>
          <a:p>
            <a:pPr marL="0">
              <a:lnSpc>
                <a:spcPct val="100000"/>
              </a:lnSpc>
              <a:spcBef>
                <a:spcPts val="135"/>
              </a:spcBef>
            </a:pP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&lt;Write</a:t>
            </a:r>
            <a:r>
              <a:rPr lang="en-US" altLang="zh-CN" sz="1400" b="1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Statements&gt;</a:t>
            </a:r>
          </a:p>
          <a:p>
            <a:pPr>
              <a:lnSpc>
                <a:spcPts val="101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spc="-5" dirty="0">
                <a:solidFill>
                  <a:srgbClr val="000000"/>
                </a:solidFill>
                <a:latin typeface="Calibri"/>
                <a:ea typeface="Calibri"/>
              </a:rPr>
              <a:t>Co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mmit</a:t>
            </a:r>
          </a:p>
        </p:txBody>
      </p:sp>
      <p:sp>
        <p:nvSpPr>
          <p:cNvPr id="233" name="TextBox 233"/>
          <p:cNvSpPr txBox="1"/>
          <p:nvPr/>
        </p:nvSpPr>
        <p:spPr>
          <a:xfrm>
            <a:off x="914704" y="4524015"/>
            <a:ext cx="5949296" cy="42346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BEGIN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</a:p>
          <a:p>
            <a:pPr>
              <a:lnSpc>
                <a:spcPts val="960"/>
              </a:lnSpc>
            </a:pPr>
            <a:endParaRPr lang="en-US" dirty="0"/>
          </a:p>
          <a:p>
            <a:pPr marL="457149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b="1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VALUES(105,'KAMAL',62000,'MUMBAI')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VALUES(106,'SUJATHA',82000,'DELHI')</a:t>
            </a:r>
          </a:p>
          <a:p>
            <a:pPr>
              <a:lnSpc>
                <a:spcPts val="994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MMIT</a:t>
            </a:r>
          </a:p>
          <a:p>
            <a:pPr>
              <a:lnSpc>
                <a:spcPts val="969"/>
              </a:lnSpc>
            </a:pPr>
            <a:endParaRPr lang="en-US" dirty="0"/>
          </a:p>
          <a:p>
            <a:pPr marL="457149" indent="-228549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0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above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permanently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because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commited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records.so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previous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position.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695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ROLLBACK: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Rollback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undo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gets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initial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  <a:hlinkClick r:id="" action="ppaction://noaction"/>
              </a:rPr>
              <a:t>transaction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started.</a:t>
            </a:r>
          </a:p>
          <a:p>
            <a:pPr marL="457149" indent="-228549" hangingPunct="0">
              <a:lnSpc>
                <a:spcPct val="120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8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Whereas</a:t>
            </a:r>
            <a:r>
              <a:rPr lang="en-US" altLang="zh-CN" sz="1400" spc="-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if</a:t>
            </a:r>
            <a:r>
              <a:rPr lang="en-US" altLang="zh-CN" sz="140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you</a:t>
            </a:r>
            <a:r>
              <a:rPr lang="en-US" altLang="zh-CN" sz="1400" spc="-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want</a:t>
            </a:r>
            <a:r>
              <a:rPr lang="en-US" altLang="zh-CN" sz="140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to</a:t>
            </a:r>
            <a:r>
              <a:rPr lang="en-US" altLang="zh-CN" sz="1400" spc="-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restore</a:t>
            </a:r>
            <a:r>
              <a:rPr lang="en-US" altLang="zh-CN" sz="140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your</a:t>
            </a:r>
            <a:r>
              <a:rPr lang="en-US" altLang="zh-CN" sz="1400" spc="-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data</a:t>
            </a:r>
            <a:r>
              <a:rPr lang="en-US" altLang="zh-CN" sz="140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into</a:t>
            </a:r>
            <a:r>
              <a:rPr lang="en-US" altLang="zh-CN" sz="1400" spc="-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its</a:t>
            </a:r>
            <a:r>
              <a:rPr lang="en-US" altLang="zh-CN" sz="140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previous</a:t>
            </a:r>
            <a:r>
              <a:rPr lang="en-US" altLang="zh-CN" sz="1400" spc="-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condition</a:t>
            </a:r>
            <a:r>
              <a:rPr lang="en-US" altLang="zh-CN" sz="140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you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write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Rollback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time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after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DML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queries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has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been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written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but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remember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once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Commit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has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been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written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you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cannot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rollback</a:t>
            </a:r>
            <a:r>
              <a:rPr lang="en-US" altLang="zh-CN" sz="1400" spc="-6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Calibri"/>
                <a:ea typeface="Calibri"/>
              </a:rPr>
              <a:t>da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ta.</a:t>
            </a:r>
          </a:p>
          <a:p>
            <a:pPr marL="457149" indent="-228549" hangingPunct="0">
              <a:lnSpc>
                <a:spcPct val="121249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0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Moreover</a:t>
            </a:r>
            <a:r>
              <a:rPr lang="en-US" altLang="zh-CN" sz="1400" spc="-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you</a:t>
            </a:r>
            <a:r>
              <a:rPr lang="en-US" altLang="zh-CN" sz="140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can</a:t>
            </a:r>
            <a:r>
              <a:rPr lang="en-US" altLang="zh-CN" sz="1400" spc="-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only</a:t>
            </a:r>
            <a:r>
              <a:rPr lang="en-US" altLang="zh-CN" sz="1400" spc="-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rollback</a:t>
            </a:r>
            <a:r>
              <a:rPr lang="en-US" altLang="zh-CN" sz="1400" spc="-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DML</a:t>
            </a:r>
            <a:r>
              <a:rPr lang="en-US" altLang="zh-CN" sz="1400" spc="-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queries</a:t>
            </a:r>
            <a:r>
              <a:rPr lang="en-US" altLang="zh-CN" sz="140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that</a:t>
            </a:r>
            <a:r>
              <a:rPr lang="en-US" altLang="zh-CN" sz="1400" spc="-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have</a:t>
            </a:r>
            <a:r>
              <a:rPr lang="en-US" altLang="zh-CN" sz="1400" spc="-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been</a:t>
            </a:r>
            <a:r>
              <a:rPr lang="en-US" altLang="zh-CN" sz="140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written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after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last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commit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statement.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concept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commit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rollback</a:t>
            </a:r>
            <a:r>
              <a:rPr lang="en-US" altLang="zh-CN" sz="140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designed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consistency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because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many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users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manipulate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r>
              <a:rPr lang="en-US" altLang="zh-CN" sz="1400" spc="-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Freeform 234"/>
          <p:cNvSpPr/>
          <p:nvPr/>
        </p:nvSpPr>
        <p:spPr>
          <a:xfrm>
            <a:off x="906017" y="7256017"/>
            <a:ext cx="363982" cy="33782"/>
          </a:xfrm>
          <a:custGeom>
            <a:avLst/>
            <a:gdLst>
              <a:gd name="connsiteX0" fmla="*/ 8686 w 363982"/>
              <a:gd name="connsiteY0" fmla="*/ 19685 h 33782"/>
              <a:gd name="connsiteX1" fmla="*/ 363778 w 363982"/>
              <a:gd name="connsiteY1" fmla="*/ 19685 h 33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3982" h="33782">
                <a:moveTo>
                  <a:pt x="8686" y="19685"/>
                </a:moveTo>
                <a:lnTo>
                  <a:pt x="363778" y="19685"/>
                </a:lnTo>
              </a:path>
            </a:pathLst>
          </a:custGeom>
          <a:ln w="16764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" name="TextBox 235"/>
          <p:cNvSpPr txBox="1"/>
          <p:nvPr/>
        </p:nvSpPr>
        <p:spPr>
          <a:xfrm>
            <a:off x="1371853" y="913511"/>
            <a:ext cx="5285601" cy="5029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7499"/>
              </a:lnSpc>
            </a:pP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same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table,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same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must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get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updated</a:t>
            </a:r>
            <a:r>
              <a:rPr lang="en-US" altLang="zh-CN" sz="1400" spc="-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data.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why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commit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rollback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are</a:t>
            </a:r>
            <a:r>
              <a:rPr lang="en-US" altLang="zh-CN" sz="140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used.</a:t>
            </a:r>
          </a:p>
        </p:txBody>
      </p:sp>
      <p:sp>
        <p:nvSpPr>
          <p:cNvPr id="236" name="TextBox 236"/>
          <p:cNvSpPr txBox="1"/>
          <p:nvPr/>
        </p:nvSpPr>
        <p:spPr>
          <a:xfrm>
            <a:off x="914704" y="1533847"/>
            <a:ext cx="711489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u="sng" spc="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yntax:</a:t>
            </a:r>
          </a:p>
        </p:txBody>
      </p:sp>
      <p:sp>
        <p:nvSpPr>
          <p:cNvPr id="237" name="TextBox 237"/>
          <p:cNvSpPr txBox="1"/>
          <p:nvPr/>
        </p:nvSpPr>
        <p:spPr>
          <a:xfrm>
            <a:off x="1868677" y="1517094"/>
            <a:ext cx="1460183" cy="4585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07083"/>
              </a:lnSpc>
            </a:pPr>
            <a:r>
              <a:rPr lang="en-US" altLang="zh-CN" sz="1400" b="1" spc="15" dirty="0">
                <a:solidFill>
                  <a:srgbClr val="000000"/>
                </a:solidFill>
                <a:latin typeface="Times New Roman"/>
                <a:ea typeface="Times New Roman"/>
              </a:rPr>
              <a:t>Begin</a:t>
            </a:r>
            <a:r>
              <a:rPr lang="en-US" altLang="zh-CN" sz="1400" b="1" spc="-1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2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5" dirty="0">
                <a:solidFill>
                  <a:srgbClr val="000000"/>
                </a:solidFill>
                <a:latin typeface="Calibri"/>
                <a:ea typeface="Calibri"/>
              </a:rPr>
              <a:t>R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ollback</a:t>
            </a:r>
          </a:p>
        </p:txBody>
      </p:sp>
      <p:sp>
        <p:nvSpPr>
          <p:cNvPr id="238" name="TextBox 238"/>
          <p:cNvSpPr txBox="1"/>
          <p:nvPr/>
        </p:nvSpPr>
        <p:spPr>
          <a:xfrm>
            <a:off x="914704" y="2085213"/>
            <a:ext cx="5958394" cy="39266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BEGIN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</a:p>
          <a:p>
            <a:pPr marL="457149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=105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=106</a:t>
            </a:r>
          </a:p>
          <a:p>
            <a:pPr>
              <a:lnSpc>
                <a:spcPts val="1039"/>
              </a:lnSpc>
            </a:pPr>
            <a:endParaRPr lang="en-US" dirty="0"/>
          </a:p>
          <a:p>
            <a:pPr marL="457149" hangingPunct="0">
              <a:lnSpc>
                <a:spcPct val="95833"/>
              </a:lnSpc>
            </a:pPr>
            <a:r>
              <a:rPr lang="en-US" altLang="zh-CN" sz="1400" spc="15" dirty="0">
                <a:solidFill>
                  <a:srgbClr val="000000"/>
                </a:solidFill>
                <a:latin typeface="Times New Roman"/>
                <a:ea typeface="Times New Roman"/>
              </a:rPr>
              <a:t>BEGIN</a:t>
            </a:r>
            <a:r>
              <a:rPr lang="en-US" altLang="zh-CN" sz="1400" spc="-1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ROL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LBACK</a:t>
            </a:r>
          </a:p>
          <a:p>
            <a:pPr>
              <a:lnSpc>
                <a:spcPts val="994"/>
              </a:lnSpc>
            </a:pPr>
            <a:endParaRPr lang="en-US" dirty="0"/>
          </a:p>
          <a:p>
            <a:pPr marL="457149" indent="-228549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above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rollback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because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those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co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mmited.</a:t>
            </a:r>
          </a:p>
          <a:p>
            <a:pPr>
              <a:lnSpc>
                <a:spcPts val="84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SAVEPOINT:</a:t>
            </a:r>
            <a:r>
              <a:rPr lang="en-US" altLang="zh-CN" sz="1400" b="1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Save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point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dividing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(or)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breaking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multiple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units.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backing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ocation.</a:t>
            </a:r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6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sets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save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point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save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point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defines</a:t>
            </a:r>
            <a:r>
              <a:rPr lang="en-US" altLang="zh-CN" sz="1400" spc="-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location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conditionally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canceled.</a:t>
            </a:r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6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roll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back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save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point,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must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proceed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completion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cancelled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altogether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rolling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its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beginning</a:t>
            </a:r>
          </a:p>
        </p:txBody>
      </p:sp>
      <p:sp>
        <p:nvSpPr>
          <p:cNvPr id="239" name="TextBox 239"/>
          <p:cNvSpPr txBox="1"/>
          <p:nvPr/>
        </p:nvSpPr>
        <p:spPr>
          <a:xfrm>
            <a:off x="914704" y="6150678"/>
            <a:ext cx="711489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u="sng" spc="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yntax:</a:t>
            </a:r>
          </a:p>
        </p:txBody>
      </p:sp>
      <p:sp>
        <p:nvSpPr>
          <p:cNvPr id="240" name="TextBox 240"/>
          <p:cNvSpPr txBox="1"/>
          <p:nvPr/>
        </p:nvSpPr>
        <p:spPr>
          <a:xfrm>
            <a:off x="1829054" y="6150678"/>
            <a:ext cx="2924691" cy="7917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Begin</a:t>
            </a: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</a:p>
          <a:p>
            <a:pPr>
              <a:lnSpc>
                <a:spcPts val="830"/>
              </a:lnSpc>
            </a:pPr>
            <a:endParaRPr lang="en-US" dirty="0"/>
          </a:p>
          <a:p>
            <a:pPr marL="0" hangingPunct="0">
              <a:lnSpc>
                <a:spcPct val="110416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Save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&lt;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b="1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&lt;Write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Statements&gt;</a:t>
            </a:r>
          </a:p>
        </p:txBody>
      </p:sp>
      <p:sp>
        <p:nvSpPr>
          <p:cNvPr id="241" name="TextBox 241"/>
          <p:cNvSpPr txBox="1"/>
          <p:nvPr/>
        </p:nvSpPr>
        <p:spPr>
          <a:xfrm>
            <a:off x="914704" y="7071234"/>
            <a:ext cx="5363718" cy="18511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BEGIN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</a:p>
          <a:p>
            <a:pPr marL="457149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=99000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=101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=88000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=102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S1</a:t>
            </a:r>
          </a:p>
          <a:p>
            <a:pPr marL="457149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=77000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=103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=66000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=104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S2</a:t>
            </a:r>
          </a:p>
          <a:p>
            <a:pPr marL="457149" hangingPunct="0">
              <a:lnSpc>
                <a:spcPct val="96249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=55000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=105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=44000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=106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extBox 242"/>
          <p:cNvSpPr txBox="1"/>
          <p:nvPr/>
        </p:nvSpPr>
        <p:spPr>
          <a:xfrm>
            <a:off x="914704" y="911441"/>
            <a:ext cx="5980645" cy="79050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149" indent="-228549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above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dividing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breaking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three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units.so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rollbacking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either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completely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i.e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six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(or)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point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i.e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four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statements(103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106)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(or)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rollback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point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S2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i.e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(105,106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</a:p>
          <a:p>
            <a:pPr>
              <a:lnSpc>
                <a:spcPts val="1560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9143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CASE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1: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BEGIN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</a:p>
          <a:p>
            <a:pPr marL="0" indent="914349">
              <a:lnSpc>
                <a:spcPct val="96666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ROL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LBACK</a:t>
            </a:r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4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roll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back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i.e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complete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records(six</a:t>
            </a:r>
            <a:r>
              <a:rPr lang="en-US" altLang="zh-CN" sz="1400" spc="-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records)</a:t>
            </a:r>
          </a:p>
          <a:p>
            <a:pPr>
              <a:lnSpc>
                <a:spcPts val="1464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9143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CASE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2: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BEGIN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</a:p>
          <a:p>
            <a:pPr marL="0" indent="9143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ROLLBACK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S1</a:t>
            </a:r>
          </a:p>
          <a:p>
            <a:pPr>
              <a:lnSpc>
                <a:spcPts val="150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0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roll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back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four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i.e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103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106.</a:t>
            </a:r>
          </a:p>
          <a:p>
            <a:pPr>
              <a:lnSpc>
                <a:spcPts val="148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9143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CASE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3: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BEGIN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</a:p>
          <a:p>
            <a:pPr marL="0" indent="9143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ROLLBACK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S2</a:t>
            </a:r>
          </a:p>
          <a:p>
            <a:pPr>
              <a:lnSpc>
                <a:spcPts val="1519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0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roll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back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i.e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105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106</a:t>
            </a:r>
          </a:p>
          <a:p>
            <a:pPr>
              <a:lnSpc>
                <a:spcPts val="1355"/>
              </a:lnSpc>
            </a:pPr>
            <a:endParaRPr lang="en-US" dirty="0"/>
          </a:p>
          <a:p>
            <a:pPr marL="0" hangingPunct="0">
              <a:lnSpc>
                <a:spcPct val="111666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Sub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Query: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another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sub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queries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those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inner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outer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executed,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first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inner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executed</a:t>
            </a:r>
          </a:p>
          <a:p>
            <a:pPr>
              <a:lnSpc>
                <a:spcPts val="914"/>
              </a:lnSpc>
            </a:pPr>
            <a:endParaRPr lang="en-US" dirty="0"/>
          </a:p>
          <a:p>
            <a:pPr marL="0" hangingPunct="0">
              <a:lnSpc>
                <a:spcPct val="112083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Syntax: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&lt;Table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(condition)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(select</a:t>
            </a:r>
            <a:r>
              <a:rPr lang="en-US" altLang="zh-CN" sz="16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from……..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(Select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from…..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(select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6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from……..)));</a:t>
            </a:r>
          </a:p>
          <a:p>
            <a:pPr>
              <a:lnSpc>
                <a:spcPts val="135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Types</a:t>
            </a:r>
            <a:r>
              <a:rPr lang="en-US" altLang="zh-CN" sz="2000" b="1" u="sng" spc="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of</a:t>
            </a:r>
            <a:r>
              <a:rPr lang="en-US" altLang="zh-CN" sz="2000" b="1" u="sng" spc="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Sub</a:t>
            </a:r>
            <a:r>
              <a:rPr lang="en-US" altLang="zh-CN" sz="2000" b="1" u="sng" spc="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Queries:</a:t>
            </a:r>
            <a:r>
              <a:rPr lang="en-US" altLang="zh-CN" sz="2000" b="1" spc="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We</a:t>
            </a:r>
            <a:r>
              <a:rPr lang="en-US" altLang="zh-CN" sz="14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have</a:t>
            </a:r>
            <a:r>
              <a:rPr lang="en-US" altLang="zh-CN" sz="1400" spc="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two</a:t>
            </a:r>
            <a:r>
              <a:rPr lang="en-US" altLang="zh-CN" sz="14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types</a:t>
            </a:r>
            <a:r>
              <a:rPr lang="en-US" altLang="zh-CN" sz="14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r>
              <a:rPr lang="en-US" altLang="zh-CN" sz="14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sub</a:t>
            </a:r>
            <a:r>
              <a:rPr lang="en-US" altLang="zh-CN" sz="1400" spc="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queries</a:t>
            </a:r>
          </a:p>
          <a:p>
            <a:pPr>
              <a:lnSpc>
                <a:spcPts val="1219"/>
              </a:lnSpc>
            </a:pPr>
            <a:endParaRPr lang="en-US" dirty="0"/>
          </a:p>
          <a:p>
            <a:pPr marL="0" hangingPunct="0">
              <a:lnSpc>
                <a:spcPct val="117083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Nested</a:t>
            </a:r>
            <a:r>
              <a:rPr lang="en-US" altLang="zh-CN" sz="16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Sub</a:t>
            </a:r>
            <a:r>
              <a:rPr lang="en-US" altLang="zh-CN" sz="16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queries:</a:t>
            </a:r>
            <a:r>
              <a:rPr lang="en-US" altLang="zh-CN" sz="1600" b="1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In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</a:t>
            </a:r>
            <a:r>
              <a:rPr lang="en-US" altLang="zh-CN" sz="140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sub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query,</a:t>
            </a:r>
            <a:r>
              <a:rPr lang="en-US" altLang="zh-CN" sz="140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Outer</a:t>
            </a:r>
            <a:r>
              <a:rPr lang="en-US" altLang="zh-CN" sz="140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query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depends</a:t>
            </a:r>
            <a:r>
              <a:rPr lang="en-US" altLang="zh-CN" sz="140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on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result</a:t>
            </a:r>
            <a:r>
              <a:rPr lang="en-US" altLang="zh-CN" sz="140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inner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called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Nested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sub</a:t>
            </a:r>
            <a:r>
              <a:rPr lang="en-US" altLang="zh-CN" sz="140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query.</a:t>
            </a:r>
          </a:p>
          <a:p>
            <a:pPr>
              <a:lnSpc>
                <a:spcPts val="92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Exa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mples:</a:t>
            </a:r>
          </a:p>
          <a:p>
            <a:pPr>
              <a:lnSpc>
                <a:spcPts val="123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1)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WAQ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find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details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earning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highest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salary.</a:t>
            </a:r>
          </a:p>
          <a:p>
            <a:pPr>
              <a:lnSpc>
                <a:spcPts val="1055"/>
              </a:lnSpc>
            </a:pPr>
            <a:endParaRPr lang="en-US" dirty="0"/>
          </a:p>
          <a:p>
            <a:pPr marL="228600" hangingPunct="0">
              <a:lnSpc>
                <a:spcPct val="109583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Sol: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=(select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MAX(salary)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lang="en-US" altLang="zh-CN" sz="1400" spc="5" dirty="0">
                <a:solidFill>
                  <a:srgbClr val="FE0000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400" dirty="0">
                <a:solidFill>
                  <a:srgbClr val="FE0000"/>
                </a:solidFill>
                <a:latin typeface="Times New Roman"/>
                <a:ea typeface="Times New Roman"/>
              </a:rPr>
              <a:t>/subquery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TextBox 243"/>
          <p:cNvSpPr txBox="1"/>
          <p:nvPr/>
        </p:nvSpPr>
        <p:spPr>
          <a:xfrm>
            <a:off x="914704" y="907377"/>
            <a:ext cx="5996978" cy="79444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2)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WAQ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find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details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earning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second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highest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salary.</a:t>
            </a:r>
          </a:p>
          <a:p>
            <a:pPr>
              <a:lnSpc>
                <a:spcPts val="1064"/>
              </a:lnSpc>
            </a:pPr>
            <a:endParaRPr lang="en-US" dirty="0"/>
          </a:p>
          <a:p>
            <a:pPr marL="228600" hangingPunct="0">
              <a:lnSpc>
                <a:spcPct val="11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Sol: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=(select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MAX(salary)from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&lt;(select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MAX(salary)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))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400" dirty="0">
                <a:solidFill>
                  <a:srgbClr val="FE0000"/>
                </a:solidFill>
                <a:latin typeface="Times New Roman"/>
                <a:ea typeface="Times New Roman"/>
              </a:rPr>
              <a:t>/multiple</a:t>
            </a:r>
            <a:r>
              <a:rPr lang="en-US" altLang="zh-CN" sz="1400" dirty="0">
                <a:solidFill>
                  <a:srgbClr val="FE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FE0000"/>
                </a:solidFill>
                <a:latin typeface="Times New Roman"/>
                <a:ea typeface="Times New Roman"/>
              </a:rPr>
              <a:t>sub</a:t>
            </a:r>
            <a:r>
              <a:rPr lang="en-US" altLang="zh-CN" sz="1400" spc="20" dirty="0">
                <a:solidFill>
                  <a:srgbClr val="FE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FE0000"/>
                </a:solidFill>
                <a:latin typeface="Times New Roman"/>
                <a:ea typeface="Times New Roman"/>
              </a:rPr>
              <a:t>query</a:t>
            </a:r>
          </a:p>
          <a:p>
            <a:pPr>
              <a:lnSpc>
                <a:spcPts val="1114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3)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WAQ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find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details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earning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third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highest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salary.</a:t>
            </a:r>
          </a:p>
          <a:p>
            <a:pPr>
              <a:lnSpc>
                <a:spcPts val="1055"/>
              </a:lnSpc>
            </a:pPr>
            <a:endParaRPr lang="en-US" dirty="0"/>
          </a:p>
          <a:p>
            <a:pPr marL="228600" hangingPunct="0">
              <a:lnSpc>
                <a:spcPct val="11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Sol: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=(select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MAX(salary)from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&lt;(select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MAX(salary)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b="1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&lt;(select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MAX(salary)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)))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FE0000"/>
                </a:solidFill>
                <a:latin typeface="Times New Roman"/>
                <a:ea typeface="Times New Roman"/>
              </a:rPr>
              <a:t>//nested</a:t>
            </a:r>
            <a:r>
              <a:rPr lang="en-US" altLang="zh-CN" sz="1400" spc="-10" dirty="0">
                <a:solidFill>
                  <a:srgbClr val="FE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FE0000"/>
                </a:solidFill>
                <a:latin typeface="Times New Roman"/>
                <a:ea typeface="Times New Roman"/>
              </a:rPr>
              <a:t>subquery</a:t>
            </a:r>
          </a:p>
          <a:p>
            <a:pPr>
              <a:lnSpc>
                <a:spcPts val="1114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4)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WAQ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details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working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.NET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department.</a:t>
            </a:r>
          </a:p>
          <a:p>
            <a:pPr>
              <a:lnSpc>
                <a:spcPts val="1164"/>
              </a:lnSpc>
            </a:pPr>
            <a:endParaRPr lang="en-US" dirty="0"/>
          </a:p>
          <a:p>
            <a:pPr marL="228600" hangingPunct="0">
              <a:lnSpc>
                <a:spcPct val="97083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Sol: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b="1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DNAM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E='.NET')</a:t>
            </a:r>
          </a:p>
          <a:p>
            <a:pPr>
              <a:lnSpc>
                <a:spcPts val="152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5)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WAQ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details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working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JAVA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HR</a:t>
            </a:r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epartment.</a:t>
            </a:r>
          </a:p>
          <a:p>
            <a:pPr>
              <a:lnSpc>
                <a:spcPts val="1510"/>
              </a:lnSpc>
            </a:pPr>
            <a:endParaRPr lang="en-US" dirty="0"/>
          </a:p>
          <a:p>
            <a:pPr marL="210311" hangingPunct="0">
              <a:lnSpc>
                <a:spcPct val="97083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Sol: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b="1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DNAME='.NET'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DNAME='HR')</a:t>
            </a:r>
          </a:p>
          <a:p>
            <a:pPr>
              <a:lnSpc>
                <a:spcPts val="1629"/>
              </a:lnSpc>
            </a:pPr>
            <a:endParaRPr lang="en-US" dirty="0"/>
          </a:p>
          <a:p>
            <a:pPr marL="0" hangingPunct="0">
              <a:lnSpc>
                <a:spcPct val="117083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Co-Related</a:t>
            </a:r>
            <a:r>
              <a:rPr lang="en-US" altLang="zh-CN" sz="16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Sub</a:t>
            </a:r>
            <a:r>
              <a:rPr lang="en-US" altLang="zh-CN" sz="16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queries:</a:t>
            </a:r>
            <a:r>
              <a:rPr lang="en-US" altLang="zh-CN" sz="1600" b="1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In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</a:t>
            </a:r>
            <a:r>
              <a:rPr lang="en-US" altLang="zh-CN" sz="140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sub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query,</a:t>
            </a:r>
            <a:r>
              <a:rPr lang="en-US" altLang="zh-CN" sz="140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inner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query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depends</a:t>
            </a:r>
            <a:r>
              <a:rPr lang="en-US" altLang="zh-CN" sz="140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on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result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br>
              <a:rPr dirty="0"/>
            </a:b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outer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called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Co-Related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sub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query.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 marL="0" hangingPunct="0">
              <a:lnSpc>
                <a:spcPct val="1170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Outer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execute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first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outer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by</a:t>
            </a:r>
            <a:r>
              <a:rPr lang="en-US" altLang="zh-CN" sz="1400" spc="-6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co-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related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sub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i.e.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inner</a:t>
            </a:r>
            <a:r>
              <a:rPr lang="en-US" altLang="zh-CN" sz="140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query.</a:t>
            </a:r>
          </a:p>
          <a:p>
            <a:pPr>
              <a:lnSpc>
                <a:spcPts val="985"/>
              </a:lnSpc>
            </a:pPr>
            <a:endParaRPr lang="en-US" dirty="0"/>
          </a:p>
          <a:p>
            <a:pPr marL="0" hangingPunct="0">
              <a:lnSpc>
                <a:spcPct val="1170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outer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executed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copy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stored</a:t>
            </a:r>
            <a:r>
              <a:rPr lang="en-US" altLang="zh-CN" sz="1400" spc="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br>
              <a:rPr dirty="0"/>
            </a:b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memory,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later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related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sub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check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give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Ranks</a:t>
            </a:r>
            <a:r>
              <a:rPr lang="en-US" altLang="zh-CN" sz="1400" spc="-6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br>
              <a:rPr dirty="0"/>
            </a:b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outer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rows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memory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,according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ranks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result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will</a:t>
            </a:r>
            <a:r>
              <a:rPr lang="en-US" altLang="zh-CN" sz="140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Calibri"/>
                <a:ea typeface="Calibri"/>
              </a:rPr>
              <a:t>di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splayed.</a:t>
            </a:r>
          </a:p>
          <a:p>
            <a:pPr>
              <a:lnSpc>
                <a:spcPts val="115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Note: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-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find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Top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salaries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list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“n&gt;”.To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find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nth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highest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“n-1”.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82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Syntax:</a:t>
            </a:r>
            <a:r>
              <a:rPr lang="en-US" altLang="zh-CN" sz="1400" b="1" spc="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alibri"/>
                <a:ea typeface="Calibri"/>
              </a:rPr>
              <a:t>SELECT</a:t>
            </a:r>
            <a:r>
              <a:rPr lang="en-US" altLang="zh-CN" sz="1200" spc="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alibri"/>
                <a:ea typeface="Calibri"/>
              </a:rPr>
              <a:t>*</a:t>
            </a:r>
            <a:r>
              <a:rPr lang="en-US" altLang="zh-CN" sz="1200" spc="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alibri"/>
                <a:ea typeface="Calibri"/>
              </a:rPr>
              <a:t>FROM</a:t>
            </a:r>
            <a:r>
              <a:rPr lang="en-US" altLang="zh-CN" sz="1200" spc="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alibri"/>
                <a:ea typeface="Calibri"/>
              </a:rPr>
              <a:t>Employee</a:t>
            </a:r>
            <a:r>
              <a:rPr lang="en-US" altLang="zh-CN" sz="1200" spc="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alibri"/>
                <a:ea typeface="Calibri"/>
              </a:rPr>
              <a:t>Emp1</a:t>
            </a:r>
            <a:r>
              <a:rPr lang="en-US" altLang="zh-CN" sz="1200" spc="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alibri"/>
                <a:ea typeface="Calibri"/>
              </a:rPr>
              <a:t>WHERE</a:t>
            </a:r>
            <a:r>
              <a:rPr lang="en-US" altLang="zh-CN" sz="1200" spc="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alibri"/>
                <a:ea typeface="Calibri"/>
              </a:rPr>
              <a:t>(N-1)</a:t>
            </a:r>
            <a:r>
              <a:rPr lang="en-US" altLang="zh-CN" sz="1200" spc="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alibri"/>
                <a:ea typeface="Calibri"/>
              </a:rPr>
              <a:t>=</a:t>
            </a:r>
            <a:r>
              <a:rPr lang="en-US" altLang="zh-CN" sz="1200" spc="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alibri"/>
                <a:ea typeface="Calibri"/>
              </a:rPr>
              <a:t>or</a:t>
            </a:r>
            <a:r>
              <a:rPr lang="en-US" altLang="zh-CN" sz="1200" spc="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alibri"/>
                <a:ea typeface="Calibri"/>
              </a:rPr>
              <a:t>N&gt;</a:t>
            </a:r>
            <a:r>
              <a:rPr lang="en-US" altLang="zh-CN" sz="1200" spc="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alibri"/>
                <a:ea typeface="Calibri"/>
              </a:rPr>
              <a:t>(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200" dirty="0">
                <a:solidFill>
                  <a:srgbClr val="000000"/>
                </a:solidFill>
                <a:latin typeface="Calibri"/>
                <a:ea typeface="Calibri"/>
              </a:rPr>
              <a:t>SELECT</a:t>
            </a:r>
            <a:r>
              <a:rPr lang="en-US" altLang="zh-CN" sz="1200" spc="10" dirty="0">
                <a:solidFill>
                  <a:srgbClr val="000000"/>
                </a:solidFill>
                <a:latin typeface="Calibri"/>
                <a:cs typeface="Calibri"/>
              </a:rPr>
              <a:t>   </a:t>
            </a:r>
            <a:r>
              <a:rPr lang="en-US" altLang="zh-CN" sz="1200" dirty="0">
                <a:solidFill>
                  <a:srgbClr val="000000"/>
                </a:solidFill>
                <a:latin typeface="Calibri"/>
                <a:ea typeface="Calibri"/>
              </a:rPr>
              <a:t>COUNT</a:t>
            </a:r>
            <a:r>
              <a:rPr lang="en-US" altLang="zh-CN" sz="1200" spc="15" dirty="0">
                <a:solidFill>
                  <a:srgbClr val="000000"/>
                </a:solidFill>
                <a:latin typeface="Calibri"/>
                <a:cs typeface="Calibri"/>
              </a:rPr>
              <a:t>   </a:t>
            </a:r>
            <a:r>
              <a:rPr lang="en-US" altLang="zh-CN" sz="1200" dirty="0">
                <a:solidFill>
                  <a:srgbClr val="000000"/>
                </a:solidFill>
                <a:latin typeface="Calibri"/>
                <a:ea typeface="Calibri"/>
              </a:rPr>
              <a:t>(DISTINCT</a:t>
            </a:r>
            <a:r>
              <a:rPr lang="en-US" altLang="zh-CN" sz="1200" spc="15" dirty="0">
                <a:solidFill>
                  <a:srgbClr val="000000"/>
                </a:solidFill>
                <a:latin typeface="Calibri"/>
                <a:cs typeface="Calibri"/>
              </a:rPr>
              <a:t>   </a:t>
            </a:r>
            <a:r>
              <a:rPr lang="en-US" altLang="zh-CN" sz="1200" dirty="0">
                <a:solidFill>
                  <a:srgbClr val="000000"/>
                </a:solidFill>
                <a:latin typeface="Calibri"/>
                <a:ea typeface="Calibri"/>
              </a:rPr>
              <a:t>(Emp2.Salary))</a:t>
            </a:r>
            <a:r>
              <a:rPr lang="en-US" altLang="zh-CN" sz="1200" spc="15" dirty="0">
                <a:solidFill>
                  <a:srgbClr val="000000"/>
                </a:solidFill>
                <a:latin typeface="Calibri"/>
                <a:cs typeface="Calibri"/>
              </a:rPr>
              <a:t>   </a:t>
            </a:r>
            <a:r>
              <a:rPr lang="en-US" altLang="zh-CN" sz="1200" dirty="0">
                <a:solidFill>
                  <a:srgbClr val="000000"/>
                </a:solidFill>
                <a:latin typeface="Calibri"/>
                <a:ea typeface="Calibri"/>
              </a:rPr>
              <a:t>FROM</a:t>
            </a:r>
            <a:r>
              <a:rPr lang="en-US" altLang="zh-CN" sz="1200" spc="15" dirty="0">
                <a:solidFill>
                  <a:srgbClr val="000000"/>
                </a:solidFill>
                <a:latin typeface="Calibri"/>
                <a:cs typeface="Calibri"/>
              </a:rPr>
              <a:t>   </a:t>
            </a:r>
            <a:r>
              <a:rPr lang="en-US" altLang="zh-CN" sz="1200" dirty="0">
                <a:solidFill>
                  <a:srgbClr val="000000"/>
                </a:solidFill>
                <a:latin typeface="Calibri"/>
                <a:ea typeface="Calibri"/>
              </a:rPr>
              <a:t>Employee</a:t>
            </a:r>
            <a:r>
              <a:rPr lang="en-US" altLang="zh-CN" sz="1200" spc="15" dirty="0">
                <a:solidFill>
                  <a:srgbClr val="000000"/>
                </a:solidFill>
                <a:latin typeface="Calibri"/>
                <a:cs typeface="Calibri"/>
              </a:rPr>
              <a:t>   </a:t>
            </a:r>
            <a:r>
              <a:rPr lang="en-US" altLang="zh-CN" sz="1200" dirty="0">
                <a:solidFill>
                  <a:srgbClr val="000000"/>
                </a:solidFill>
                <a:latin typeface="Calibri"/>
                <a:ea typeface="Calibri"/>
              </a:rPr>
              <a:t>Emp2WHERE</a:t>
            </a:r>
            <a:r>
              <a:rPr lang="en-US" altLang="zh-CN" sz="1200" spc="15" dirty="0">
                <a:solidFill>
                  <a:srgbClr val="000000"/>
                </a:solidFill>
                <a:latin typeface="Calibri"/>
                <a:cs typeface="Calibri"/>
              </a:rPr>
              <a:t>   </a:t>
            </a:r>
            <a:r>
              <a:rPr lang="en-US" altLang="zh-CN" sz="1200" dirty="0">
                <a:solidFill>
                  <a:srgbClr val="000000"/>
                </a:solidFill>
                <a:latin typeface="Calibri"/>
                <a:ea typeface="Calibri"/>
              </a:rPr>
              <a:t>Emp2.Salary</a:t>
            </a:r>
            <a:r>
              <a:rPr lang="en-US" altLang="zh-CN" sz="1200" spc="15" dirty="0">
                <a:solidFill>
                  <a:srgbClr val="000000"/>
                </a:solidFill>
                <a:latin typeface="Calibri"/>
                <a:cs typeface="Calibri"/>
              </a:rPr>
              <a:t>   </a:t>
            </a:r>
            <a:r>
              <a:rPr lang="en-US" altLang="zh-CN" sz="1200" dirty="0">
                <a:solidFill>
                  <a:srgbClr val="000000"/>
                </a:solidFill>
                <a:latin typeface="Calibri"/>
                <a:ea typeface="Calibri"/>
              </a:rPr>
              <a:t>&gt;</a:t>
            </a:r>
            <a:r>
              <a:rPr lang="en-US" altLang="zh-CN" sz="12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200" spc="-5" dirty="0">
                <a:solidFill>
                  <a:srgbClr val="000000"/>
                </a:solidFill>
                <a:latin typeface="Calibri"/>
                <a:ea typeface="Calibri"/>
              </a:rPr>
              <a:t>E</a:t>
            </a:r>
            <a:r>
              <a:rPr lang="en-US" altLang="zh-CN" sz="1200" dirty="0">
                <a:solidFill>
                  <a:srgbClr val="000000"/>
                </a:solidFill>
                <a:latin typeface="Calibri"/>
                <a:ea typeface="Calibri"/>
              </a:rPr>
              <a:t>mp1.Salary)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extBox 244"/>
          <p:cNvSpPr txBox="1"/>
          <p:nvPr/>
        </p:nvSpPr>
        <p:spPr>
          <a:xfrm>
            <a:off x="914704" y="915644"/>
            <a:ext cx="5955617" cy="79434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7083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Disadvantage:</a:t>
            </a:r>
            <a:r>
              <a:rPr lang="en-US" altLang="zh-CN" sz="16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Sub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execution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fast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related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sub</a:t>
            </a:r>
            <a:r>
              <a:rPr lang="en-US" altLang="zh-CN" sz="140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execution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slow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because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check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every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row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inner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every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row</a:t>
            </a:r>
            <a:r>
              <a:rPr lang="en-US" altLang="zh-CN" sz="140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outer</a:t>
            </a:r>
            <a:r>
              <a:rPr lang="en-US" altLang="zh-CN" sz="140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query.</a:t>
            </a:r>
          </a:p>
          <a:p>
            <a:pPr>
              <a:lnSpc>
                <a:spcPts val="91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Exa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mples:</a:t>
            </a:r>
          </a:p>
          <a:p>
            <a:pPr>
              <a:lnSpc>
                <a:spcPts val="123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6)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WAQ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top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salaries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list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>
              <a:lnSpc>
                <a:spcPts val="1025"/>
              </a:lnSpc>
            </a:pPr>
            <a:endParaRPr lang="en-US" dirty="0"/>
          </a:p>
          <a:p>
            <a:pPr marL="228600" hangingPunct="0">
              <a:lnSpc>
                <a:spcPct val="112083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Sol: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2&gt;(select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count(salary)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M.salary&gt;E.salary)</a:t>
            </a:r>
          </a:p>
          <a:p>
            <a:pPr>
              <a:lnSpc>
                <a:spcPts val="1080"/>
              </a:lnSpc>
            </a:pPr>
            <a:endParaRPr lang="en-US" dirty="0"/>
          </a:p>
          <a:p>
            <a:pPr marL="0" indent="2286330">
              <a:lnSpc>
                <a:spcPct val="100000"/>
              </a:lnSpc>
            </a:pP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Or)</a:t>
            </a:r>
          </a:p>
          <a:p>
            <a:pPr>
              <a:lnSpc>
                <a:spcPts val="1039"/>
              </a:lnSpc>
            </a:pPr>
            <a:endParaRPr lang="en-US" dirty="0"/>
          </a:p>
          <a:p>
            <a:pPr marL="228600" hangingPunct="0">
              <a:lnSpc>
                <a:spcPct val="111249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Sol: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2&gt;(select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count(Distinct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salary)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M.salary&gt;E.salary)</a:t>
            </a:r>
          </a:p>
          <a:p>
            <a:pPr>
              <a:lnSpc>
                <a:spcPts val="107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Note: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Distinct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duplicate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values.</a:t>
            </a:r>
          </a:p>
          <a:p>
            <a:pPr>
              <a:lnSpc>
                <a:spcPts val="118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7)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WAQ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least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salaries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list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>
              <a:lnSpc>
                <a:spcPts val="1039"/>
              </a:lnSpc>
            </a:pPr>
            <a:endParaRPr lang="en-US" dirty="0"/>
          </a:p>
          <a:p>
            <a:pPr marL="228600" hangingPunct="0">
              <a:lnSpc>
                <a:spcPct val="111249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Sol: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2&gt;(select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count(salary)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M.salary&lt;E.salary)</a:t>
            </a:r>
          </a:p>
          <a:p>
            <a:pPr>
              <a:lnSpc>
                <a:spcPts val="1100"/>
              </a:lnSpc>
            </a:pPr>
            <a:endParaRPr lang="en-US" dirty="0"/>
          </a:p>
          <a:p>
            <a:pPr marL="0" indent="2286330">
              <a:lnSpc>
                <a:spcPct val="100000"/>
              </a:lnSpc>
            </a:pP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Or)</a:t>
            </a:r>
          </a:p>
          <a:p>
            <a:pPr>
              <a:lnSpc>
                <a:spcPts val="1019"/>
              </a:lnSpc>
            </a:pPr>
            <a:endParaRPr lang="en-US" dirty="0"/>
          </a:p>
          <a:p>
            <a:pPr marL="228600" hangingPunct="0">
              <a:lnSpc>
                <a:spcPct val="112083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Sol: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2&gt;(select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count(Distinct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salary)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M.salary&lt;E.salary)</a:t>
            </a:r>
          </a:p>
          <a:p>
            <a:pPr>
              <a:lnSpc>
                <a:spcPts val="107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8)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WAQ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“N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th”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>
              <a:lnSpc>
                <a:spcPts val="1039"/>
              </a:lnSpc>
            </a:pPr>
            <a:endParaRPr lang="en-US" dirty="0"/>
          </a:p>
          <a:p>
            <a:pPr marL="228600" hangingPunct="0">
              <a:lnSpc>
                <a:spcPct val="111249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Sol: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0=(select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count(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M.salary&gt;E.salary)</a:t>
            </a:r>
          </a:p>
          <a:p>
            <a:pPr>
              <a:lnSpc>
                <a:spcPts val="131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Note:</a:t>
            </a:r>
            <a:r>
              <a:rPr lang="en-US" altLang="zh-CN" sz="1400" b="1" spc="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When</a:t>
            </a:r>
            <a:r>
              <a:rPr lang="en-US" altLang="zh-CN" sz="1400" spc="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condition</a:t>
            </a:r>
            <a:r>
              <a:rPr lang="en-US" altLang="zh-CN" sz="1400" spc="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is</a:t>
            </a:r>
            <a:r>
              <a:rPr lang="en-US" altLang="zh-CN" sz="1400" spc="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M.salary&gt;E.salary</a:t>
            </a:r>
            <a:r>
              <a:rPr lang="en-US" altLang="zh-CN" sz="1400" spc="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/</a:t>
            </a:r>
            <a:r>
              <a:rPr lang="en-US" altLang="zh-CN" sz="1400" spc="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M.salary&lt;E.salary</a:t>
            </a:r>
            <a:r>
              <a:rPr lang="en-US" altLang="zh-CN" sz="1400" spc="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then</a:t>
            </a:r>
          </a:p>
          <a:p>
            <a:pPr>
              <a:lnSpc>
                <a:spcPts val="128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N=0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first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highest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/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first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least</a:t>
            </a:r>
            <a:r>
              <a:rPr lang="en-US" altLang="zh-CN" sz="140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salary</a:t>
            </a:r>
          </a:p>
          <a:p>
            <a:pPr>
              <a:lnSpc>
                <a:spcPts val="640"/>
              </a:lnSpc>
            </a:pPr>
            <a:endParaRPr lang="en-US" dirty="0"/>
          </a:p>
          <a:p>
            <a:pPr marL="496773" hangingPunct="0">
              <a:lnSpc>
                <a:spcPct val="17625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N=1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second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highest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salary/second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least</a:t>
            </a:r>
            <a:r>
              <a:rPr lang="en-US" altLang="zh-CN" sz="1400" spc="-3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N=2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third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highest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/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third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least</a:t>
            </a:r>
            <a:r>
              <a:rPr lang="en-US" altLang="zh-CN" sz="140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salary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extBox 245"/>
          <p:cNvSpPr txBox="1"/>
          <p:nvPr/>
        </p:nvSpPr>
        <p:spPr>
          <a:xfrm>
            <a:off x="1143304" y="907377"/>
            <a:ext cx="5517043" cy="929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9)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WAQ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details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working.</a:t>
            </a:r>
          </a:p>
          <a:p>
            <a:pPr>
              <a:lnSpc>
                <a:spcPts val="1939"/>
              </a:lnSpc>
            </a:pPr>
            <a:endParaRPr lang="en-US" dirty="0"/>
          </a:p>
          <a:p>
            <a:pPr marL="228549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Exists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E.deptno=D.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eptno)</a:t>
            </a:r>
          </a:p>
        </p:txBody>
      </p:sp>
      <p:sp>
        <p:nvSpPr>
          <p:cNvPr id="246" name="TextBox 246"/>
          <p:cNvSpPr txBox="1"/>
          <p:nvPr/>
        </p:nvSpPr>
        <p:spPr>
          <a:xfrm>
            <a:off x="1143304" y="1847686"/>
            <a:ext cx="5678816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685749" algn="l"/>
              </a:tabLst>
            </a:pP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10)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WAQ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details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</a:p>
        </p:txBody>
      </p:sp>
      <p:sp>
        <p:nvSpPr>
          <p:cNvPr id="247" name="TextBox 247"/>
          <p:cNvSpPr txBox="1"/>
          <p:nvPr/>
        </p:nvSpPr>
        <p:spPr>
          <a:xfrm>
            <a:off x="914704" y="2082381"/>
            <a:ext cx="5958959" cy="61937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457149">
              <a:lnSpc>
                <a:spcPct val="100000"/>
              </a:lnSpc>
            </a:pP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orking.</a:t>
            </a:r>
          </a:p>
          <a:p>
            <a:pPr>
              <a:lnSpc>
                <a:spcPts val="1939"/>
              </a:lnSpc>
            </a:pPr>
            <a:endParaRPr lang="en-US" dirty="0"/>
          </a:p>
          <a:p>
            <a:pPr marL="457149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Exists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.deptno=D.deptno)</a:t>
            </a:r>
          </a:p>
          <a:p>
            <a:pPr>
              <a:lnSpc>
                <a:spcPts val="110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Find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Any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Position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Record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From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</a:t>
            </a:r>
            <a:r>
              <a:rPr lang="en-US" altLang="zh-CN" sz="1400" b="1" u="sng" spc="-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table</a:t>
            </a:r>
          </a:p>
          <a:p>
            <a:pPr>
              <a:lnSpc>
                <a:spcPts val="1094"/>
              </a:lnSpc>
            </a:pPr>
            <a:endParaRPr lang="en-US" dirty="0"/>
          </a:p>
          <a:p>
            <a:pPr marL="457149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FROM(SELECT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,ROW_NUMBER()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(ORDER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RowNum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RowNum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=15</a:t>
            </a:r>
          </a:p>
          <a:p>
            <a:pPr>
              <a:lnSpc>
                <a:spcPts val="1019"/>
              </a:lnSpc>
            </a:pPr>
            <a:endParaRPr lang="en-US" dirty="0"/>
          </a:p>
          <a:p>
            <a:pPr marL="0" hangingPunct="0">
              <a:lnSpc>
                <a:spcPct val="10958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Delete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Duplicate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Records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from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table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contains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more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than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two</a:t>
            </a:r>
            <a:r>
              <a:rPr lang="en-US" altLang="zh-CN" sz="1400" b="1" u="sng" spc="-89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same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duplicate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values: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97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duplicates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 marL="0" hangingPunct="0">
              <a:lnSpc>
                <a:spcPct val="94999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,ROW_NUMBER()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over(partition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sid,sname,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fee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order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sid,sname,fee)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rownum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student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duplicates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rownum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&gt;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</a:p>
          <a:p>
            <a:pPr>
              <a:lnSpc>
                <a:spcPts val="1085"/>
              </a:lnSpc>
            </a:pPr>
            <a:endParaRPr lang="en-US" dirty="0"/>
          </a:p>
          <a:p>
            <a:pPr marL="0" hangingPunct="0">
              <a:lnSpc>
                <a:spcPct val="110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complete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above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duplicate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greater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i.e.output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below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43076" y="4953635"/>
          <a:ext cx="5819594" cy="16918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79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28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40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4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0311">
                <a:tc>
                  <a:txBody>
                    <a:bodyPr/>
                    <a:lstStyle/>
                    <a:p>
                      <a:pPr marL="0" indent="65531">
                        <a:lnSpc>
                          <a:spcPct val="95416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SID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5416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SN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AME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5416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FEE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5416"/>
                        </a:lnSpc>
                      </a:pP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rown</a:t>
                      </a:r>
                      <a:r>
                        <a:rPr lang="en-US" altLang="zh-CN" sz="14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um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565">
                <a:tc>
                  <a:txBody>
                    <a:bodyPr/>
                    <a:lstStyle/>
                    <a:p>
                      <a:pPr marL="0" indent="65531">
                        <a:lnSpc>
                          <a:spcPct val="95416"/>
                        </a:lnSpc>
                      </a:pPr>
                      <a:r>
                        <a:rPr lang="en-US" altLang="zh-CN" sz="1400" spc="-2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5416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Sai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5416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2000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5416"/>
                        </a:lnSpc>
                      </a:pPr>
                      <a:r>
                        <a:rPr lang="en-US" altLang="zh-CN" sz="14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1">
                <a:tc>
                  <a:txBody>
                    <a:bodyPr/>
                    <a:lstStyle/>
                    <a:p>
                      <a:pPr marL="0" indent="65531">
                        <a:lnSpc>
                          <a:spcPct val="95416"/>
                        </a:lnSpc>
                      </a:pPr>
                      <a:r>
                        <a:rPr lang="en-US" altLang="zh-CN" sz="1400" spc="-2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5416"/>
                        </a:lnSpc>
                      </a:pP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Sidd</a:t>
                      </a:r>
                      <a:r>
                        <a:rPr lang="en-US" altLang="zh-CN" sz="14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hu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5416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5000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5416"/>
                        </a:lnSpc>
                      </a:pPr>
                      <a:r>
                        <a:rPr lang="en-US" altLang="zh-CN" sz="14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836">
                <a:tc>
                  <a:txBody>
                    <a:bodyPr/>
                    <a:lstStyle/>
                    <a:p>
                      <a:pPr marL="0" indent="65531">
                        <a:lnSpc>
                          <a:spcPct val="96249"/>
                        </a:lnSpc>
                      </a:pPr>
                      <a:r>
                        <a:rPr lang="en-US" altLang="zh-CN" sz="1400" spc="-2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30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6249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M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eena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6249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6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5000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6249"/>
                        </a:lnSpc>
                      </a:pPr>
                      <a:r>
                        <a:rPr lang="en-US" altLang="zh-CN" sz="14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1">
                <a:tc>
                  <a:txBody>
                    <a:bodyPr/>
                    <a:lstStyle/>
                    <a:p>
                      <a:pPr marL="0" indent="65531">
                        <a:lnSpc>
                          <a:spcPct val="95416"/>
                        </a:lnSpc>
                      </a:pPr>
                      <a:r>
                        <a:rPr lang="en-US" altLang="zh-CN" sz="1400" spc="-2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30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5416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M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eena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5416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6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5000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5416"/>
                        </a:lnSpc>
                      </a:pPr>
                      <a:r>
                        <a:rPr lang="en-US" altLang="zh-CN" sz="14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311">
                <a:tc>
                  <a:txBody>
                    <a:bodyPr/>
                    <a:lstStyle/>
                    <a:p>
                      <a:pPr marL="0" indent="65531">
                        <a:lnSpc>
                          <a:spcPct val="95416"/>
                        </a:lnSpc>
                      </a:pPr>
                      <a:r>
                        <a:rPr lang="en-US" altLang="zh-CN" sz="1400" spc="-2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30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5416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M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eena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5416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6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5000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5416"/>
                        </a:lnSpc>
                      </a:pPr>
                      <a:r>
                        <a:rPr lang="en-US" altLang="zh-CN" sz="14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1835">
                <a:tc>
                  <a:txBody>
                    <a:bodyPr/>
                    <a:lstStyle/>
                    <a:p>
                      <a:pPr marL="0" indent="65531">
                        <a:lnSpc>
                          <a:spcPct val="96249"/>
                        </a:lnSpc>
                      </a:pPr>
                      <a:r>
                        <a:rPr lang="en-US" altLang="zh-CN" sz="1400" spc="-2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30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6249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M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eena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6249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6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5000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6249"/>
                        </a:lnSpc>
                      </a:pPr>
                      <a:r>
                        <a:rPr lang="en-US" altLang="zh-CN" sz="14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407">
                <a:tc>
                  <a:txBody>
                    <a:bodyPr/>
                    <a:lstStyle/>
                    <a:p>
                      <a:pPr marL="0" indent="65531">
                        <a:lnSpc>
                          <a:spcPct val="98333"/>
                        </a:lnSpc>
                      </a:pPr>
                      <a:r>
                        <a:rPr lang="en-US" altLang="zh-CN" sz="1400" spc="-2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30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8333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M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eena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8333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6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5000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8333"/>
                        </a:lnSpc>
                      </a:pPr>
                      <a:r>
                        <a:rPr lang="en-US" altLang="zh-CN" sz="14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TextBox 249"/>
          <p:cNvSpPr txBox="1"/>
          <p:nvPr/>
        </p:nvSpPr>
        <p:spPr>
          <a:xfrm>
            <a:off x="914704" y="2037910"/>
            <a:ext cx="5990309" cy="63396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51666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INDEXES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</a:t>
            </a:r>
            <a:r>
              <a:rPr lang="en-US" altLang="zh-CN" sz="2000" b="1" u="sng" spc="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SQL: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Why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We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Need</a:t>
            </a:r>
            <a:r>
              <a:rPr lang="en-US" altLang="zh-CN" sz="2000" b="1" u="sng" spc="-7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Indexes:</a:t>
            </a:r>
          </a:p>
          <a:p>
            <a:pPr>
              <a:lnSpc>
                <a:spcPts val="569"/>
              </a:lnSpc>
            </a:pPr>
            <a:endParaRPr lang="en-US" dirty="0"/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Generally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library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huge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collection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books,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files,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etc...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student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requests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librarian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book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Microsoft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2008,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think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without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index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librarian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without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help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she/he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has</a:t>
            </a:r>
            <a:r>
              <a:rPr lang="en-US" altLang="zh-CN" sz="1400" spc="-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search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one!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consuming;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proper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arrangement,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help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index,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easier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faster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desired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one.</a:t>
            </a:r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important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routes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high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performance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index.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Indexes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providing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quickly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access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tables,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similarly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way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book‟s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index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helps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you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information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quickly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book.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What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is</a:t>
            </a:r>
            <a:r>
              <a:rPr lang="en-US" altLang="zh-CN" sz="2000" b="1" u="sng" spc="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INDEX:</a:t>
            </a:r>
          </a:p>
          <a:p>
            <a:pPr>
              <a:lnSpc>
                <a:spcPts val="1260"/>
              </a:lnSpc>
            </a:pPr>
            <a:endParaRPr lang="en-US" dirty="0"/>
          </a:p>
          <a:p>
            <a:pPr marL="0" indent="228600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Index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object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quick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retrieving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</a:p>
          <a:p>
            <a:pPr marL="0" indent="457149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 marL="0" indent="228600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index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built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map</a:t>
            </a:r>
          </a:p>
          <a:p>
            <a:pPr marL="0" indent="457149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storage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location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specified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data.</a:t>
            </a:r>
          </a:p>
          <a:p>
            <a:pPr marL="0" indent="228600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indexes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improve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performance</a:t>
            </a:r>
            <a:r>
              <a:rPr lang="en-US" altLang="zh-CN" sz="1400" spc="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</a:p>
          <a:p>
            <a:pPr marL="0" indent="457149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queries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applications.</a:t>
            </a:r>
          </a:p>
          <a:p>
            <a:pPr marL="0" indent="228600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5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indexes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column,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internally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maintain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</a:p>
          <a:p>
            <a:pPr marL="457149" hangingPunct="0">
              <a:lnSpc>
                <a:spcPct val="110000"/>
              </a:lnSpc>
              <a:spcBef>
                <a:spcPts val="13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separate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index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trying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retrieve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existing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depends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index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directly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retrieve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required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very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quickly.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43076" y="917448"/>
          <a:ext cx="5819594" cy="8491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79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28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40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4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0566">
                <a:tc>
                  <a:txBody>
                    <a:bodyPr/>
                    <a:lstStyle/>
                    <a:p>
                      <a:pPr marL="0" indent="65531">
                        <a:lnSpc>
                          <a:spcPct val="95833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SID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5833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SN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AME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5833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FEE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5833"/>
                        </a:lnSpc>
                      </a:pP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rown</a:t>
                      </a:r>
                      <a:r>
                        <a:rPr lang="en-US" altLang="zh-CN" sz="14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um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835">
                <a:tc>
                  <a:txBody>
                    <a:bodyPr/>
                    <a:lstStyle/>
                    <a:p>
                      <a:pPr marL="0" indent="65531">
                        <a:lnSpc>
                          <a:spcPct val="96249"/>
                        </a:lnSpc>
                      </a:pPr>
                      <a:r>
                        <a:rPr lang="en-US" altLang="zh-CN" sz="1400" spc="-2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6249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Sai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6249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2000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6249"/>
                        </a:lnSpc>
                      </a:pPr>
                      <a:r>
                        <a:rPr lang="en-US" altLang="zh-CN" sz="14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1">
                <a:tc>
                  <a:txBody>
                    <a:bodyPr/>
                    <a:lstStyle/>
                    <a:p>
                      <a:pPr marL="0" indent="65531">
                        <a:lnSpc>
                          <a:spcPct val="95416"/>
                        </a:lnSpc>
                      </a:pPr>
                      <a:r>
                        <a:rPr lang="en-US" altLang="zh-CN" sz="1400" spc="-2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5416"/>
                        </a:lnSpc>
                      </a:pP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Sidd</a:t>
                      </a:r>
                      <a:r>
                        <a:rPr lang="en-US" altLang="zh-CN" sz="14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hu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5416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5000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5416"/>
                        </a:lnSpc>
                      </a:pPr>
                      <a:r>
                        <a:rPr lang="en-US" altLang="zh-CN" sz="14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407">
                <a:tc>
                  <a:txBody>
                    <a:bodyPr/>
                    <a:lstStyle/>
                    <a:p>
                      <a:pPr marL="0" indent="65531">
                        <a:lnSpc>
                          <a:spcPct val="98333"/>
                        </a:lnSpc>
                      </a:pPr>
                      <a:r>
                        <a:rPr lang="en-US" altLang="zh-CN" sz="1400" spc="-2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30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8333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M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eena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8333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6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5000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8333"/>
                        </a:lnSpc>
                      </a:pPr>
                      <a:r>
                        <a:rPr lang="en-US" altLang="zh-CN" sz="14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Box 251"/>
          <p:cNvSpPr txBox="1"/>
          <p:nvPr/>
        </p:nvSpPr>
        <p:spPr>
          <a:xfrm>
            <a:off x="914704" y="909124"/>
            <a:ext cx="5952629" cy="53802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228600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5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max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250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indexes.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index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refers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way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</a:p>
          <a:p>
            <a:pPr marL="457149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index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internally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indexes.</a:t>
            </a:r>
          </a:p>
          <a:p>
            <a:pPr>
              <a:lnSpc>
                <a:spcPts val="1525"/>
              </a:lnSpc>
            </a:pPr>
            <a:endParaRPr lang="en-US" dirty="0"/>
          </a:p>
          <a:p>
            <a:pPr marL="0" indent="6857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1.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Clustered</a:t>
            </a:r>
          </a:p>
          <a:p>
            <a:pPr marL="0" indent="6857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2.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Non-Clustered</a:t>
            </a:r>
          </a:p>
          <a:p>
            <a:pPr>
              <a:lnSpc>
                <a:spcPts val="128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Clustered</a:t>
            </a:r>
            <a:r>
              <a:rPr lang="en-US" altLang="zh-CN" sz="1800" b="1" u="sng" spc="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Index:</a:t>
            </a:r>
          </a:p>
          <a:p>
            <a:pPr>
              <a:lnSpc>
                <a:spcPts val="1244"/>
              </a:lnSpc>
            </a:pPr>
            <a:endParaRPr lang="en-US" dirty="0"/>
          </a:p>
          <a:p>
            <a:pPr marL="0" indent="228600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sorted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(ascending</a:t>
            </a:r>
            <a:r>
              <a:rPr lang="en-US" altLang="zh-CN" sz="1400" spc="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order</a:t>
            </a:r>
          </a:p>
          <a:p>
            <a:pPr marL="457149" hangingPunct="0">
              <a:lnSpc>
                <a:spcPct val="110416"/>
              </a:lnSpc>
              <a:spcBef>
                <a:spcPts val="11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order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structure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clustered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index.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clustered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index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clustered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has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clustered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index,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unordered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structure.</a:t>
            </a:r>
          </a:p>
          <a:p>
            <a:pPr marL="0" indent="228600">
              <a:lnSpc>
                <a:spcPts val="1720"/>
              </a:lnSpc>
              <a:tabLst>
                <a:tab pos="501345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clustered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index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created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</a:p>
          <a:p>
            <a:pPr marL="0" indent="457149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primary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constraint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>
              <a:lnSpc>
                <a:spcPts val="115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Non</a:t>
            </a:r>
            <a:r>
              <a:rPr lang="en-US" altLang="zh-CN" sz="18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-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Clustered</a:t>
            </a:r>
            <a:r>
              <a:rPr lang="en-US" altLang="zh-CN" sz="1800" b="1" u="sng" spc="-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Indexes:</a:t>
            </a:r>
          </a:p>
          <a:p>
            <a:pPr>
              <a:lnSpc>
                <a:spcPts val="1244"/>
              </a:lnSpc>
            </a:pPr>
            <a:endParaRPr lang="en-US" dirty="0"/>
          </a:p>
          <a:p>
            <a:pPr marL="0" indent="228600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Non-clustered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indexes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arrangement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order</a:t>
            </a:r>
            <a:r>
              <a:rPr lang="en-US" altLang="zh-CN" sz="1400" spc="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(Unordered</a:t>
            </a:r>
          </a:p>
          <a:p>
            <a:pPr marL="0" indent="457149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structure)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249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non-clustered</a:t>
            </a:r>
          </a:p>
          <a:p>
            <a:pPr marL="0" indent="457149">
              <a:lnSpc>
                <a:spcPct val="100000"/>
              </a:lnSpc>
              <a:spcBef>
                <a:spcPts val="170"/>
              </a:spcBef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dexes.</a:t>
            </a:r>
          </a:p>
          <a:p>
            <a:pPr marL="0" indent="228600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don‟t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mention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clustered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indexes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default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non-</a:t>
            </a:r>
          </a:p>
          <a:p>
            <a:pPr marL="0" indent="457149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clustered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indexes.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 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Index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&lt;Index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&lt;Table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(Column</a:t>
            </a:r>
            <a:r>
              <a:rPr lang="en-US" altLang="zh-CN" sz="1400" b="1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Name);</a:t>
            </a:r>
          </a:p>
        </p:txBody>
      </p:sp>
      <p:sp>
        <p:nvSpPr>
          <p:cNvPr id="252" name="TextBox 252"/>
          <p:cNvSpPr txBox="1"/>
          <p:nvPr/>
        </p:nvSpPr>
        <p:spPr>
          <a:xfrm>
            <a:off x="914704" y="6437190"/>
            <a:ext cx="3800343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67812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index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demo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index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(Eid)</a:t>
            </a:r>
          </a:p>
        </p:txBody>
      </p:sp>
      <p:sp>
        <p:nvSpPr>
          <p:cNvPr id="253" name="TextBox 253"/>
          <p:cNvSpPr txBox="1"/>
          <p:nvPr/>
        </p:nvSpPr>
        <p:spPr>
          <a:xfrm>
            <a:off x="914704" y="6777048"/>
            <a:ext cx="5850511" cy="21200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1666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VIEWS</a:t>
            </a:r>
            <a:r>
              <a:rPr lang="en-US" altLang="zh-CN" sz="2000" b="1" u="sng" spc="-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</a:t>
            </a:r>
            <a:r>
              <a:rPr lang="en-US" altLang="zh-CN" sz="2000" b="1" u="sng" spc="-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SQL:</a:t>
            </a:r>
            <a:r>
              <a:rPr lang="en-US" altLang="zh-CN" sz="200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object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but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logical.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logical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virtual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because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does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physical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xistence.</a:t>
            </a:r>
          </a:p>
          <a:p>
            <a:pPr>
              <a:lnSpc>
                <a:spcPts val="1010"/>
              </a:lnSpc>
            </a:pPr>
            <a:endParaRPr lang="en-US" dirty="0"/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logical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required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information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creation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 marL="457149" indent="-228549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8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occupy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memory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space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help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structure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existing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TextBox 254"/>
          <p:cNvSpPr txBox="1"/>
          <p:nvPr/>
        </p:nvSpPr>
        <p:spPr>
          <a:xfrm>
            <a:off x="914704" y="896709"/>
            <a:ext cx="5994767" cy="80467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149" indent="-228549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0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logical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representation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virtual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representation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.it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dependent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independent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because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extracted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 marL="0" indent="228600">
              <a:lnSpc>
                <a:spcPct val="100000"/>
              </a:lnSpc>
              <a:spcBef>
                <a:spcPts val="1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8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want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access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it‟s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necessary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</a:p>
          <a:p>
            <a:pPr marL="0" indent="457149">
              <a:lnSpc>
                <a:spcPct val="100000"/>
              </a:lnSpc>
              <a:spcBef>
                <a:spcPts val="15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direct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access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view.</a:t>
            </a:r>
          </a:p>
          <a:p>
            <a:pPr marL="457149" indent="-228549" hangingPunct="0">
              <a:lnSpc>
                <a:spcPct val="95416"/>
              </a:lnSpc>
              <a:spcBef>
                <a:spcPts val="20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security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purpose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databases,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views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restricts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certain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means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apply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restriction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accessing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particular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us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er.</a:t>
            </a:r>
          </a:p>
          <a:p>
            <a:pPr marL="457149" indent="-228549" hangingPunct="0">
              <a:lnSpc>
                <a:spcPct val="94999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those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mentioned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query,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shows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defined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View.</a:t>
            </a:r>
          </a:p>
          <a:p>
            <a:pPr marL="228600" hangingPunct="0">
              <a:lnSpc>
                <a:spcPct val="95833"/>
              </a:lnSpc>
            </a:pPr>
            <a:r>
              <a:rPr lang="en-US" altLang="zh-CN" sz="22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Why</a:t>
            </a:r>
            <a:r>
              <a:rPr lang="en-US" altLang="zh-CN" sz="22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2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We</a:t>
            </a:r>
            <a:r>
              <a:rPr lang="en-US" altLang="zh-CN" sz="22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2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Need</a:t>
            </a:r>
            <a:r>
              <a:rPr lang="en-US" altLang="zh-CN" sz="22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2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Views:</a:t>
            </a:r>
            <a:r>
              <a:rPr lang="en-US" altLang="zh-CN" sz="22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protect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you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sensitive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certain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you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might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wish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hide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those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certain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groups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users.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instance,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customer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names,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addresses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their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social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security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numbers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might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same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however,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lower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level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shipping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clerks,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you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customer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address.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You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grant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permissions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without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allowing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original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tables.</a:t>
            </a:r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6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logical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but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what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internally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</a:t>
            </a:r>
            <a:r>
              <a:rPr lang="en-US" altLang="zh-CN" sz="1400" spc="-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whenever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</a:p>
          <a:p>
            <a:pPr marL="457149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internally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those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Simply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interface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between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provider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(Table)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User.</a:t>
            </a:r>
          </a:p>
          <a:p>
            <a:pPr>
              <a:lnSpc>
                <a:spcPts val="935"/>
              </a:lnSpc>
            </a:pPr>
            <a:endParaRPr lang="en-US" dirty="0"/>
          </a:p>
          <a:p>
            <a:pPr marL="0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reflects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reflect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also.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classified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</a:p>
          <a:p>
            <a:pPr>
              <a:lnSpc>
                <a:spcPts val="1105"/>
              </a:lnSpc>
            </a:pPr>
            <a:endParaRPr lang="en-US" dirty="0"/>
          </a:p>
          <a:p>
            <a:pPr marL="0" indent="228600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2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Simple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view(Updatable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view)</a:t>
            </a:r>
          </a:p>
          <a:p>
            <a:pPr marL="0" indent="228600">
              <a:lnSpc>
                <a:spcPts val="1720"/>
              </a:lnSpc>
              <a:spcBef>
                <a:spcPts val="23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Complex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view(Non-Updatable</a:t>
            </a:r>
            <a:r>
              <a:rPr lang="en-US" altLang="zh-CN" sz="1400" spc="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view)</a:t>
            </a:r>
          </a:p>
          <a:p>
            <a:pPr>
              <a:lnSpc>
                <a:spcPts val="1105"/>
              </a:lnSpc>
            </a:pPr>
            <a:endParaRPr lang="en-US" dirty="0"/>
          </a:p>
          <a:p>
            <a:pPr marL="0" hangingPunct="0">
              <a:lnSpc>
                <a:spcPct val="110416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Simple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view: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simple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  <a:p>
            <a:pPr>
              <a:lnSpc>
                <a:spcPts val="989"/>
              </a:lnSpc>
            </a:pPr>
            <a:endParaRPr lang="en-US" dirty="0"/>
          </a:p>
          <a:p>
            <a:pPr marL="0" hangingPunct="0">
              <a:lnSpc>
                <a:spcPct val="110416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Complex</a:t>
            </a:r>
            <a:r>
              <a:rPr lang="en-US" altLang="zh-CN" sz="16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view:</a:t>
            </a:r>
            <a:r>
              <a:rPr lang="en-US" altLang="zh-CN" sz="16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based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more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complex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Non-Updatable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Freeform 255"/>
          <p:cNvSpPr/>
          <p:nvPr/>
        </p:nvSpPr>
        <p:spPr>
          <a:xfrm>
            <a:off x="904494" y="1895094"/>
            <a:ext cx="467105" cy="22605"/>
          </a:xfrm>
          <a:custGeom>
            <a:avLst/>
            <a:gdLst>
              <a:gd name="connsiteX0" fmla="*/ 10210 w 467105"/>
              <a:gd name="connsiteY0" fmla="*/ 13207 h 22605"/>
              <a:gd name="connsiteX1" fmla="*/ 467410 w 467105"/>
              <a:gd name="connsiteY1" fmla="*/ 13207 h 2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67105" h="22605">
                <a:moveTo>
                  <a:pt x="10210" y="13207"/>
                </a:moveTo>
                <a:lnTo>
                  <a:pt x="467410" y="13207"/>
                </a:lnTo>
              </a:path>
            </a:pathLst>
          </a:custGeom>
          <a:ln w="1524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" name="TextBox 256"/>
          <p:cNvSpPr txBox="1"/>
          <p:nvPr/>
        </p:nvSpPr>
        <p:spPr>
          <a:xfrm>
            <a:off x="914704" y="907727"/>
            <a:ext cx="5261420" cy="2438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931113" algn="l"/>
              </a:tabLst>
            </a:pPr>
            <a:r>
              <a:rPr lang="en-US" altLang="zh-CN" sz="16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Syntax:	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&lt;view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&lt;table</a:t>
            </a:r>
            <a:r>
              <a:rPr lang="en-US" altLang="zh-CN" sz="1400" b="1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</a:p>
        </p:txBody>
      </p:sp>
      <p:sp>
        <p:nvSpPr>
          <p:cNvPr id="257" name="TextBox 257"/>
          <p:cNvSpPr txBox="1"/>
          <p:nvPr/>
        </p:nvSpPr>
        <p:spPr>
          <a:xfrm>
            <a:off x="914704" y="1300675"/>
            <a:ext cx="5991740" cy="75843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Ex1: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simpleview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emp;</a:t>
            </a:r>
          </a:p>
          <a:p>
            <a:pPr>
              <a:lnSpc>
                <a:spcPts val="1569"/>
              </a:lnSpc>
            </a:pPr>
            <a:endParaRPr lang="en-US" dirty="0"/>
          </a:p>
          <a:p>
            <a:pPr marL="457149" indent="-457149" hangingPunct="0">
              <a:lnSpc>
                <a:spcPct val="95416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Ex2:</a:t>
            </a:r>
            <a:r>
              <a:rPr lang="en-US" altLang="zh-CN" sz="1400" b="1" spc="1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COMPLEXVIEW</a:t>
            </a:r>
            <a:r>
              <a:rPr lang="en-US" altLang="zh-CN" sz="1400" b="1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.EID,E.ENAME,D.DNO,D.DNAME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INNER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.DEPTNO=D.DEPTNO</a:t>
            </a:r>
          </a:p>
          <a:p>
            <a:pPr marL="0" indent="1804746">
              <a:lnSpc>
                <a:spcPct val="100000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T/SQL</a:t>
            </a:r>
            <a:r>
              <a:rPr lang="en-US" altLang="zh-CN" sz="20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Programming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0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T/SQL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stands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“Transact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Structure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Language.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extension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T/SQL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PL/SQL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oracle.</a:t>
            </a:r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single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line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T/SQL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block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time.</a:t>
            </a:r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9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does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support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conditional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looping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IF-Else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loop.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implement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conditional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looping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T/SQL.</a:t>
            </a:r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2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provide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reusability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facilities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T/SQL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provide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reusability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facilities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defining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objects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such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Functions.</a:t>
            </a:r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0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T/SQL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embedded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inside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block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code.</a:t>
            </a:r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0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T/SQL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blocks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divided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types.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Those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</a:p>
          <a:p>
            <a:pPr marL="0" indent="6857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Anonymous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Blocks</a:t>
            </a:r>
          </a:p>
          <a:p>
            <a:pPr marL="0" indent="6857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Sub-Program</a:t>
            </a:r>
            <a:r>
              <a:rPr lang="en-US" altLang="zh-CN" sz="1400" spc="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Blocks</a:t>
            </a:r>
          </a:p>
          <a:p>
            <a:pPr>
              <a:lnSpc>
                <a:spcPts val="1019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Anonymous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Blocks: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Anonymous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Blocks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unnamed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block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point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does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database.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blocks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written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window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execute.</a:t>
            </a:r>
          </a:p>
          <a:p>
            <a:pPr>
              <a:lnSpc>
                <a:spcPts val="939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Sub-Programs:</a:t>
            </a:r>
            <a:r>
              <a:rPr lang="en-US" altLang="zh-CN" sz="18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Sub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Blocks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named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block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code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point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blocks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providing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reusability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code.</a:t>
            </a:r>
          </a:p>
          <a:p>
            <a:pPr>
              <a:lnSpc>
                <a:spcPts val="108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Declaring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Variables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T/SQL</a:t>
            </a:r>
            <a:r>
              <a:rPr lang="en-US" altLang="zh-CN" sz="18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Program:</a:t>
            </a:r>
          </a:p>
          <a:p>
            <a:pPr>
              <a:lnSpc>
                <a:spcPts val="123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&lt;var&gt;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[as]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&lt;data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&gt;</a:t>
            </a:r>
            <a:r>
              <a:rPr lang="en-US" altLang="zh-CN" sz="14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[size]…….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extBox 258"/>
          <p:cNvSpPr txBox="1"/>
          <p:nvPr/>
        </p:nvSpPr>
        <p:spPr>
          <a:xfrm>
            <a:off x="914704" y="907483"/>
            <a:ext cx="5861812" cy="80412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eid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int;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decalare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@ename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varchar</a:t>
            </a:r>
            <a:r>
              <a:rPr lang="en-US" altLang="zh-CN" sz="1400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(50)….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While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declaring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variable,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should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prefixed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</a:t>
            </a:r>
            <a:r>
              <a:rPr lang="en-US" altLang="zh-CN" sz="14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symbol.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 marL="0" hangingPunct="0">
              <a:lnSpc>
                <a:spcPct val="112083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Assigning</a:t>
            </a:r>
            <a:r>
              <a:rPr lang="en-US" altLang="zh-CN" sz="18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Values</a:t>
            </a:r>
            <a:r>
              <a:rPr lang="en-US" altLang="zh-CN" sz="18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18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variables:</a:t>
            </a:r>
            <a:r>
              <a:rPr lang="en-US" altLang="zh-CN" sz="18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assigned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tatement.</a:t>
            </a:r>
          </a:p>
          <a:p>
            <a:pPr>
              <a:lnSpc>
                <a:spcPts val="106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&lt;var&gt;=&lt;value&gt;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@Eid=101;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@ename=‟SAI‟;</a:t>
            </a:r>
          </a:p>
          <a:p>
            <a:pPr>
              <a:lnSpc>
                <a:spcPts val="1025"/>
              </a:lnSpc>
            </a:pPr>
            <a:endParaRPr lang="en-US" dirty="0"/>
          </a:p>
          <a:p>
            <a:pPr marL="0" hangingPunct="0">
              <a:lnSpc>
                <a:spcPct val="112083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Printing</a:t>
            </a:r>
            <a:r>
              <a:rPr lang="en-US" altLang="zh-CN" sz="18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Values</a:t>
            </a:r>
            <a:r>
              <a:rPr lang="en-US" altLang="zh-CN" sz="18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of</a:t>
            </a:r>
            <a:r>
              <a:rPr lang="en-US" altLang="zh-CN" sz="18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Variables:</a:t>
            </a:r>
            <a:r>
              <a:rPr lang="en-US" altLang="zh-CN" sz="18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want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statement.</a:t>
            </a:r>
          </a:p>
          <a:p>
            <a:pPr>
              <a:lnSpc>
                <a:spcPts val="475"/>
              </a:lnSpc>
            </a:pPr>
            <a:endParaRPr lang="en-US" dirty="0"/>
          </a:p>
          <a:p>
            <a:pPr marL="0" hangingPunct="0">
              <a:lnSpc>
                <a:spcPct val="16958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&lt;var&gt;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@Eid;</a:t>
            </a:r>
          </a:p>
          <a:p>
            <a:pPr>
              <a:lnSpc>
                <a:spcPts val="60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Structure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of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T/SQL</a:t>
            </a:r>
            <a:r>
              <a:rPr lang="en-US" altLang="zh-CN" sz="1800" b="1" u="sng" spc="-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Program:</a:t>
            </a:r>
          </a:p>
          <a:p>
            <a:pPr>
              <a:lnSpc>
                <a:spcPts val="120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&lt;var1&gt;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[data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type][size]………………</a:t>
            </a:r>
          </a:p>
          <a:p>
            <a:pPr>
              <a:lnSpc>
                <a:spcPts val="609"/>
              </a:lnSpc>
            </a:pPr>
            <a:endParaRPr lang="en-US" dirty="0"/>
          </a:p>
          <a:p>
            <a:pPr marL="914349" hangingPunct="0">
              <a:lnSpc>
                <a:spcPct val="17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&lt;var&gt;=&lt;values&gt;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&lt;S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tatements&gt;;</a:t>
            </a:r>
          </a:p>
          <a:p>
            <a:pPr>
              <a:lnSpc>
                <a:spcPts val="590"/>
              </a:lnSpc>
            </a:pPr>
            <a:endParaRPr lang="en-US" dirty="0"/>
          </a:p>
          <a:p>
            <a:pPr marL="0" indent="9143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@&lt;var&gt;…….</a:t>
            </a:r>
          </a:p>
          <a:p>
            <a:pPr>
              <a:lnSpc>
                <a:spcPts val="111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Ex1: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T/SQL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input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interchange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variable</a:t>
            </a:r>
          </a:p>
          <a:p>
            <a:pPr marL="0">
              <a:lnSpc>
                <a:spcPct val="9375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alues.</a:t>
            </a:r>
          </a:p>
          <a:p>
            <a:pPr marL="0" hangingPunct="0">
              <a:lnSpc>
                <a:spcPct val="94999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@a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int,@b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int,@c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=10;</a:t>
            </a:r>
          </a:p>
          <a:p>
            <a:pPr marL="0" hangingPunct="0">
              <a:lnSpc>
                <a:spcPct val="95833"/>
              </a:lnSpc>
            </a:pPr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7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60" dirty="0">
                <a:solidFill>
                  <a:srgbClr val="000000"/>
                </a:solidFill>
                <a:latin typeface="Times New Roman"/>
                <a:ea typeface="Times New Roman"/>
              </a:rPr>
              <a:t>@b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ea typeface="Times New Roman"/>
              </a:rPr>
              <a:t>=20;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25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50" dirty="0">
                <a:solidFill>
                  <a:srgbClr val="000000"/>
                </a:solidFill>
                <a:latin typeface="Times New Roman"/>
                <a:ea typeface="Times New Roman"/>
              </a:rPr>
              <a:t>@c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ea typeface="Times New Roman"/>
              </a:rPr>
              <a:t>=@a;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2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50" dirty="0">
                <a:solidFill>
                  <a:srgbClr val="000000"/>
                </a:solidFill>
                <a:latin typeface="Times New Roman"/>
                <a:ea typeface="Times New Roman"/>
              </a:rPr>
              <a:t>@a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ea typeface="Times New Roman"/>
              </a:rPr>
              <a:t>=@b;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2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50" dirty="0">
                <a:solidFill>
                  <a:srgbClr val="000000"/>
                </a:solidFill>
                <a:latin typeface="Times New Roman"/>
                <a:ea typeface="Times New Roman"/>
              </a:rPr>
              <a:t>@b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ea typeface="Times New Roman"/>
              </a:rPr>
              <a:t>=@c;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34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-1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80" dirty="0">
                <a:solidFill>
                  <a:srgbClr val="000000"/>
                </a:solidFill>
                <a:latin typeface="Times New Roman"/>
                <a:ea typeface="Times New Roman"/>
              </a:rPr>
              <a:t>@a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ea typeface="Times New Roman"/>
              </a:rPr>
              <a:t>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@b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;</a:t>
            </a:r>
          </a:p>
          <a:p>
            <a:pPr>
              <a:lnSpc>
                <a:spcPts val="1110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Ex2: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T/SQL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input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student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id,name,marks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total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marks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student.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TextBox 259"/>
          <p:cNvSpPr txBox="1"/>
          <p:nvPr/>
        </p:nvSpPr>
        <p:spPr>
          <a:xfrm>
            <a:off x="914704" y="909007"/>
            <a:ext cx="5851496" cy="82319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94999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@stdno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int,@stdname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varchar(50),@m1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int,@m2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int,@m3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int,@tm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@stdno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=101;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400" spc="1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5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20" dirty="0">
                <a:solidFill>
                  <a:srgbClr val="000000"/>
                </a:solidFill>
                <a:latin typeface="Times New Roman"/>
                <a:ea typeface="Times New Roman"/>
              </a:rPr>
              <a:t>@stdname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ea typeface="Times New Roman"/>
              </a:rPr>
              <a:t>='SAI';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@m1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=75;</a:t>
            </a:r>
          </a:p>
          <a:p>
            <a:pPr marL="0" hangingPunct="0">
              <a:lnSpc>
                <a:spcPct val="94999"/>
              </a:lnSpc>
            </a:pPr>
            <a:r>
              <a:rPr lang="en-US" altLang="zh-CN" sz="1400" spc="2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5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44" dirty="0">
                <a:solidFill>
                  <a:srgbClr val="000000"/>
                </a:solidFill>
                <a:latin typeface="Times New Roman"/>
                <a:ea typeface="Times New Roman"/>
              </a:rPr>
              <a:t>@m2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ea typeface="Times New Roman"/>
              </a:rPr>
              <a:t>=85;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@m3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=65;</a:t>
            </a:r>
          </a:p>
          <a:p>
            <a:pPr marL="0" hangingPunct="0">
              <a:lnSpc>
                <a:spcPct val="94999"/>
              </a:lnSpc>
            </a:pP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3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20" dirty="0">
                <a:solidFill>
                  <a:srgbClr val="000000"/>
                </a:solidFill>
                <a:latin typeface="Times New Roman"/>
                <a:ea typeface="Times New Roman"/>
              </a:rPr>
              <a:t>@tm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ea typeface="Times New Roman"/>
              </a:rPr>
              <a:t>=@m1+@m2+@m3;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@stdno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400" spc="15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-1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25" dirty="0">
                <a:solidFill>
                  <a:srgbClr val="000000"/>
                </a:solidFill>
                <a:latin typeface="Times New Roman"/>
                <a:ea typeface="Times New Roman"/>
              </a:rPr>
              <a:t>@stdname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ea typeface="Times New Roman"/>
              </a:rPr>
              <a:t>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@tm</a:t>
            </a:r>
          </a:p>
          <a:p>
            <a:pPr>
              <a:lnSpc>
                <a:spcPts val="116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Ex3: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T/SQL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arithematic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operation.</a:t>
            </a:r>
          </a:p>
          <a:p>
            <a:pPr marL="0" hangingPunct="0">
              <a:lnSpc>
                <a:spcPct val="94999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@a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int,@b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int,@c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int,@d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int,@e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int,@f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=10;</a:t>
            </a:r>
          </a:p>
          <a:p>
            <a:pPr marL="0">
              <a:lnSpc>
                <a:spcPct val="966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=12;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400" spc="15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34" dirty="0">
                <a:solidFill>
                  <a:srgbClr val="000000"/>
                </a:solidFill>
                <a:latin typeface="Times New Roman"/>
                <a:ea typeface="Times New Roman"/>
              </a:rPr>
              <a:t>@c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ea typeface="Times New Roman"/>
              </a:rPr>
              <a:t>=@a+@b;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15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7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40" dirty="0">
                <a:solidFill>
                  <a:srgbClr val="000000"/>
                </a:solidFill>
                <a:latin typeface="Times New Roman"/>
                <a:ea typeface="Times New Roman"/>
              </a:rPr>
              <a:t>@d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ea typeface="Times New Roman"/>
              </a:rPr>
              <a:t>=@a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ea typeface="Times New Roman"/>
              </a:rPr>
              <a:t>-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@b;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15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40" dirty="0">
                <a:solidFill>
                  <a:srgbClr val="000000"/>
                </a:solidFill>
                <a:latin typeface="Times New Roman"/>
                <a:ea typeface="Times New Roman"/>
              </a:rPr>
              <a:t>@e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=@a*@b;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2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40" dirty="0">
                <a:solidFill>
                  <a:srgbClr val="000000"/>
                </a:solidFill>
                <a:latin typeface="Times New Roman"/>
                <a:ea typeface="Times New Roman"/>
              </a:rPr>
              <a:t>@f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=@a/@b;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@c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;</a:t>
            </a:r>
          </a:p>
          <a:p>
            <a:pPr marL="0" hangingPunct="0">
              <a:lnSpc>
                <a:spcPct val="95833"/>
              </a:lnSpc>
            </a:pPr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-1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60" dirty="0">
                <a:solidFill>
                  <a:srgbClr val="000000"/>
                </a:solidFill>
                <a:latin typeface="Times New Roman"/>
                <a:ea typeface="Times New Roman"/>
              </a:rPr>
              <a:t>@d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ea typeface="Times New Roman"/>
              </a:rPr>
              <a:t>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34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-1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60" dirty="0">
                <a:solidFill>
                  <a:srgbClr val="000000"/>
                </a:solidFill>
                <a:latin typeface="Times New Roman"/>
                <a:ea typeface="Times New Roman"/>
              </a:rPr>
              <a:t>@e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@f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;</a:t>
            </a:r>
          </a:p>
          <a:p>
            <a:pPr>
              <a:lnSpc>
                <a:spcPts val="1075"/>
              </a:lnSpc>
            </a:pPr>
            <a:endParaRPr lang="en-US" dirty="0"/>
          </a:p>
          <a:p>
            <a:pPr marL="0" hangingPunct="0">
              <a:lnSpc>
                <a:spcPct val="112083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Conditional</a:t>
            </a:r>
            <a:r>
              <a:rPr lang="en-US" altLang="zh-CN" sz="18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Statements:</a:t>
            </a:r>
            <a:r>
              <a:rPr lang="en-US" altLang="zh-CN" sz="18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block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code,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based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ondition.</a:t>
            </a:r>
          </a:p>
          <a:p>
            <a:pPr>
              <a:lnSpc>
                <a:spcPts val="515"/>
              </a:lnSpc>
            </a:pPr>
            <a:endParaRPr lang="en-US" dirty="0"/>
          </a:p>
          <a:p>
            <a:pPr marL="0" hangingPunct="0">
              <a:lnSpc>
                <a:spcPct val="147083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If-Else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Statement: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if-else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conditional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control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block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condition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else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block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condition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false.</a:t>
            </a:r>
          </a:p>
          <a:p>
            <a:pPr marL="0">
              <a:lnSpc>
                <a:spcPct val="100000"/>
              </a:lnSpc>
              <a:spcBef>
                <a:spcPts val="384"/>
              </a:spcBef>
            </a:pPr>
            <a:r>
              <a:rPr lang="en-US" altLang="zh-CN" sz="1400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</a:t>
            </a:r>
            <a:r>
              <a:rPr lang="en-US" altLang="zh-CN" sz="14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yntax:</a:t>
            </a:r>
          </a:p>
          <a:p>
            <a:pPr marL="0" hangingPunct="0">
              <a:lnSpc>
                <a:spcPct val="143333"/>
              </a:lnSpc>
              <a:spcBef>
                <a:spcPts val="375"/>
              </a:spcBef>
            </a:pPr>
            <a:r>
              <a:rPr lang="en-US" altLang="zh-CN" sz="1400" spc="15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spc="-1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ea typeface="Times New Roman"/>
              </a:rPr>
              <a:t>(condition)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{</a:t>
            </a:r>
          </a:p>
          <a:p>
            <a:pPr marL="0">
              <a:lnSpc>
                <a:spcPct val="100000"/>
              </a:lnSpc>
              <a:spcBef>
                <a:spcPts val="370"/>
              </a:spcBef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atements</a:t>
            </a:r>
          </a:p>
          <a:p>
            <a:pPr>
              <a:lnSpc>
                <a:spcPts val="73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}</a:t>
            </a:r>
          </a:p>
          <a:p>
            <a:pPr>
              <a:lnSpc>
                <a:spcPts val="74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lse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extBox 260"/>
          <p:cNvSpPr txBox="1"/>
          <p:nvPr/>
        </p:nvSpPr>
        <p:spPr>
          <a:xfrm>
            <a:off x="914704" y="860895"/>
            <a:ext cx="4673960" cy="81275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43333"/>
              </a:lnSpc>
            </a:pPr>
            <a:r>
              <a:rPr lang="en-US" altLang="zh-CN" sz="1400" spc="10" dirty="0">
                <a:solidFill>
                  <a:srgbClr val="000000"/>
                </a:solidFill>
                <a:latin typeface="Times New Roman"/>
                <a:ea typeface="Times New Roman"/>
              </a:rPr>
              <a:t>{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State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}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72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T/SQL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big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number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variables.</a:t>
            </a:r>
          </a:p>
          <a:p>
            <a:pPr marL="0" hangingPunct="0">
              <a:lnSpc>
                <a:spcPct val="94999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@a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int,@b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=30;</a:t>
            </a:r>
          </a:p>
          <a:p>
            <a:pPr marL="0" hangingPunct="0">
              <a:lnSpc>
                <a:spcPct val="96666"/>
              </a:lnSpc>
            </a:pPr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7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60" dirty="0">
                <a:solidFill>
                  <a:srgbClr val="000000"/>
                </a:solidFill>
                <a:latin typeface="Times New Roman"/>
                <a:ea typeface="Times New Roman"/>
              </a:rPr>
              <a:t>@b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ea typeface="Times New Roman"/>
              </a:rPr>
              <a:t>=20;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if(@a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&gt;@b)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big'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else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if(@a=@b)</a:t>
            </a:r>
          </a:p>
          <a:p>
            <a:pPr marL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'Both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equal'</a:t>
            </a:r>
          </a:p>
          <a:p>
            <a:pPr marL="0">
              <a:lnSpc>
                <a:spcPct val="95833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lse</a:t>
            </a:r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big';</a:t>
            </a:r>
          </a:p>
          <a:p>
            <a:pPr>
              <a:lnSpc>
                <a:spcPts val="167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positive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negative.</a:t>
            </a:r>
          </a:p>
          <a:p>
            <a:pPr>
              <a:lnSpc>
                <a:spcPts val="1255"/>
              </a:lnSpc>
            </a:pPr>
            <a:endParaRPr lang="en-US" dirty="0"/>
          </a:p>
          <a:p>
            <a:pPr marL="0" hangingPunct="0">
              <a:lnSpc>
                <a:spcPct val="14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@a</a:t>
            </a:r>
            <a:r>
              <a:rPr lang="en-US" altLang="zh-CN" sz="1400" b="1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60" dirty="0">
                <a:solidFill>
                  <a:srgbClr val="000000"/>
                </a:solidFill>
                <a:latin typeface="Times New Roman"/>
                <a:ea typeface="Times New Roman"/>
              </a:rPr>
              <a:t>@a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ea typeface="Times New Roman"/>
              </a:rPr>
              <a:t>=10;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(@a&gt;0)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positive'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lse</a:t>
            </a:r>
          </a:p>
          <a:p>
            <a:pPr marL="0">
              <a:lnSpc>
                <a:spcPct val="975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(@a=0)</a:t>
            </a:r>
          </a:p>
          <a:p>
            <a:pPr marL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neutral'</a:t>
            </a:r>
          </a:p>
          <a:p>
            <a:pPr marL="0">
              <a:lnSpc>
                <a:spcPct val="95416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lse</a:t>
            </a:r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negative'</a:t>
            </a:r>
          </a:p>
          <a:p>
            <a:pPr>
              <a:lnSpc>
                <a:spcPts val="8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number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even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odd.</a:t>
            </a:r>
          </a:p>
          <a:p>
            <a:pPr>
              <a:lnSpc>
                <a:spcPts val="1760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@a</a:t>
            </a:r>
            <a:r>
              <a:rPr lang="en-US" altLang="zh-CN" sz="1400" b="1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34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75" dirty="0">
                <a:solidFill>
                  <a:srgbClr val="000000"/>
                </a:solidFill>
                <a:latin typeface="Times New Roman"/>
                <a:ea typeface="Times New Roman"/>
              </a:rPr>
              <a:t>@a</a:t>
            </a:r>
            <a:r>
              <a:rPr lang="en-US" altLang="zh-CN" sz="1400" spc="55" dirty="0">
                <a:solidFill>
                  <a:srgbClr val="000000"/>
                </a:solidFill>
                <a:latin typeface="Times New Roman"/>
                <a:ea typeface="Times New Roman"/>
              </a:rPr>
              <a:t>=4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if((@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a%2)=0)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even';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lse</a:t>
            </a:r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odd';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extBox 261"/>
          <p:cNvSpPr txBox="1"/>
          <p:nvPr/>
        </p:nvSpPr>
        <p:spPr>
          <a:xfrm>
            <a:off x="914704" y="896709"/>
            <a:ext cx="5918979" cy="81421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multiple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enclosed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between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each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block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under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Begin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Statements.</a:t>
            </a:r>
          </a:p>
          <a:p>
            <a:pPr>
              <a:lnSpc>
                <a:spcPts val="110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@WEEK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</a:p>
          <a:p>
            <a:pPr>
              <a:lnSpc>
                <a:spcPts val="590"/>
              </a:lnSpc>
            </a:pPr>
            <a:endParaRPr lang="en-US" dirty="0"/>
          </a:p>
          <a:p>
            <a:pPr marL="457149" hangingPunct="0">
              <a:lnSpc>
                <a:spcPct val="1691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@WEEK=DATEPART(DW,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GETDATE())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@WEEK=1</a:t>
            </a:r>
          </a:p>
          <a:p>
            <a:pPr>
              <a:lnSpc>
                <a:spcPts val="594"/>
              </a:lnSpc>
            </a:pPr>
            <a:endParaRPr lang="en-US" dirty="0"/>
          </a:p>
          <a:p>
            <a:pPr marL="0" indent="9143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'SUNDAY'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ELSE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@WEEK=2</a:t>
            </a:r>
          </a:p>
          <a:p>
            <a:pPr>
              <a:lnSpc>
                <a:spcPts val="1130"/>
              </a:lnSpc>
            </a:pPr>
            <a:endParaRPr lang="en-US" dirty="0"/>
          </a:p>
          <a:p>
            <a:pPr marL="0" indent="9143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'MONDAY'</a:t>
            </a:r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ELSE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@WEEK=3</a:t>
            </a:r>
          </a:p>
          <a:p>
            <a:pPr>
              <a:lnSpc>
                <a:spcPts val="1144"/>
              </a:lnSpc>
            </a:pPr>
            <a:endParaRPr lang="en-US" dirty="0"/>
          </a:p>
          <a:p>
            <a:pPr marL="0" indent="9143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'TUESDAY'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ELSE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@WEEK=4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9143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'WEDNESDAY'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ELSE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@WEEK=5</a:t>
            </a:r>
          </a:p>
          <a:p>
            <a:pPr>
              <a:lnSpc>
                <a:spcPts val="1164"/>
              </a:lnSpc>
            </a:pPr>
            <a:endParaRPr lang="en-US" dirty="0"/>
          </a:p>
          <a:p>
            <a:pPr marL="0" indent="9143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'THURSDAY'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ELSE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@WEEK=6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9143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'FRIDAY'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ELSE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@WEEK=7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9143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'SATURDAY'</a:t>
            </a:r>
          </a:p>
          <a:p>
            <a:pPr>
              <a:lnSpc>
                <a:spcPts val="1019"/>
              </a:lnSpc>
            </a:pPr>
            <a:endParaRPr lang="en-US" dirty="0"/>
          </a:p>
          <a:p>
            <a:pPr marL="0" hangingPunct="0">
              <a:lnSpc>
                <a:spcPct val="112083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CASE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FUNCTION: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discussed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under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System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following:</a:t>
            </a:r>
          </a:p>
          <a:p>
            <a:pPr>
              <a:lnSpc>
                <a:spcPts val="108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@WEEK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</a:p>
          <a:p>
            <a:pPr>
              <a:lnSpc>
                <a:spcPts val="590"/>
              </a:lnSpc>
            </a:pPr>
            <a:endParaRPr lang="en-US" dirty="0"/>
          </a:p>
          <a:p>
            <a:pPr marL="457149" hangingPunct="0">
              <a:lnSpc>
                <a:spcPct val="1691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@WEEK=DATEPART(DW,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GETDATE())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@WEEK</a:t>
            </a:r>
          </a:p>
          <a:p>
            <a:pPr>
              <a:lnSpc>
                <a:spcPts val="594"/>
              </a:lnSpc>
            </a:pPr>
            <a:endParaRPr lang="en-US" dirty="0"/>
          </a:p>
          <a:p>
            <a:pPr marL="0" indent="444957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'SUNDAY'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TextBox 262"/>
          <p:cNvSpPr txBox="1"/>
          <p:nvPr/>
        </p:nvSpPr>
        <p:spPr>
          <a:xfrm>
            <a:off x="1829054" y="911695"/>
            <a:ext cx="2473756" cy="19372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'MONDAY'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'TUESDAY'</a:t>
            </a:r>
          </a:p>
          <a:p>
            <a:pPr>
              <a:lnSpc>
                <a:spcPts val="625"/>
              </a:lnSpc>
            </a:pPr>
            <a:endParaRPr lang="en-US" dirty="0"/>
          </a:p>
          <a:p>
            <a:pPr marL="0" hangingPunct="0">
              <a:lnSpc>
                <a:spcPct val="16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'WEDNESDAY'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5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'THURSDAY'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6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'FRIDAY'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7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'SATURDAY'</a:t>
            </a:r>
          </a:p>
        </p:txBody>
      </p:sp>
      <p:sp>
        <p:nvSpPr>
          <p:cNvPr id="263" name="TextBox 263"/>
          <p:cNvSpPr txBox="1"/>
          <p:nvPr/>
        </p:nvSpPr>
        <p:spPr>
          <a:xfrm>
            <a:off x="914704" y="2922105"/>
            <a:ext cx="5990870" cy="60664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written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second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style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discussed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following: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@WEEK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</a:p>
          <a:p>
            <a:pPr>
              <a:lnSpc>
                <a:spcPts val="575"/>
              </a:lnSpc>
            </a:pPr>
            <a:endParaRPr lang="en-US" dirty="0"/>
          </a:p>
          <a:p>
            <a:pPr marL="457149" hangingPunct="0">
              <a:lnSpc>
                <a:spcPct val="16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@WEEK=DATEPART(DW,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GETDATE())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CASE</a:t>
            </a:r>
          </a:p>
          <a:p>
            <a:pPr>
              <a:lnSpc>
                <a:spcPts val="600"/>
              </a:lnSpc>
            </a:pPr>
            <a:endParaRPr lang="en-US" dirty="0"/>
          </a:p>
          <a:p>
            <a:pPr marL="0" indent="9143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@WEEK=1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'SUNDAY'</a:t>
            </a:r>
          </a:p>
          <a:p>
            <a:pPr>
              <a:lnSpc>
                <a:spcPts val="1200"/>
              </a:lnSpc>
            </a:pPr>
            <a:endParaRPr lang="en-US" dirty="0"/>
          </a:p>
          <a:p>
            <a:pPr marL="914349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@WEEK=2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'MONDAY'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@WEEK=3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'TUESDAY'</a:t>
            </a:r>
          </a:p>
          <a:p>
            <a:pPr>
              <a:lnSpc>
                <a:spcPts val="619"/>
              </a:lnSpc>
            </a:pPr>
            <a:endParaRPr lang="en-US" dirty="0"/>
          </a:p>
          <a:p>
            <a:pPr marL="914349" hangingPunct="0">
              <a:lnSpc>
                <a:spcPct val="16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@WEEK=4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'WEDNESDAY'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@WEEK=5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'THURSDAY'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@WEEK=6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'FRIDAY'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@WEEK=7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'SATURDAY'</a:t>
            </a:r>
          </a:p>
          <a:p>
            <a:pPr>
              <a:lnSpc>
                <a:spcPts val="594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039"/>
              </a:lnSpc>
            </a:pPr>
            <a:endParaRPr lang="en-US" dirty="0"/>
          </a:p>
          <a:p>
            <a:pPr marL="0" hangingPunct="0">
              <a:lnSpc>
                <a:spcPct val="110833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While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Loop: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condition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repeated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block.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repeatedly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condition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true.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loop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controlled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inside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loop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BREAK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CONTINUE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keywords.</a:t>
            </a:r>
          </a:p>
          <a:p>
            <a:pPr>
              <a:lnSpc>
                <a:spcPts val="108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Boolean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extBox 264"/>
          <p:cNvSpPr txBox="1"/>
          <p:nvPr/>
        </p:nvSpPr>
        <p:spPr>
          <a:xfrm>
            <a:off x="914704" y="907377"/>
            <a:ext cx="5914620" cy="66029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9143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[BE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GIN]</a:t>
            </a:r>
          </a:p>
          <a:p>
            <a:pPr>
              <a:lnSpc>
                <a:spcPts val="590"/>
              </a:lnSpc>
            </a:pPr>
            <a:endParaRPr lang="en-US" dirty="0"/>
          </a:p>
          <a:p>
            <a:pPr marL="1371549" hangingPunct="0">
              <a:lnSpc>
                <a:spcPct val="1691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sql_statement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|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statement_block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&gt;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[BR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EAK]</a:t>
            </a:r>
          </a:p>
          <a:p>
            <a:pPr marL="1371549" hangingPunct="0">
              <a:lnSpc>
                <a:spcPct val="1691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sql_statement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|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statement_block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&gt;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[CO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NTINUE]</a:t>
            </a:r>
          </a:p>
          <a:p>
            <a:pPr>
              <a:lnSpc>
                <a:spcPts val="550"/>
              </a:lnSpc>
            </a:pPr>
            <a:endParaRPr lang="en-US" dirty="0"/>
          </a:p>
          <a:p>
            <a:pPr marL="0" indent="13715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sql_statement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|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statement_block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&gt;</a:t>
            </a:r>
          </a:p>
          <a:p>
            <a:pPr marL="0" indent="914349">
              <a:lnSpc>
                <a:spcPct val="96666"/>
              </a:lnSpc>
            </a:pP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[E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ND]</a:t>
            </a:r>
          </a:p>
          <a:p>
            <a:pPr marL="0" hangingPunct="0">
              <a:lnSpc>
                <a:spcPct val="110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multiple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enclosed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under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Begin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Statements.</a:t>
            </a:r>
          </a:p>
          <a:p>
            <a:pPr>
              <a:lnSpc>
                <a:spcPts val="860"/>
              </a:lnSpc>
            </a:pPr>
            <a:endParaRPr lang="en-US" dirty="0"/>
          </a:p>
          <a:p>
            <a:pPr marL="0" hangingPunct="0">
              <a:lnSpc>
                <a:spcPct val="110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BREAK: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Causes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innermost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loop.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appear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after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keyword,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marking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loop,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executed.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 marL="0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CONTINUE: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Causes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loop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restart,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ignoring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after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CONTINUE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keyword.</a:t>
            </a:r>
          </a:p>
          <a:p>
            <a:pPr>
              <a:lnSpc>
                <a:spcPts val="110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1:</a:t>
            </a:r>
          </a:p>
          <a:p>
            <a:pPr>
              <a:lnSpc>
                <a:spcPts val="594"/>
              </a:lnSpc>
            </a:pPr>
            <a:endParaRPr lang="en-US" dirty="0"/>
          </a:p>
          <a:p>
            <a:pPr marL="914349" hangingPunct="0">
              <a:lnSpc>
                <a:spcPct val="1691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@X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@X=0</a:t>
            </a:r>
          </a:p>
          <a:p>
            <a:pPr>
              <a:lnSpc>
                <a:spcPts val="630"/>
              </a:lnSpc>
            </a:pPr>
            <a:endParaRPr lang="en-US" dirty="0"/>
          </a:p>
          <a:p>
            <a:pPr marL="914349" hangingPunct="0">
              <a:lnSpc>
                <a:spcPct val="95833"/>
              </a:lnSpc>
            </a:pPr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WHILE</a:t>
            </a:r>
            <a:r>
              <a:rPr lang="en-US" altLang="zh-CN" sz="1400" spc="-1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@X&lt;10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>
              <a:lnSpc>
                <a:spcPts val="625"/>
              </a:lnSpc>
            </a:pPr>
            <a:endParaRPr lang="en-US" dirty="0"/>
          </a:p>
          <a:p>
            <a:pPr marL="1371549" hangingPunct="0">
              <a:lnSpc>
                <a:spcPct val="169166"/>
              </a:lnSpc>
            </a:pPr>
            <a:r>
              <a:rPr lang="en-US" altLang="zh-CN" sz="1400" spc="25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@X=@X+1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@X</a:t>
            </a:r>
          </a:p>
          <a:p>
            <a:pPr>
              <a:lnSpc>
                <a:spcPts val="600"/>
              </a:lnSpc>
            </a:pPr>
            <a:endParaRPr lang="en-US" dirty="0"/>
          </a:p>
          <a:p>
            <a:pPr marL="0" indent="9143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TextBox 265"/>
          <p:cNvSpPr txBox="1"/>
          <p:nvPr/>
        </p:nvSpPr>
        <p:spPr>
          <a:xfrm>
            <a:off x="914704" y="907377"/>
            <a:ext cx="921181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2:</a:t>
            </a:r>
          </a:p>
        </p:txBody>
      </p:sp>
      <p:sp>
        <p:nvSpPr>
          <p:cNvPr id="266" name="TextBox 266"/>
          <p:cNvSpPr txBox="1"/>
          <p:nvPr/>
        </p:nvSpPr>
        <p:spPr>
          <a:xfrm>
            <a:off x="914704" y="1196175"/>
            <a:ext cx="5901069" cy="7286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914349" hangingPunct="0">
              <a:lnSpc>
                <a:spcPct val="1691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@X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@X</a:t>
            </a:r>
            <a:r>
              <a:rPr lang="en-US" altLang="zh-CN" sz="1400" dirty="0">
                <a:solidFill>
                  <a:srgbClr val="7F7F7F"/>
                </a:solidFill>
                <a:latin typeface="Times New Roman"/>
                <a:ea typeface="Times New Roman"/>
              </a:rPr>
              <a:t>=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</a:p>
          <a:p>
            <a:pPr marL="914349" hangingPunct="0">
              <a:lnSpc>
                <a:spcPct val="169166"/>
              </a:lnSpc>
            </a:pPr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WHILE</a:t>
            </a:r>
            <a:r>
              <a:rPr lang="en-US" altLang="zh-CN" sz="1400" spc="-1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ea typeface="Times New Roman"/>
              </a:rPr>
              <a:t>@X</a:t>
            </a:r>
            <a:r>
              <a:rPr lang="en-US" altLang="zh-CN" sz="1400" spc="30" dirty="0">
                <a:solidFill>
                  <a:srgbClr val="7F7F7F"/>
                </a:solidFill>
                <a:latin typeface="Times New Roman"/>
                <a:ea typeface="Times New Roman"/>
              </a:rPr>
              <a:t>&lt;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 marL="1371549" hangingPunct="0">
              <a:lnSpc>
                <a:spcPct val="169583"/>
              </a:lnSpc>
            </a:pPr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50" dirty="0">
                <a:solidFill>
                  <a:srgbClr val="000000"/>
                </a:solidFill>
                <a:latin typeface="Times New Roman"/>
                <a:ea typeface="Times New Roman"/>
              </a:rPr>
              <a:t>@X</a:t>
            </a:r>
            <a:r>
              <a:rPr lang="en-US" altLang="zh-CN" sz="1400" spc="30" dirty="0">
                <a:solidFill>
                  <a:srgbClr val="7F7F7F"/>
                </a:solidFill>
                <a:latin typeface="Times New Roman"/>
                <a:ea typeface="Times New Roman"/>
              </a:rPr>
              <a:t>=</a:t>
            </a:r>
            <a:r>
              <a:rPr lang="en-US" altLang="zh-CN" sz="1400" spc="44" dirty="0">
                <a:solidFill>
                  <a:srgbClr val="000000"/>
                </a:solidFill>
                <a:latin typeface="Times New Roman"/>
                <a:ea typeface="Times New Roman"/>
              </a:rPr>
              <a:t>@X</a:t>
            </a:r>
            <a:r>
              <a:rPr lang="en-US" altLang="zh-CN" sz="1400" spc="34" dirty="0">
                <a:solidFill>
                  <a:srgbClr val="7F7F7F"/>
                </a:solidFill>
                <a:latin typeface="Times New Roman"/>
                <a:ea typeface="Times New Roman"/>
              </a:rPr>
              <a:t>+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@X</a:t>
            </a:r>
            <a:r>
              <a:rPr lang="en-US" altLang="zh-CN" sz="1400" dirty="0">
                <a:solidFill>
                  <a:srgbClr val="7F7F7F"/>
                </a:solidFill>
                <a:latin typeface="Times New Roman"/>
                <a:ea typeface="Times New Roman"/>
              </a:rPr>
              <a:t>=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6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BREAK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@X</a:t>
            </a:r>
          </a:p>
          <a:p>
            <a:pPr>
              <a:lnSpc>
                <a:spcPts val="600"/>
              </a:lnSpc>
            </a:pPr>
            <a:endParaRPr lang="en-US" dirty="0"/>
          </a:p>
          <a:p>
            <a:pPr marL="0" indent="9143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break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brings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control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loop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5.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3: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9143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@X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</a:p>
          <a:p>
            <a:pPr>
              <a:lnSpc>
                <a:spcPts val="594"/>
              </a:lnSpc>
            </a:pPr>
            <a:endParaRPr lang="en-US" dirty="0"/>
          </a:p>
          <a:p>
            <a:pPr marL="914349" hangingPunct="0">
              <a:lnSpc>
                <a:spcPct val="169583"/>
              </a:lnSpc>
            </a:pPr>
            <a:r>
              <a:rPr lang="en-US" altLang="zh-CN" sz="1400" spc="44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69" dirty="0">
                <a:solidFill>
                  <a:srgbClr val="000000"/>
                </a:solidFill>
                <a:latin typeface="Times New Roman"/>
                <a:ea typeface="Times New Roman"/>
              </a:rPr>
              <a:t>@X</a:t>
            </a:r>
            <a:r>
              <a:rPr lang="en-US" altLang="zh-CN" sz="1400" spc="50" dirty="0">
                <a:solidFill>
                  <a:srgbClr val="7F7F7F"/>
                </a:solidFill>
                <a:latin typeface="Times New Roman"/>
                <a:ea typeface="Times New Roman"/>
              </a:rPr>
              <a:t>=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WHILE</a:t>
            </a:r>
            <a:r>
              <a:rPr lang="en-US" altLang="zh-CN" sz="1400" spc="-1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ea typeface="Times New Roman"/>
              </a:rPr>
              <a:t>@X</a:t>
            </a:r>
            <a:r>
              <a:rPr lang="en-US" altLang="zh-CN" sz="1400" spc="30" dirty="0">
                <a:solidFill>
                  <a:srgbClr val="7F7F7F"/>
                </a:solidFill>
                <a:latin typeface="Times New Roman"/>
                <a:ea typeface="Times New Roman"/>
              </a:rPr>
              <a:t>&lt;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>
              <a:lnSpc>
                <a:spcPts val="575"/>
              </a:lnSpc>
            </a:pPr>
            <a:endParaRPr lang="en-US" dirty="0"/>
          </a:p>
          <a:p>
            <a:pPr marL="0" indent="13715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@X</a:t>
            </a:r>
            <a:r>
              <a:rPr lang="en-US" altLang="zh-CN" sz="1400" dirty="0">
                <a:solidFill>
                  <a:srgbClr val="7F7F7F"/>
                </a:solidFill>
                <a:latin typeface="Times New Roman"/>
                <a:ea typeface="Times New Roman"/>
              </a:rPr>
              <a:t>=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@X</a:t>
            </a:r>
            <a:r>
              <a:rPr lang="en-US" altLang="zh-CN" sz="1400" dirty="0">
                <a:solidFill>
                  <a:srgbClr val="7F7F7F"/>
                </a:solidFill>
                <a:latin typeface="Times New Roman"/>
                <a:ea typeface="Times New Roman"/>
              </a:rPr>
              <a:t>+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13715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@X</a:t>
            </a:r>
            <a:r>
              <a:rPr lang="en-US" altLang="zh-CN" sz="1400" dirty="0">
                <a:solidFill>
                  <a:srgbClr val="7F7F7F"/>
                </a:solidFill>
                <a:latin typeface="Times New Roman"/>
                <a:ea typeface="Times New Roman"/>
              </a:rPr>
              <a:t>=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6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CONTINUE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13715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@X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9143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continue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skip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x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6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5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7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extBox 267"/>
          <p:cNvSpPr txBox="1"/>
          <p:nvPr/>
        </p:nvSpPr>
        <p:spPr>
          <a:xfrm>
            <a:off x="914704" y="896709"/>
            <a:ext cx="5985698" cy="71394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TSQL: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ignored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program,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increase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readability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aids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understanding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program.</a:t>
            </a:r>
          </a:p>
          <a:p>
            <a:pPr>
              <a:lnSpc>
                <a:spcPts val="1114"/>
              </a:lnSpc>
            </a:pPr>
            <a:endParaRPr lang="en-US" dirty="0"/>
          </a:p>
          <a:p>
            <a:pPr marL="0" indent="228600">
              <a:lnSpc>
                <a:spcPts val="17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Single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Comments</a:t>
            </a:r>
            <a:r>
              <a:rPr lang="en-US" altLang="zh-CN" sz="1400" spc="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(--)</a:t>
            </a:r>
          </a:p>
          <a:p>
            <a:pPr marL="0" indent="228600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Multi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(/*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…..</a:t>
            </a:r>
            <a:r>
              <a:rPr lang="en-US" altLang="zh-CN" sz="1400" spc="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*/)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750"/>
              </a:lnSpc>
            </a:pPr>
            <a:endParaRPr lang="en-US" dirty="0"/>
          </a:p>
          <a:p>
            <a:pPr marL="0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Assinging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variables: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assigning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variables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assign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variables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following:</a:t>
            </a:r>
          </a:p>
          <a:p>
            <a:pPr>
              <a:lnSpc>
                <a:spcPts val="111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@&lt;var&gt;=&lt;col_name&gt;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[,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……n]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&lt;table_name&gt;</a:t>
            </a:r>
          </a:p>
          <a:p>
            <a:pPr marL="0">
              <a:lnSpc>
                <a:spcPct val="100000"/>
              </a:lnSpc>
              <a:spcBef>
                <a:spcPts val="150"/>
              </a:spcBef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[C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ONDITIONS]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@ENAME=ENAME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EMPNO=1001</a:t>
            </a:r>
          </a:p>
          <a:p>
            <a:pPr>
              <a:lnSpc>
                <a:spcPts val="575"/>
              </a:lnSpc>
            </a:pPr>
            <a:endParaRPr lang="en-US" dirty="0"/>
          </a:p>
          <a:p>
            <a:pPr marL="457149" indent="-457149" hangingPunct="0">
              <a:lnSpc>
                <a:spcPct val="16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simple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takes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@EMPNO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VARCHAR(50),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@SAL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MONEY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@EMPNO=1005</a:t>
            </a:r>
          </a:p>
          <a:p>
            <a:pPr>
              <a:lnSpc>
                <a:spcPts val="509"/>
              </a:lnSpc>
            </a:pPr>
            <a:endParaRPr lang="en-US" dirty="0"/>
          </a:p>
          <a:p>
            <a:pPr marL="4571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@ENAME=ENAME,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@SAL=SAL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PNO=@EMPNO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+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EARNS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+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CAST(@SAL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VARCHAR)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takes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increments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person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following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criteria: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President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increment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10%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Manager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increment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8%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Analyst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increment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6%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other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incrment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5%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TextBox 268"/>
          <p:cNvSpPr txBox="1"/>
          <p:nvPr/>
        </p:nvSpPr>
        <p:spPr>
          <a:xfrm>
            <a:off x="914704" y="907377"/>
            <a:ext cx="5883251" cy="72514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@EMPNO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@JOB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VARCHAR(50)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@EMPNO=1005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@JOB=JOB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EMPNO=@EMPNO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@JOB='PRESIDENT'</a:t>
            </a:r>
          </a:p>
          <a:p>
            <a:pPr>
              <a:lnSpc>
                <a:spcPts val="1069"/>
              </a:lnSpc>
            </a:pPr>
            <a:endParaRPr lang="en-US" dirty="0"/>
          </a:p>
          <a:p>
            <a:pPr marL="914349" hangingPunct="0">
              <a:lnSpc>
                <a:spcPct val="110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+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0.1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PNO=@EMPNO</a:t>
            </a:r>
          </a:p>
          <a:p>
            <a:pPr>
              <a:lnSpc>
                <a:spcPts val="108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ELSE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@JOB='MANAGER'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9143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+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0.10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PNO=@EMPNO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ELSE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@JOB='ANALYST'</a:t>
            </a:r>
          </a:p>
          <a:p>
            <a:pPr>
              <a:lnSpc>
                <a:spcPts val="1069"/>
              </a:lnSpc>
            </a:pPr>
            <a:endParaRPr lang="en-US" dirty="0"/>
          </a:p>
          <a:p>
            <a:pPr marL="914349" hangingPunct="0">
              <a:lnSpc>
                <a:spcPct val="110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+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0.06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PNO=@EMPNO</a:t>
            </a:r>
          </a:p>
          <a:p>
            <a:pPr>
              <a:lnSpc>
                <a:spcPts val="108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EL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9143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+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0.05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PNO=@EMPNO</a:t>
            </a:r>
          </a:p>
          <a:p>
            <a:pPr>
              <a:lnSpc>
                <a:spcPts val="910"/>
              </a:lnSpc>
            </a:pPr>
            <a:endParaRPr lang="en-US" dirty="0"/>
          </a:p>
          <a:p>
            <a:pPr marL="0" hangingPunct="0">
              <a:lnSpc>
                <a:spcPct val="111666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SUB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PROGRAMS: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block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spc="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directly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saved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required.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server.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spc="-45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ea typeface="Times New Roman"/>
              </a:rPr>
              <a:t>Stored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ea typeface="Times New Roman"/>
              </a:rPr>
              <a:t>Procedures/Procedure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spc="-45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4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ea typeface="Times New Roman"/>
              </a:rPr>
              <a:t>Stored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ea typeface="Times New Roman"/>
              </a:rPr>
              <a:t>Functions/Functions</a:t>
            </a:r>
          </a:p>
          <a:p>
            <a:pPr>
              <a:lnSpc>
                <a:spcPts val="994"/>
              </a:lnSpc>
            </a:pPr>
            <a:endParaRPr lang="en-US" dirty="0"/>
          </a:p>
          <a:p>
            <a:pPr marL="0" hangingPunct="0">
              <a:lnSpc>
                <a:spcPct val="111666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Stored</a:t>
            </a:r>
            <a:r>
              <a:rPr lang="en-US" altLang="zh-CN" sz="2000" b="1" u="sng" spc="7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Procedures/Procedure:</a:t>
            </a:r>
            <a:r>
              <a:rPr lang="en-US" altLang="zh-CN" sz="2000" b="1" spc="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stored</a:t>
            </a:r>
            <a:r>
              <a:rPr lang="en-US" altLang="zh-CN" sz="14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object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precompiled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queries.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block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designed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task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whenever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extBox 269"/>
          <p:cNvSpPr txBox="1"/>
          <p:nvPr/>
        </p:nvSpPr>
        <p:spPr>
          <a:xfrm>
            <a:off x="914704" y="884629"/>
            <a:ext cx="5953169" cy="77077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1249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Why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we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need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stored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procedure: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Whenever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</a:t>
            </a:r>
            <a:r>
              <a:rPr lang="en-US" altLang="zh-CN" sz="1400" spc="-1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application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first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(i.e.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complied)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consuming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because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occurs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each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every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statement.</a:t>
            </a:r>
          </a:p>
          <a:p>
            <a:pPr>
              <a:lnSpc>
                <a:spcPts val="1019"/>
              </a:lnSpc>
            </a:pPr>
            <a:endParaRPr lang="en-US" dirty="0"/>
          </a:p>
          <a:p>
            <a:pPr marL="0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overcome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above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problem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under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because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complied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block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without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whenever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increase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performance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application.</a:t>
            </a:r>
          </a:p>
          <a:p>
            <a:pPr>
              <a:lnSpc>
                <a:spcPts val="110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Advantages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of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Stored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Procedure:</a:t>
            </a:r>
          </a:p>
          <a:p>
            <a:pPr>
              <a:lnSpc>
                <a:spcPts val="1275"/>
              </a:lnSpc>
            </a:pPr>
            <a:endParaRPr lang="en-US" dirty="0"/>
          </a:p>
          <a:p>
            <a:pPr marL="0" indent="228600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unnecessary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compilation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queries,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reduce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burden</a:t>
            </a:r>
            <a:r>
              <a:rPr lang="en-US" altLang="zh-CN" sz="1400" spc="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</a:p>
          <a:p>
            <a:pPr marL="0" indent="457149">
              <a:lnSpc>
                <a:spcPct val="100000"/>
              </a:lnSpc>
              <a:spcBef>
                <a:spcPts val="209"/>
              </a:spcBef>
            </a:pP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atabase.</a:t>
            </a:r>
          </a:p>
          <a:p>
            <a:pPr marL="0" indent="228600">
              <a:lnSpc>
                <a:spcPts val="172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Application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performance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improved</a:t>
            </a:r>
          </a:p>
          <a:p>
            <a:pPr marL="0" indent="228600">
              <a:lnSpc>
                <a:spcPts val="172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quick</a:t>
            </a:r>
            <a:r>
              <a:rPr lang="en-US" altLang="zh-CN" sz="1400" spc="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response</a:t>
            </a:r>
          </a:p>
          <a:p>
            <a:pPr marL="0" indent="228600">
              <a:lnSpc>
                <a:spcPts val="1720"/>
              </a:lnSpc>
              <a:spcBef>
                <a:spcPts val="23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reusability</a:t>
            </a:r>
            <a:r>
              <a:rPr lang="en-US" altLang="zh-CN" sz="1400" spc="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facility</a:t>
            </a:r>
          </a:p>
          <a:p>
            <a:pPr>
              <a:lnSpc>
                <a:spcPts val="1094"/>
              </a:lnSpc>
            </a:pPr>
            <a:endParaRPr lang="en-US" dirty="0"/>
          </a:p>
          <a:p>
            <a:pPr marL="0" hangingPunct="0">
              <a:lnSpc>
                <a:spcPct val="11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How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Create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Stored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Procedures/Procedure</a:t>
            </a:r>
            <a:r>
              <a:rPr lang="en-US" altLang="zh-CN" sz="1800" b="1" u="sng" spc="-7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(Without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8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arameter):</a:t>
            </a:r>
          </a:p>
          <a:p>
            <a:pPr>
              <a:lnSpc>
                <a:spcPts val="1130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914349" algn="l"/>
              </a:tabLst>
            </a:pPr>
            <a:r>
              <a:rPr lang="en-US" altLang="zh-CN" sz="16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&lt;Procedures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</a:p>
          <a:p>
            <a:pPr>
              <a:lnSpc>
                <a:spcPts val="1194"/>
              </a:lnSpc>
            </a:pPr>
            <a:endParaRPr lang="en-US" dirty="0"/>
          </a:p>
          <a:p>
            <a:pPr marL="0" indent="914349">
              <a:lnSpc>
                <a:spcPct val="100000"/>
              </a:lnSpc>
            </a:pP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9143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egin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914349">
              <a:lnSpc>
                <a:spcPct val="100000"/>
              </a:lnSpc>
            </a:pP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&lt;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Statements&gt;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9143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080"/>
              </a:lnSpc>
            </a:pPr>
            <a:endParaRPr lang="en-US" dirty="0"/>
          </a:p>
          <a:p>
            <a:pPr marL="0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physically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saved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Object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whenever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required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user.</a:t>
            </a:r>
          </a:p>
          <a:p>
            <a:pPr>
              <a:lnSpc>
                <a:spcPts val="1019"/>
              </a:lnSpc>
            </a:pPr>
            <a:endParaRPr lang="en-US" dirty="0"/>
          </a:p>
          <a:p>
            <a:pPr marL="0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above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application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developed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JAVA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(or)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.NET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TextBox 270"/>
          <p:cNvSpPr txBox="1"/>
          <p:nvPr/>
        </p:nvSpPr>
        <p:spPr>
          <a:xfrm>
            <a:off x="914704" y="905578"/>
            <a:ext cx="4973846" cy="3048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How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Call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Stored</a:t>
            </a:r>
            <a:r>
              <a:rPr lang="en-US" altLang="zh-CN" sz="20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Procedures/Procedure:</a:t>
            </a:r>
          </a:p>
        </p:txBody>
      </p:sp>
      <p:sp>
        <p:nvSpPr>
          <p:cNvPr id="271" name="TextBox 271"/>
          <p:cNvSpPr txBox="1"/>
          <p:nvPr/>
        </p:nvSpPr>
        <p:spPr>
          <a:xfrm>
            <a:off x="914704" y="1367731"/>
            <a:ext cx="2790009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9143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&lt;Procedure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</a:p>
        </p:txBody>
      </p:sp>
      <p:sp>
        <p:nvSpPr>
          <p:cNvPr id="272" name="TextBox 272"/>
          <p:cNvSpPr txBox="1"/>
          <p:nvPr/>
        </p:nvSpPr>
        <p:spPr>
          <a:xfrm>
            <a:off x="914704" y="1730375"/>
            <a:ext cx="5775122" cy="27707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Examples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on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without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parameters</a:t>
            </a:r>
            <a:r>
              <a:rPr lang="en-US" altLang="zh-CN" sz="1800" b="1" u="sng" spc="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Procedures:</a:t>
            </a:r>
          </a:p>
          <a:p>
            <a:pPr>
              <a:lnSpc>
                <a:spcPts val="1150"/>
              </a:lnSpc>
            </a:pPr>
            <a:endParaRPr lang="en-US" dirty="0"/>
          </a:p>
          <a:p>
            <a:pPr marL="0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simple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parameters)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WELCOME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window.</a:t>
            </a:r>
          </a:p>
          <a:p>
            <a:pPr>
              <a:lnSpc>
                <a:spcPts val="1094"/>
              </a:lnSpc>
            </a:pPr>
            <a:endParaRPr lang="en-US" dirty="0"/>
          </a:p>
          <a:p>
            <a:pPr marL="457149" hangingPunct="0">
              <a:lnSpc>
                <a:spcPct val="970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Test1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 marL="0" indent="457149">
              <a:lnSpc>
                <a:spcPct val="96249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 marL="457149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'WELCOME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STOREDPROCEDURES'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030"/>
              </a:lnSpc>
            </a:pPr>
            <a:endParaRPr lang="en-US" dirty="0"/>
          </a:p>
          <a:p>
            <a:pPr marL="0" hangingPunct="0">
              <a:lnSpc>
                <a:spcPct val="112916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Passing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Parameters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Procedures: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parameters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below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syntax.</a:t>
            </a:r>
          </a:p>
        </p:txBody>
      </p:sp>
      <p:sp>
        <p:nvSpPr>
          <p:cNvPr id="273" name="TextBox 273"/>
          <p:cNvSpPr txBox="1"/>
          <p:nvPr/>
        </p:nvSpPr>
        <p:spPr>
          <a:xfrm>
            <a:off x="914704" y="4634044"/>
            <a:ext cx="711489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u="sng" spc="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yntax:</a:t>
            </a:r>
          </a:p>
        </p:txBody>
      </p:sp>
      <p:sp>
        <p:nvSpPr>
          <p:cNvPr id="274" name="TextBox 274"/>
          <p:cNvSpPr txBox="1"/>
          <p:nvPr/>
        </p:nvSpPr>
        <p:spPr>
          <a:xfrm>
            <a:off x="1829054" y="4636986"/>
            <a:ext cx="2812664" cy="20241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&lt;Procedures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</a:p>
          <a:p>
            <a:pPr>
              <a:lnSpc>
                <a:spcPts val="590"/>
              </a:lnSpc>
            </a:pPr>
            <a:endParaRPr lang="en-US" dirty="0"/>
          </a:p>
          <a:p>
            <a:pPr marL="0" hangingPunct="0">
              <a:lnSpc>
                <a:spcPct val="169166"/>
              </a:lnSpc>
            </a:pPr>
            <a:r>
              <a:rPr lang="en-US" altLang="zh-CN" sz="1400" spc="15" dirty="0">
                <a:solidFill>
                  <a:srgbClr val="000000"/>
                </a:solidFill>
                <a:latin typeface="Times New Roman"/>
                <a:ea typeface="Times New Roman"/>
              </a:rPr>
              <a:t>(Passing</a:t>
            </a:r>
            <a:r>
              <a:rPr lang="en-US" altLang="zh-CN" sz="1400" spc="-15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ea typeface="Times New Roman"/>
              </a:rPr>
              <a:t>parameters)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>
              <a:lnSpc>
                <a:spcPts val="60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egin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&lt;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Statements&gt;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</p:txBody>
      </p:sp>
      <p:sp>
        <p:nvSpPr>
          <p:cNvPr id="275" name="TextBox 275"/>
          <p:cNvSpPr txBox="1"/>
          <p:nvPr/>
        </p:nvSpPr>
        <p:spPr>
          <a:xfrm>
            <a:off x="914704" y="6808978"/>
            <a:ext cx="4936719" cy="22298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Examples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on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Parameter</a:t>
            </a:r>
            <a:r>
              <a:rPr lang="en-US" altLang="zh-CN" sz="1800" b="1" u="sng" spc="-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Procedures:</a:t>
            </a:r>
          </a:p>
          <a:p>
            <a:pPr>
              <a:lnSpc>
                <a:spcPts val="123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add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Parameters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Procedure.</a:t>
            </a:r>
          </a:p>
          <a:p>
            <a:pPr>
              <a:lnSpc>
                <a:spcPts val="1155"/>
              </a:lnSpc>
            </a:pPr>
            <a:endParaRPr lang="en-US" dirty="0"/>
          </a:p>
          <a:p>
            <a:pPr marL="457149" hangingPunct="0">
              <a:lnSpc>
                <a:spcPct val="970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test2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(@a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int,@b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 marL="0" indent="457149">
              <a:lnSpc>
                <a:spcPct val="94166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 marL="0" indent="457149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@c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</a:p>
          <a:p>
            <a:pPr marL="0" indent="457149">
              <a:lnSpc>
                <a:spcPct val="9875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=@a+@b;</a:t>
            </a:r>
          </a:p>
          <a:p>
            <a:pPr marL="457149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'Addition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variables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are:-'+cast(@c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varchar);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TextBox 276"/>
          <p:cNvSpPr txBox="1"/>
          <p:nvPr/>
        </p:nvSpPr>
        <p:spPr>
          <a:xfrm>
            <a:off x="914704" y="896709"/>
            <a:ext cx="5968672" cy="82183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arithmetic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Parameters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rocedure.</a:t>
            </a:r>
          </a:p>
          <a:p>
            <a:pPr>
              <a:lnSpc>
                <a:spcPts val="1094"/>
              </a:lnSpc>
            </a:pPr>
            <a:endParaRPr lang="en-US" dirty="0"/>
          </a:p>
          <a:p>
            <a:pPr marL="457149" hangingPunct="0">
              <a:lnSpc>
                <a:spcPct val="970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test3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(@a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int,@b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 marL="0" indent="457149">
              <a:lnSpc>
                <a:spcPct val="93333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 marL="0" indent="457149">
              <a:lnSpc>
                <a:spcPct val="96249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@x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int,@y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int,@z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int,@s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</a:p>
          <a:p>
            <a:pPr marL="457149" hangingPunct="0">
              <a:lnSpc>
                <a:spcPct val="95416"/>
              </a:lnSpc>
            </a:pPr>
            <a:r>
              <a:rPr lang="en-US" altLang="zh-CN" sz="1400" spc="15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34" dirty="0">
                <a:solidFill>
                  <a:srgbClr val="000000"/>
                </a:solidFill>
                <a:latin typeface="Times New Roman"/>
                <a:ea typeface="Times New Roman"/>
              </a:rPr>
              <a:t>@x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ea typeface="Times New Roman"/>
              </a:rPr>
              <a:t>=@a+@b;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2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40" dirty="0">
                <a:solidFill>
                  <a:srgbClr val="000000"/>
                </a:solidFill>
                <a:latin typeface="Times New Roman"/>
                <a:ea typeface="Times New Roman"/>
              </a:rPr>
              <a:t>@y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ea typeface="Times New Roman"/>
              </a:rPr>
              <a:t>=@a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-@b;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15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40" dirty="0">
                <a:solidFill>
                  <a:srgbClr val="000000"/>
                </a:solidFill>
                <a:latin typeface="Times New Roman"/>
                <a:ea typeface="Times New Roman"/>
              </a:rPr>
              <a:t>@z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=@a*@b;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=@a/@b;</a:t>
            </a:r>
          </a:p>
          <a:p>
            <a:pPr marL="457149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'Add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variables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are:-'+cast(@x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varchar);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'Sub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variables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are:-'+cast(@y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varchar);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'Mul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variables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are:-'+cast(@z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varchar);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'Div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variables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are:-'+cast(@s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varchar);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23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3)create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details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spselect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>
              <a:lnSpc>
                <a:spcPts val="1164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>
              <a:lnSpc>
                <a:spcPts val="590"/>
              </a:lnSpc>
            </a:pPr>
            <a:endParaRPr lang="en-US" dirty="0"/>
          </a:p>
          <a:p>
            <a:pPr marL="457149" hangingPunct="0">
              <a:lnSpc>
                <a:spcPct val="1691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59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Output: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spselect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4)create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accept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able.</a:t>
            </a:r>
          </a:p>
          <a:p>
            <a:pPr>
              <a:lnSpc>
                <a:spcPts val="525"/>
              </a:lnSpc>
            </a:pPr>
            <a:endParaRPr lang="en-US" dirty="0"/>
          </a:p>
          <a:p>
            <a:pPr marL="457149" hangingPunct="0">
              <a:lnSpc>
                <a:spcPct val="1691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spdel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@eid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</a:p>
          <a:p>
            <a:pPr>
              <a:lnSpc>
                <a:spcPts val="594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EmpID=@eid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extBox 277"/>
          <p:cNvSpPr txBox="1"/>
          <p:nvPr/>
        </p:nvSpPr>
        <p:spPr>
          <a:xfrm>
            <a:off x="914704" y="907377"/>
            <a:ext cx="5869489" cy="70754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Output: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spdel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</a:p>
          <a:p>
            <a:pPr>
              <a:lnSpc>
                <a:spcPts val="1069"/>
              </a:lnSpc>
            </a:pPr>
            <a:endParaRPr lang="en-US" dirty="0"/>
          </a:p>
          <a:p>
            <a:pPr marL="0" hangingPunct="0">
              <a:lnSpc>
                <a:spcPct val="110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5)create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accept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details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>
              <a:lnSpc>
                <a:spcPts val="108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spupdate</a:t>
            </a:r>
          </a:p>
          <a:p>
            <a:pPr>
              <a:lnSpc>
                <a:spcPts val="590"/>
              </a:lnSpc>
            </a:pPr>
            <a:endParaRPr lang="en-US" dirty="0"/>
          </a:p>
          <a:p>
            <a:pPr marL="457149" hangingPunct="0">
              <a:lnSpc>
                <a:spcPct val="1691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int,@ename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varchar(max),@salary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money,@address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char(30)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>
              <a:lnSpc>
                <a:spcPts val="60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4571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EmpName=@ename,Salary=@salary,Address=@address</a:t>
            </a:r>
            <a:r>
              <a:rPr lang="en-US" altLang="zh-CN" sz="1400" spc="-1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pID=@eid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Output: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spupdate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1,'kamal',88000,'vizag'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6)create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add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spinst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int,@ename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varchar(50),@salary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money,@address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varchar(50)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values(@eid,@ename,@salary,@address)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Output: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spinst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6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,'Suman'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,41000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,'chennai'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extBox 278"/>
          <p:cNvSpPr txBox="1"/>
          <p:nvPr/>
        </p:nvSpPr>
        <p:spPr>
          <a:xfrm>
            <a:off x="914704" y="907377"/>
            <a:ext cx="5851521" cy="7207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7)create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tables.</a:t>
            </a:r>
          </a:p>
          <a:p>
            <a:pPr>
              <a:lnSpc>
                <a:spcPts val="113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spinserttwotables</a:t>
            </a:r>
          </a:p>
          <a:p>
            <a:pPr marL="457149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int,@ename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varchar(50),@salary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money,@Address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char(40),@Deptno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int,@Dname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char(30),@Loc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char(20)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 marL="0" indent="457149">
              <a:lnSpc>
                <a:spcPct val="92916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 marL="457149" hangingPunct="0">
              <a:lnSpc>
                <a:spcPct val="96249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b="1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values(@eid,@ename,@salary,@Address,@Deptno)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Dept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values(@Deptno,@Dname,@Loc)</a:t>
            </a:r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50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Output: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spinsert</a:t>
            </a:r>
            <a:r>
              <a:rPr lang="en-US" altLang="zh-CN" sz="1400" b="1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7,'mohan',62000,'mumbai',10,'dotnet','hyd'</a:t>
            </a:r>
          </a:p>
          <a:p>
            <a:pPr>
              <a:lnSpc>
                <a:spcPts val="119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8)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Default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Values: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PROC3(@X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100,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@Y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INT)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>
              <a:lnSpc>
                <a:spcPts val="1210"/>
              </a:lnSpc>
            </a:pPr>
            <a:endParaRPr lang="en-US" dirty="0"/>
          </a:p>
          <a:p>
            <a:pPr marL="914349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@Z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@Z=@X+@Y</a:t>
            </a:r>
          </a:p>
          <a:p>
            <a:pPr>
              <a:lnSpc>
                <a:spcPts val="1210"/>
              </a:lnSpc>
            </a:pPr>
            <a:endParaRPr lang="en-US" dirty="0"/>
          </a:p>
          <a:p>
            <a:pPr marL="0" indent="9143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Numbers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+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CAST(@Z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VAR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CHAR)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-Executing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above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procedure:</a:t>
            </a:r>
          </a:p>
          <a:p>
            <a:pPr>
              <a:lnSpc>
                <a:spcPts val="1130"/>
              </a:lnSpc>
            </a:pPr>
            <a:endParaRPr lang="en-US" dirty="0"/>
          </a:p>
          <a:p>
            <a:pPr marL="0" indent="6857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PROC3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200</a:t>
            </a:r>
            <a:r>
              <a:rPr lang="en-US" altLang="zh-CN" sz="1400" dirty="0">
                <a:solidFill>
                  <a:srgbClr val="7F7F7F"/>
                </a:solidFill>
                <a:latin typeface="Times New Roman"/>
                <a:ea typeface="Times New Roman"/>
              </a:rPr>
              <a:t>,</a:t>
            </a:r>
            <a:r>
              <a:rPr lang="en-US" altLang="zh-CN" sz="1400" spc="44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25</a:t>
            </a:r>
          </a:p>
          <a:p>
            <a:pPr marL="0" indent="685749">
              <a:lnSpc>
                <a:spcPct val="966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PROC3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@X=200,</a:t>
            </a:r>
            <a:r>
              <a:rPr lang="en-US" altLang="zh-CN" sz="14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@Y=25</a:t>
            </a:r>
          </a:p>
          <a:p>
            <a:pPr marL="0" indent="685749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PROC3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@X=DEFAULT,</a:t>
            </a:r>
            <a:r>
              <a:rPr lang="en-US" altLang="zh-CN" sz="1400" spc="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@Y=25</a:t>
            </a:r>
          </a:p>
          <a:p>
            <a:pPr marL="0" indent="685749">
              <a:lnSpc>
                <a:spcPct val="925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4.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PROC3</a:t>
            </a:r>
            <a:r>
              <a:rPr lang="en-US" altLang="zh-CN" sz="14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@Y=25</a:t>
            </a:r>
          </a:p>
          <a:p>
            <a:pPr marL="0" hangingPunct="0">
              <a:lnSpc>
                <a:spcPct val="114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-In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r>
              <a:rPr lang="en-US" altLang="zh-CN" sz="900" dirty="0">
                <a:solidFill>
                  <a:srgbClr val="000000"/>
                </a:solidFill>
                <a:latin typeface="Times New Roman"/>
                <a:ea typeface="Times New Roman"/>
              </a:rPr>
              <a:t>rd</a:t>
            </a:r>
            <a:r>
              <a:rPr lang="en-US" altLang="zh-CN" sz="9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r>
              <a:rPr lang="en-US" altLang="zh-CN" sz="900" dirty="0">
                <a:solidFill>
                  <a:srgbClr val="000000"/>
                </a:solidFill>
                <a:latin typeface="Times New Roman"/>
                <a:ea typeface="Times New Roman"/>
              </a:rPr>
              <a:t>th</a:t>
            </a:r>
            <a:r>
              <a:rPr lang="en-US" altLang="zh-CN" sz="9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uses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default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100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varibale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X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given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extBox 279"/>
          <p:cNvSpPr txBox="1"/>
          <p:nvPr/>
        </p:nvSpPr>
        <p:spPr>
          <a:xfrm>
            <a:off x="914704" y="1270089"/>
            <a:ext cx="5884992" cy="53606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9)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takes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Employee.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Net_Sal(@Empno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int)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egin</a:t>
            </a:r>
          </a:p>
          <a:p>
            <a:pPr>
              <a:lnSpc>
                <a:spcPts val="584"/>
              </a:lnSpc>
            </a:pPr>
            <a:endParaRPr lang="en-US" dirty="0"/>
          </a:p>
          <a:p>
            <a:pPr marL="457149" hangingPunct="0">
              <a:lnSpc>
                <a:spcPct val="16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@VSal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money,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@NSal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money,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@VPF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money,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@VPT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money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Deductions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@Empno,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@VPF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OUTPUT,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@VPT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OUTPUT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@Sal=Sal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Empno=@Empno</a:t>
            </a:r>
          </a:p>
          <a:p>
            <a:pPr>
              <a:lnSpc>
                <a:spcPts val="60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@NSal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@VSal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@VPF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@VPT</a:t>
            </a:r>
          </a:p>
          <a:p>
            <a:pPr>
              <a:lnSpc>
                <a:spcPts val="630"/>
              </a:lnSpc>
            </a:pPr>
            <a:endParaRPr lang="en-US" dirty="0"/>
          </a:p>
          <a:p>
            <a:pPr marL="457149" hangingPunct="0">
              <a:lnSpc>
                <a:spcPct val="1683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„Net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is: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+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Cast(@NSal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58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-Executing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above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Procedure:</a:t>
            </a:r>
          </a:p>
          <a:p>
            <a:pPr>
              <a:lnSpc>
                <a:spcPts val="1164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Net_Sal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1005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How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Drop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Stored</a:t>
            </a:r>
            <a:r>
              <a:rPr lang="en-US" altLang="zh-CN" sz="1800" b="1" u="sng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Procedure:</a:t>
            </a:r>
          </a:p>
          <a:p>
            <a:pPr>
              <a:lnSpc>
                <a:spcPts val="1244"/>
              </a:lnSpc>
            </a:pPr>
            <a:endParaRPr lang="en-US" dirty="0"/>
          </a:p>
          <a:p>
            <a:pPr marL="0" indent="228600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Drop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&lt;Procedure</a:t>
            </a:r>
            <a:r>
              <a:rPr lang="en-US" altLang="zh-CN" sz="1400" spc="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</a:p>
          <a:p>
            <a:pPr>
              <a:lnSpc>
                <a:spcPts val="1194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b="1" u="sng" spc="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ea typeface="Times New Roman"/>
              </a:rPr>
              <a:t>Drop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ea typeface="Times New Roman"/>
              </a:rPr>
              <a:t>SP1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TextBox 280"/>
          <p:cNvSpPr txBox="1"/>
          <p:nvPr/>
        </p:nvSpPr>
        <p:spPr>
          <a:xfrm>
            <a:off x="914704" y="1247341"/>
            <a:ext cx="5959468" cy="44613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1249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Stored</a:t>
            </a:r>
            <a:r>
              <a:rPr lang="en-US" altLang="zh-CN" sz="2000" b="1" u="sng" spc="-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Functions/Functions:</a:t>
            </a:r>
            <a:r>
              <a:rPr lang="en-US" altLang="zh-CN" sz="200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block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code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similar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result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divided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</a:p>
          <a:p>
            <a:pPr>
              <a:lnSpc>
                <a:spcPts val="935"/>
              </a:lnSpc>
            </a:pPr>
            <a:endParaRPr lang="en-US" dirty="0"/>
          </a:p>
          <a:p>
            <a:pPr marL="0" hangingPunct="0">
              <a:lnSpc>
                <a:spcPct val="112083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1)Scalar-Valued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Fuction: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attribute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datatype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output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function.</a:t>
            </a:r>
          </a:p>
          <a:p>
            <a:pPr>
              <a:lnSpc>
                <a:spcPts val="10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&lt;Function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(@parameter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Type&gt;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[size])</a:t>
            </a:r>
          </a:p>
          <a:p>
            <a:pPr>
              <a:lnSpc>
                <a:spcPts val="619"/>
              </a:lnSpc>
            </a:pPr>
            <a:endParaRPr lang="en-US" dirty="0"/>
          </a:p>
          <a:p>
            <a:pPr marL="457149" hangingPunct="0">
              <a:lnSpc>
                <a:spcPct val="1691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&lt;return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attribute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type&gt;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>
              <a:lnSpc>
                <a:spcPts val="594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egin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&lt;Function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Body&gt;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&lt;return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attribute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15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How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Call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Scalar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valued</a:t>
            </a:r>
            <a:r>
              <a:rPr lang="en-US" altLang="zh-CN" sz="18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Functions:</a:t>
            </a:r>
          </a:p>
        </p:txBody>
      </p:sp>
      <p:sp>
        <p:nvSpPr>
          <p:cNvPr id="281" name="TextBox 281"/>
          <p:cNvSpPr txBox="1"/>
          <p:nvPr/>
        </p:nvSpPr>
        <p:spPr>
          <a:xfrm>
            <a:off x="914704" y="5862642"/>
            <a:ext cx="3727208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958545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dbo.&lt;Function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(value)</a:t>
            </a:r>
          </a:p>
        </p:txBody>
      </p:sp>
      <p:sp>
        <p:nvSpPr>
          <p:cNvPr id="282" name="TextBox 282"/>
          <p:cNvSpPr txBox="1"/>
          <p:nvPr/>
        </p:nvSpPr>
        <p:spPr>
          <a:xfrm>
            <a:off x="1143304" y="6226772"/>
            <a:ext cx="4125149" cy="21114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1)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cube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given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value.</a:t>
            </a:r>
          </a:p>
          <a:p>
            <a:pPr marL="228549" hangingPunct="0">
              <a:lnSpc>
                <a:spcPct val="96666"/>
              </a:lnSpc>
              <a:spcBef>
                <a:spcPts val="160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fcube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(@x</a:t>
            </a:r>
            <a:r>
              <a:rPr lang="en-US" altLang="zh-CN" sz="16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int)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</a:p>
          <a:p>
            <a:pPr marL="0" indent="228549">
              <a:lnSpc>
                <a:spcPct val="97500"/>
              </a:lnSpc>
            </a:pPr>
            <a:r>
              <a:rPr lang="en-US" altLang="zh-CN" sz="1600" spc="-1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 marL="0" indent="228549">
              <a:lnSpc>
                <a:spcPct val="92916"/>
              </a:lnSpc>
            </a:pPr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beg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</a:p>
          <a:p>
            <a:pPr marL="228549" hangingPunct="0">
              <a:lnSpc>
                <a:spcPct val="96666"/>
              </a:lnSpc>
            </a:pPr>
            <a:r>
              <a:rPr lang="en-US" altLang="zh-CN" sz="1600" spc="15" dirty="0">
                <a:solidFill>
                  <a:srgbClr val="000000"/>
                </a:solidFill>
                <a:latin typeface="Times New Roman"/>
                <a:ea typeface="Times New Roman"/>
              </a:rPr>
              <a:t>return</a:t>
            </a:r>
            <a:r>
              <a:rPr lang="en-US" altLang="zh-CN" sz="1600" spc="-17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40" dirty="0">
                <a:solidFill>
                  <a:srgbClr val="000000"/>
                </a:solidFill>
                <a:latin typeface="Times New Roman"/>
                <a:ea typeface="Times New Roman"/>
              </a:rPr>
              <a:t>@x</a:t>
            </a:r>
            <a:r>
              <a:rPr lang="en-US" altLang="zh-CN" sz="1600" spc="25" dirty="0">
                <a:solidFill>
                  <a:srgbClr val="000000"/>
                </a:solidFill>
                <a:latin typeface="Times New Roman"/>
                <a:ea typeface="Times New Roman"/>
              </a:rPr>
              <a:t>*@x*@x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779"/>
              </a:lnSpc>
            </a:pPr>
            <a:endParaRPr lang="en-US" dirty="0"/>
          </a:p>
          <a:p>
            <a:pPr marL="0" indent="228549">
              <a:lnSpc>
                <a:spcPct val="100000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Output</a:t>
            </a:r>
            <a:r>
              <a:rPr lang="en-US" altLang="zh-CN" sz="1600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: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dbo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.fcube(3)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TextBox 283"/>
          <p:cNvSpPr txBox="1"/>
          <p:nvPr/>
        </p:nvSpPr>
        <p:spPr>
          <a:xfrm>
            <a:off x="914704" y="907377"/>
            <a:ext cx="5962622" cy="53514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2)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takes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id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loyee.</a:t>
            </a:r>
          </a:p>
          <a:p>
            <a:pPr marL="0" indent="457149">
              <a:lnSpc>
                <a:spcPct val="100000"/>
              </a:lnSpc>
              <a:spcBef>
                <a:spcPts val="13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fsal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(@eid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int)</a:t>
            </a:r>
          </a:p>
          <a:p>
            <a:pPr marL="457149" hangingPunct="0">
              <a:lnSpc>
                <a:spcPct val="95416"/>
              </a:lnSpc>
            </a:pPr>
            <a:r>
              <a:rPr lang="en-US" altLang="zh-CN" sz="1400" spc="2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spc="-1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money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 marL="0" indent="457149">
              <a:lnSpc>
                <a:spcPct val="94166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 marL="0" indent="457149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@sal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money</a:t>
            </a:r>
          </a:p>
          <a:p>
            <a:pPr marL="457149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=@eid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@sal</a:t>
            </a:r>
          </a:p>
          <a:p>
            <a:pPr marL="0" indent="457149">
              <a:lnSpc>
                <a:spcPct val="95833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 marL="0" indent="457149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Output: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dbo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.fsal(1)</a:t>
            </a:r>
          </a:p>
          <a:p>
            <a:pPr>
              <a:lnSpc>
                <a:spcPts val="985"/>
              </a:lnSpc>
            </a:pPr>
            <a:endParaRPr lang="en-US" dirty="0"/>
          </a:p>
          <a:p>
            <a:pPr marL="0" hangingPunct="0">
              <a:lnSpc>
                <a:spcPct val="112916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2)Table-Valued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Fuction: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output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function.</a:t>
            </a:r>
          </a:p>
          <a:p>
            <a:pPr>
              <a:lnSpc>
                <a:spcPts val="10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20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ntax:</a:t>
            </a:r>
          </a:p>
          <a:p>
            <a:pPr>
              <a:lnSpc>
                <a:spcPts val="126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&lt;Function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(@parameter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Type&gt;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[size])</a:t>
            </a:r>
          </a:p>
          <a:p>
            <a:pPr>
              <a:lnSpc>
                <a:spcPts val="590"/>
              </a:lnSpc>
            </a:pPr>
            <a:endParaRPr lang="en-US" dirty="0"/>
          </a:p>
          <a:p>
            <a:pPr marL="457149" hangingPunct="0">
              <a:lnSpc>
                <a:spcPct val="169166"/>
              </a:lnSpc>
            </a:pPr>
            <a:r>
              <a:rPr lang="en-US" altLang="zh-CN" sz="1400" spc="2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spc="-1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ea typeface="Times New Roman"/>
              </a:rPr>
              <a:t>&lt;Table&gt;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>
              <a:lnSpc>
                <a:spcPts val="60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&lt;return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statement&gt;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How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Call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Table-Valued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Function:</a:t>
            </a:r>
          </a:p>
        </p:txBody>
      </p:sp>
      <p:sp>
        <p:nvSpPr>
          <p:cNvPr id="284" name="TextBox 284"/>
          <p:cNvSpPr txBox="1"/>
          <p:nvPr/>
        </p:nvSpPr>
        <p:spPr>
          <a:xfrm>
            <a:off x="914704" y="6410002"/>
            <a:ext cx="3990337" cy="2438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958545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Syntax:	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functionname(value)</a:t>
            </a:r>
          </a:p>
        </p:txBody>
      </p:sp>
      <p:sp>
        <p:nvSpPr>
          <p:cNvPr id="285" name="TextBox 285"/>
          <p:cNvSpPr txBox="1"/>
          <p:nvPr/>
        </p:nvSpPr>
        <p:spPr>
          <a:xfrm>
            <a:off x="914704" y="6799795"/>
            <a:ext cx="5561507" cy="22413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accept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Address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working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given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address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>
              <a:lnSpc>
                <a:spcPts val="103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ft1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(@add</a:t>
            </a:r>
            <a:r>
              <a:rPr lang="en-US" altLang="zh-CN" sz="16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varchar(50))</a:t>
            </a:r>
          </a:p>
          <a:p>
            <a:pPr marL="0">
              <a:lnSpc>
                <a:spcPct val="96666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6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</a:p>
          <a:p>
            <a:pPr marL="0">
              <a:lnSpc>
                <a:spcPct val="93750"/>
              </a:lnSpc>
            </a:pPr>
            <a:r>
              <a:rPr lang="en-US" altLang="zh-CN" sz="1600" spc="-1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 marL="0" hangingPunct="0">
              <a:lnSpc>
                <a:spcPct val="19083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return(select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6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address=@add)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Output: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ft1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('hyd')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TextBox 286"/>
          <p:cNvSpPr txBox="1"/>
          <p:nvPr/>
        </p:nvSpPr>
        <p:spPr>
          <a:xfrm>
            <a:off x="914704" y="896709"/>
            <a:ext cx="5952177" cy="68955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Ex:Create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working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tables.</a:t>
            </a:r>
          </a:p>
          <a:p>
            <a:pPr>
              <a:lnSpc>
                <a:spcPts val="1085"/>
              </a:lnSpc>
            </a:pPr>
            <a:endParaRPr lang="en-US" dirty="0"/>
          </a:p>
          <a:p>
            <a:pPr marL="0" hangingPunct="0">
              <a:lnSpc>
                <a:spcPct val="96666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saidata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(@deptno</a:t>
            </a:r>
            <a:r>
              <a:rPr lang="en-US" altLang="zh-CN" sz="16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int)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6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</a:p>
          <a:p>
            <a:pPr marL="0">
              <a:lnSpc>
                <a:spcPct val="94583"/>
              </a:lnSpc>
            </a:pPr>
            <a:r>
              <a:rPr lang="en-US" altLang="zh-CN" sz="1600" spc="-1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 marL="0" hangingPunct="0">
              <a:lnSpc>
                <a:spcPct val="10958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return(select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.eid,e.ename,e.salary,d.deptno,d.dname,d.location</a:t>
            </a:r>
            <a:r>
              <a:rPr lang="en-US" altLang="zh-CN" sz="16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inner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dept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.deptno=d.deptno</a:t>
            </a:r>
            <a:r>
              <a:rPr lang="en-US" altLang="zh-CN" sz="16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.deptn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o=@deptno)</a:t>
            </a:r>
          </a:p>
          <a:p>
            <a:pPr>
              <a:lnSpc>
                <a:spcPts val="101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Output: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saidata(10)</a:t>
            </a:r>
          </a:p>
          <a:p>
            <a:pPr>
              <a:lnSpc>
                <a:spcPts val="121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How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Drop</a:t>
            </a:r>
            <a:r>
              <a:rPr lang="en-US" altLang="zh-CN" sz="1800" b="1" u="sng" spc="-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Functions:</a:t>
            </a:r>
          </a:p>
          <a:p>
            <a:pPr>
              <a:lnSpc>
                <a:spcPts val="1235"/>
              </a:lnSpc>
            </a:pPr>
            <a:endParaRPr lang="en-US" dirty="0"/>
          </a:p>
          <a:p>
            <a:pPr marL="0" indent="228600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Drop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&lt;Function</a:t>
            </a:r>
            <a:r>
              <a:rPr lang="en-US" altLang="zh-CN" sz="1400" spc="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</a:p>
          <a:p>
            <a:pPr>
              <a:lnSpc>
                <a:spcPts val="119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spc="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ea typeface="Times New Roman"/>
              </a:rPr>
              <a:t>Drop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ea typeface="Times New Roman"/>
              </a:rPr>
              <a:t>S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ea typeface="Times New Roman"/>
              </a:rPr>
              <a:t>aidata</a:t>
            </a:r>
          </a:p>
          <a:p>
            <a:pPr>
              <a:lnSpc>
                <a:spcPts val="118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Difference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between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Function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And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Procedure:</a:t>
            </a:r>
          </a:p>
          <a:p>
            <a:pPr>
              <a:lnSpc>
                <a:spcPts val="1275"/>
              </a:lnSpc>
            </a:pPr>
            <a:endParaRPr lang="en-US" dirty="0"/>
          </a:p>
          <a:p>
            <a:pPr marL="0" indent="228600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value.</a:t>
            </a:r>
          </a:p>
          <a:p>
            <a:pPr marL="0" indent="228600">
              <a:lnSpc>
                <a:spcPts val="172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parameters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input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parameters)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output</a:t>
            </a:r>
          </a:p>
          <a:p>
            <a:pPr marL="0" indent="457149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(without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parameters)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input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(with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parameters)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parameters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only.</a:t>
            </a:r>
          </a:p>
          <a:p>
            <a:pPr marL="0" indent="228600">
              <a:lnSpc>
                <a:spcPts val="172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spc="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</a:t>
            </a:r>
          </a:p>
          <a:p>
            <a:pPr marL="0" indent="457149">
              <a:lnSpc>
                <a:spcPct val="100000"/>
              </a:lnSpc>
              <a:spcBef>
                <a:spcPts val="20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</a:p>
          <a:p>
            <a:pPr marL="0" indent="457149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operations.</a:t>
            </a:r>
          </a:p>
          <a:p>
            <a:pPr marL="0" indent="228600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provides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spc="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management</a:t>
            </a:r>
          </a:p>
          <a:p>
            <a:pPr marL="0" indent="457149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permitted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function.</a:t>
            </a:r>
          </a:p>
          <a:p>
            <a:pPr marL="0" indent="228600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spc="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</a:p>
          <a:p>
            <a:pPr marL="0" indent="457149">
              <a:lnSpc>
                <a:spcPct val="100000"/>
              </a:lnSpc>
              <a:spcBef>
                <a:spcPts val="20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TextBox 287"/>
          <p:cNvSpPr txBox="1"/>
          <p:nvPr/>
        </p:nvSpPr>
        <p:spPr>
          <a:xfrm>
            <a:off x="914704" y="910615"/>
            <a:ext cx="5974040" cy="33301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7499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TRIGGERS:</a:t>
            </a:r>
            <a:r>
              <a:rPr lang="en-US" altLang="zh-CN" sz="20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trigger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special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type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to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provide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restrict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tables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language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events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executed.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includes</a:t>
            </a:r>
            <a:r>
              <a:rPr lang="en-US" altLang="zh-CN" sz="1400" spc="-3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types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triggers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are</a:t>
            </a:r>
          </a:p>
          <a:p>
            <a:pPr>
              <a:lnSpc>
                <a:spcPts val="994"/>
              </a:lnSpc>
            </a:pPr>
            <a:endParaRPr lang="en-US" dirty="0"/>
          </a:p>
          <a:p>
            <a:pPr marL="0" indent="228600">
              <a:lnSpc>
                <a:spcPts val="176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25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DML</a:t>
            </a:r>
            <a:r>
              <a:rPr lang="en-US" altLang="zh-CN" sz="1400" spc="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Triggers</a:t>
            </a:r>
          </a:p>
          <a:p>
            <a:pPr marL="0" indent="228600">
              <a:lnSpc>
                <a:spcPts val="1760"/>
              </a:lnSpc>
              <a:spcBef>
                <a:spcPts val="29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25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DDL</a:t>
            </a:r>
            <a:r>
              <a:rPr lang="en-US" altLang="zh-CN" sz="1400" spc="3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Triggers</a:t>
            </a:r>
          </a:p>
          <a:p>
            <a:pPr>
              <a:lnSpc>
                <a:spcPts val="1275"/>
              </a:lnSpc>
            </a:pPr>
            <a:endParaRPr lang="en-US" dirty="0"/>
          </a:p>
          <a:p>
            <a:pPr marL="0" hangingPunct="0">
              <a:lnSpc>
                <a:spcPct val="117083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DML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Triggers:</a:t>
            </a:r>
            <a:r>
              <a:rPr lang="en-US" altLang="zh-CN" sz="18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DML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triggers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execute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tries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modify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or</a:t>
            </a:r>
            <a:r>
              <a:rPr lang="en-US" altLang="zh-CN" sz="140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change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through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manipulation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language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events.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Those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Inserting,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Update</a:t>
            </a:r>
            <a:r>
              <a:rPr lang="en-US" altLang="zh-CN" sz="140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statements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table.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 marL="0" hangingPunct="0">
              <a:lnSpc>
                <a:spcPct val="1170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DML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triggers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enforce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business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rules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integrity.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With</a:t>
            </a:r>
            <a:r>
              <a:rPr lang="en-US" altLang="zh-CN" sz="140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help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DML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trigger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enforce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integrity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cannot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done</a:t>
            </a:r>
            <a:r>
              <a:rPr lang="en-US" altLang="zh-CN" sz="140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Calibri"/>
                <a:ea typeface="Calibri"/>
              </a:rPr>
              <a:t>c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onstraints.</a:t>
            </a:r>
          </a:p>
        </p:txBody>
      </p:sp>
      <p:sp>
        <p:nvSpPr>
          <p:cNvPr id="288" name="TextBox 288"/>
          <p:cNvSpPr txBox="1"/>
          <p:nvPr/>
        </p:nvSpPr>
        <p:spPr>
          <a:xfrm>
            <a:off x="914704" y="4384802"/>
            <a:ext cx="558300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u="sng" spc="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S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yntax:</a:t>
            </a:r>
          </a:p>
        </p:txBody>
      </p:sp>
      <p:sp>
        <p:nvSpPr>
          <p:cNvPr id="289" name="TextBox 289"/>
          <p:cNvSpPr txBox="1"/>
          <p:nvPr/>
        </p:nvSpPr>
        <p:spPr>
          <a:xfrm>
            <a:off x="1797050" y="4303268"/>
            <a:ext cx="3590621" cy="21788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2004" hangingPunct="0">
              <a:lnSpc>
                <a:spcPct val="17625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Trigger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&lt;Trigger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Name&gt;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&lt;table</a:t>
            </a:r>
            <a:r>
              <a:rPr lang="en-US" altLang="zh-CN" sz="1400" spc="-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Name&gt;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[Insert,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Update,Delete]</a:t>
            </a:r>
          </a:p>
          <a:p>
            <a:pPr>
              <a:lnSpc>
                <a:spcPts val="655"/>
              </a:lnSpc>
            </a:pPr>
            <a:endParaRPr lang="en-US" dirty="0"/>
          </a:p>
          <a:p>
            <a:pPr marL="0" indent="41148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Calibri"/>
                <a:ea typeface="Calibri"/>
              </a:rPr>
              <a:t>AS</a:t>
            </a:r>
          </a:p>
          <a:p>
            <a:pPr>
              <a:lnSpc>
                <a:spcPts val="1285"/>
              </a:lnSpc>
            </a:pPr>
            <a:endParaRPr lang="en-US" dirty="0"/>
          </a:p>
          <a:p>
            <a:pPr marL="0" indent="41148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Calibri"/>
                <a:ea typeface="Calibri"/>
              </a:rPr>
              <a:t>B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egin</a:t>
            </a:r>
          </a:p>
          <a:p>
            <a:pPr>
              <a:lnSpc>
                <a:spcPts val="128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spc="5" dirty="0">
                <a:solidFill>
                  <a:srgbClr val="000000"/>
                </a:solidFill>
                <a:latin typeface="Calibri"/>
                <a:ea typeface="Calibri"/>
              </a:rPr>
              <a:t>&lt;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Statements&gt;</a:t>
            </a:r>
          </a:p>
          <a:p>
            <a:pPr>
              <a:lnSpc>
                <a:spcPts val="128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Calibri"/>
                <a:ea typeface="Calibri"/>
              </a:rPr>
              <a:t>End</a:t>
            </a:r>
          </a:p>
        </p:txBody>
      </p:sp>
      <p:sp>
        <p:nvSpPr>
          <p:cNvPr id="290" name="TextBox 290"/>
          <p:cNvSpPr txBox="1"/>
          <p:nvPr/>
        </p:nvSpPr>
        <p:spPr>
          <a:xfrm>
            <a:off x="914704" y="6624573"/>
            <a:ext cx="5791253" cy="22609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7499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Ex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: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trigger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convert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dname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location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upper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case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when</a:t>
            </a:r>
            <a:r>
              <a:rPr lang="en-US" altLang="zh-CN" sz="1400" spc="-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insert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in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lowercase.</a:t>
            </a:r>
          </a:p>
          <a:p>
            <a:pPr>
              <a:lnSpc>
                <a:spcPts val="944"/>
              </a:lnSpc>
            </a:pPr>
            <a:endParaRPr lang="en-US" dirty="0"/>
          </a:p>
          <a:p>
            <a:pPr marL="0" hangingPunct="0">
              <a:lnSpc>
                <a:spcPct val="96249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per_trg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person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after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 marL="0">
              <a:lnSpc>
                <a:spcPct val="93333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 marL="0">
              <a:lnSpc>
                <a:spcPct val="96249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@pid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int,@pname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varchar(50),@loc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varchar(50)</a:t>
            </a:r>
          </a:p>
          <a:p>
            <a:pPr marL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@pid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=pid,@pname=pname,@loc=loc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inserted</a:t>
            </a:r>
          </a:p>
          <a:p>
            <a:pPr marL="0" hangingPunct="0">
              <a:lnSpc>
                <a:spcPct val="966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person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pname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=upper(@pname),loc=upper(@loc)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pid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=@pid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TextBox 291"/>
          <p:cNvSpPr txBox="1"/>
          <p:nvPr/>
        </p:nvSpPr>
        <p:spPr>
          <a:xfrm>
            <a:off x="914704" y="907483"/>
            <a:ext cx="5882347" cy="73549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restric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DML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operations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hangingPunct="0">
              <a:lnSpc>
                <a:spcPct val="970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nnn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person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insert,update,delete</a:t>
            </a:r>
          </a:p>
          <a:p>
            <a:pPr marL="0">
              <a:lnSpc>
                <a:spcPct val="96249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 marL="0">
              <a:lnSpc>
                <a:spcPct val="95416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'DML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Allowed'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rollback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</a:p>
          <a:p>
            <a:pPr marL="0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060"/>
              </a:lnSpc>
            </a:pPr>
            <a:endParaRPr lang="en-US" dirty="0"/>
          </a:p>
          <a:p>
            <a:pPr marL="0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restrict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before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9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A.M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after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5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P.M</a:t>
            </a:r>
          </a:p>
          <a:p>
            <a:pPr>
              <a:lnSpc>
                <a:spcPts val="1094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EMP_TRG</a:t>
            </a:r>
          </a:p>
          <a:p>
            <a:pPr>
              <a:lnSpc>
                <a:spcPts val="590"/>
              </a:lnSpc>
            </a:pPr>
            <a:endParaRPr lang="en-US" dirty="0"/>
          </a:p>
          <a:p>
            <a:pPr marL="457149" hangingPunct="0">
              <a:lnSpc>
                <a:spcPct val="1691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AFTER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UPDATE,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>
              <a:lnSpc>
                <a:spcPts val="594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@DT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@DT=DATENAME(HH,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GETDATE())</a:t>
            </a:r>
          </a:p>
          <a:p>
            <a:pPr>
              <a:lnSpc>
                <a:spcPts val="590"/>
              </a:lnSpc>
            </a:pPr>
            <a:endParaRPr lang="en-US" dirty="0"/>
          </a:p>
          <a:p>
            <a:pPr marL="457149" hangingPunct="0">
              <a:lnSpc>
                <a:spcPct val="1691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@DT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BETWEEN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9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16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>
              <a:lnSpc>
                <a:spcPts val="594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ROL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LBACK</a:t>
            </a:r>
          </a:p>
          <a:p>
            <a:pPr>
              <a:lnSpc>
                <a:spcPts val="590"/>
              </a:lnSpc>
            </a:pPr>
            <a:endParaRPr lang="en-US" dirty="0"/>
          </a:p>
          <a:p>
            <a:pPr marL="457149" hangingPunct="0">
              <a:lnSpc>
                <a:spcPct val="1691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RAISERROR('CANNOT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DML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NOW',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15,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60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069"/>
              </a:lnSpc>
            </a:pPr>
            <a:endParaRPr lang="en-US" dirty="0"/>
          </a:p>
          <a:p>
            <a:pPr marL="0" hangingPunct="0">
              <a:lnSpc>
                <a:spcPct val="110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-After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DML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before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9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A.M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after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5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P.M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restrict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operations.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TextBox 292"/>
          <p:cNvSpPr txBox="1"/>
          <p:nvPr/>
        </p:nvSpPr>
        <p:spPr>
          <a:xfrm>
            <a:off x="914704" y="896709"/>
            <a:ext cx="5909135" cy="80156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restrict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person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anager.</a:t>
            </a:r>
          </a:p>
          <a:p>
            <a:pPr>
              <a:lnSpc>
                <a:spcPts val="110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EMP_DELETE_TRG</a:t>
            </a:r>
          </a:p>
          <a:p>
            <a:pPr>
              <a:lnSpc>
                <a:spcPts val="590"/>
              </a:lnSpc>
            </a:pPr>
            <a:endParaRPr lang="en-US" dirty="0"/>
          </a:p>
          <a:p>
            <a:pPr marL="457149" hangingPunct="0">
              <a:lnSpc>
                <a:spcPct val="1691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AFTER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>
              <a:lnSpc>
                <a:spcPts val="55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 marL="457149" hangingPunct="0">
              <a:lnSpc>
                <a:spcPct val="16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@JOB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VARCHAR(50)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@JOB=JOB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@JOB='MANAGER'</a:t>
            </a:r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>
              <a:lnSpc>
                <a:spcPts val="1144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ROL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LBACK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RAISERROR('CANNOT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MANAGER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TABLE',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15,</a:t>
            </a:r>
          </a:p>
          <a:p>
            <a:pPr marL="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1)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test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following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statement: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EMPNO=1002</a:t>
            </a:r>
          </a:p>
          <a:p>
            <a:pPr>
              <a:lnSpc>
                <a:spcPts val="1069"/>
              </a:lnSpc>
            </a:pPr>
            <a:endParaRPr lang="en-US" dirty="0"/>
          </a:p>
          <a:p>
            <a:pPr marL="0" hangingPunct="0">
              <a:lnSpc>
                <a:spcPct val="110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restrict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Old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Salary.</a:t>
            </a:r>
          </a:p>
          <a:p>
            <a:pPr>
              <a:lnSpc>
                <a:spcPts val="1080"/>
              </a:lnSpc>
            </a:pPr>
            <a:endParaRPr lang="en-US" dirty="0"/>
          </a:p>
          <a:p>
            <a:pPr marL="0" indent="9143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EMP_UPDATE_TRG</a:t>
            </a:r>
          </a:p>
          <a:p>
            <a:pPr>
              <a:lnSpc>
                <a:spcPts val="594"/>
              </a:lnSpc>
            </a:pPr>
            <a:endParaRPr lang="en-US" dirty="0"/>
          </a:p>
          <a:p>
            <a:pPr marL="457149" hangingPunct="0">
              <a:lnSpc>
                <a:spcPct val="1691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AFTER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>
              <a:lnSpc>
                <a:spcPts val="594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@OLDSAL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MONEY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TextBox 293"/>
          <p:cNvSpPr txBox="1"/>
          <p:nvPr/>
        </p:nvSpPr>
        <p:spPr>
          <a:xfrm>
            <a:off x="914704" y="907377"/>
            <a:ext cx="5968651" cy="73886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@NEWSAL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MONEY</a:t>
            </a:r>
          </a:p>
          <a:p>
            <a:pPr>
              <a:lnSpc>
                <a:spcPts val="590"/>
              </a:lnSpc>
            </a:pPr>
            <a:endParaRPr lang="en-US" dirty="0"/>
          </a:p>
          <a:p>
            <a:pPr marL="457149" hangingPunct="0">
              <a:lnSpc>
                <a:spcPct val="16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@OLDSAL=SAL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@NEWSAL=SAL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@OLDSAL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&gt;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@NEWSAL</a:t>
            </a:r>
          </a:p>
          <a:p>
            <a:pPr>
              <a:lnSpc>
                <a:spcPts val="5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ROL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LBACK</a:t>
            </a:r>
          </a:p>
          <a:p>
            <a:pPr>
              <a:lnSpc>
                <a:spcPts val="594"/>
              </a:lnSpc>
            </a:pPr>
            <a:endParaRPr lang="en-US" dirty="0"/>
          </a:p>
          <a:p>
            <a:pPr marL="457149" hangingPunct="0">
              <a:lnSpc>
                <a:spcPct val="1691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RAISERROR('NEW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OLD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SAL',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15,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54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 marL="0" hangingPunct="0">
              <a:lnSpc>
                <a:spcPct val="172916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Dropping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DML</a:t>
            </a:r>
            <a:r>
              <a:rPr lang="en-US" altLang="zh-CN" sz="2000" b="1" u="sng" spc="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Triggers: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Syntax: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Drop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&lt;Trigger&gt;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&lt;Trigger</a:t>
            </a:r>
            <a:r>
              <a:rPr lang="en-US" altLang="zh-CN" sz="1400" b="1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Name&gt;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br>
              <a:rPr dirty="0"/>
            </a:b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Drop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Trigger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rest</a:t>
            </a:r>
            <a:r>
              <a:rPr lang="en-US" altLang="zh-CN" sz="1400" b="1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drop</a:t>
            </a:r>
          </a:p>
          <a:p>
            <a:pPr marL="0" hangingPunct="0">
              <a:lnSpc>
                <a:spcPct val="116666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DDL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Triggers:</a:t>
            </a:r>
            <a:r>
              <a:rPr lang="en-US" altLang="zh-CN" sz="18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DDL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triggers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fire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response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definition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language</a:t>
            </a:r>
            <a:r>
              <a:rPr lang="en-US" altLang="zh-CN" sz="1400" spc="-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event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like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create,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Alter,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drop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etc.A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DDL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triggers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special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type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procedure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executes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response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scoped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scoped</a:t>
            </a:r>
            <a:r>
              <a:rPr lang="en-US" altLang="zh-CN" sz="140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events.</a:t>
            </a:r>
          </a:p>
          <a:p>
            <a:pPr>
              <a:lnSpc>
                <a:spcPts val="81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spc="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S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yntax:</a:t>
            </a:r>
          </a:p>
          <a:p>
            <a:pPr>
              <a:lnSpc>
                <a:spcPts val="650"/>
              </a:lnSpc>
            </a:pPr>
            <a:endParaRPr lang="en-US" dirty="0"/>
          </a:p>
          <a:p>
            <a:pPr marL="0" hangingPunct="0">
              <a:lnSpc>
                <a:spcPct val="17625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Trigger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&lt;Trigger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Name&gt;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after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&lt;Event</a:t>
            </a:r>
            <a:r>
              <a:rPr lang="en-US" altLang="zh-CN" sz="140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type&gt;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br>
              <a:rPr dirty="0"/>
            </a:br>
            <a:r>
              <a:rPr lang="en-US" altLang="zh-CN" sz="1400" spc="-5" dirty="0">
                <a:solidFill>
                  <a:srgbClr val="000000"/>
                </a:solidFill>
                <a:latin typeface="Calibri"/>
                <a:ea typeface="Calibri"/>
              </a:rPr>
              <a:t>As</a:t>
            </a:r>
          </a:p>
          <a:p>
            <a:pPr>
              <a:lnSpc>
                <a:spcPts val="65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Calibri"/>
                <a:ea typeface="Calibri"/>
              </a:rPr>
              <a:t>B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egin</a:t>
            </a:r>
          </a:p>
          <a:p>
            <a:pPr>
              <a:lnSpc>
                <a:spcPts val="128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Calibri"/>
                <a:ea typeface="Calibri"/>
              </a:rPr>
              <a:t>&lt;S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tatements&gt;</a:t>
            </a:r>
          </a:p>
          <a:p>
            <a:pPr>
              <a:lnSpc>
                <a:spcPts val="128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Calibri"/>
                <a:ea typeface="Calibri"/>
              </a:rPr>
              <a:t>End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TextBox 294"/>
          <p:cNvSpPr txBox="1"/>
          <p:nvPr/>
        </p:nvSpPr>
        <p:spPr>
          <a:xfrm>
            <a:off x="914704" y="934085"/>
            <a:ext cx="5955230" cy="81794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Write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trigger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restricts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dropping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database.</a:t>
            </a:r>
          </a:p>
          <a:p>
            <a:pPr>
              <a:lnSpc>
                <a:spcPts val="102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restdrop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after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drop_table</a:t>
            </a:r>
          </a:p>
          <a:p>
            <a:pPr marL="0">
              <a:lnSpc>
                <a:spcPct val="96666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 marL="0">
              <a:lnSpc>
                <a:spcPct val="96249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 marL="0">
              <a:lnSpc>
                <a:spcPct val="95833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ro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llback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raiserror('Can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drop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under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database',1,1)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20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Ex2: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restricts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database.</a:t>
            </a:r>
          </a:p>
          <a:p>
            <a:pPr>
              <a:lnSpc>
                <a:spcPts val="113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restcret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after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create_table</a:t>
            </a:r>
          </a:p>
          <a:p>
            <a:pPr marL="0">
              <a:lnSpc>
                <a:spcPct val="96666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 marL="0">
              <a:lnSpc>
                <a:spcPct val="96249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 marL="0">
              <a:lnSpc>
                <a:spcPct val="95833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ro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llback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raiserror('Can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under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database',1,1)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20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Ex3: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restricts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database.</a:t>
            </a:r>
          </a:p>
          <a:p>
            <a:pPr>
              <a:lnSpc>
                <a:spcPts val="1164"/>
              </a:lnSpc>
            </a:pPr>
            <a:endParaRPr lang="en-US" dirty="0"/>
          </a:p>
          <a:p>
            <a:pPr marL="0" hangingPunct="0">
              <a:lnSpc>
                <a:spcPct val="970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restalt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after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Alter_table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 marL="0">
              <a:lnSpc>
                <a:spcPct val="97083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 marL="0">
              <a:lnSpc>
                <a:spcPct val="95416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ro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llback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raiserror('Can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under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database',1,1);end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Dropping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DDL</a:t>
            </a:r>
            <a:r>
              <a:rPr lang="en-US" altLang="zh-CN" sz="20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Triggers:</a:t>
            </a:r>
          </a:p>
          <a:p>
            <a:pPr>
              <a:lnSpc>
                <a:spcPts val="151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Syntax: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Drop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&lt;Trigger&gt;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&lt;Trigger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Name&gt;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on</a:t>
            </a:r>
            <a:r>
              <a:rPr lang="en-US" altLang="zh-CN" sz="1400" b="1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Database</a:t>
            </a:r>
          </a:p>
          <a:p>
            <a:pPr>
              <a:lnSpc>
                <a:spcPts val="128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Drop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Trigger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rest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drop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on</a:t>
            </a:r>
            <a:r>
              <a:rPr lang="en-US" altLang="zh-CN" sz="1400" b="1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database</a:t>
            </a:r>
          </a:p>
          <a:p>
            <a:pPr>
              <a:lnSpc>
                <a:spcPts val="889"/>
              </a:lnSpc>
            </a:pPr>
            <a:endParaRPr lang="en-US" dirty="0"/>
          </a:p>
          <a:p>
            <a:pPr marL="0" indent="39623" hangingPunct="0">
              <a:lnSpc>
                <a:spcPct val="111666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Magic</a:t>
            </a:r>
            <a:r>
              <a:rPr lang="en-US" altLang="zh-CN" sz="20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Tables:</a:t>
            </a:r>
            <a:r>
              <a:rPr lang="en-US" altLang="zh-CN" sz="20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-10" dirty="0">
                <a:solidFill>
                  <a:srgbClr val="364049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spc="-10" dirty="0">
                <a:solidFill>
                  <a:srgbClr val="364049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ea typeface="Times New Roman"/>
              </a:rPr>
              <a:t>allows</a:t>
            </a:r>
            <a:r>
              <a:rPr lang="en-US" altLang="zh-CN" sz="1400" spc="-10" dirty="0">
                <a:solidFill>
                  <a:srgbClr val="364049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ea typeface="Times New Roman"/>
              </a:rPr>
              <a:t>you</a:t>
            </a:r>
            <a:r>
              <a:rPr lang="en-US" altLang="zh-CN" sz="1400" spc="-15" dirty="0">
                <a:solidFill>
                  <a:srgbClr val="364049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10" dirty="0">
                <a:solidFill>
                  <a:srgbClr val="364049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ea typeface="Times New Roman"/>
              </a:rPr>
              <a:t>define</a:t>
            </a:r>
            <a:r>
              <a:rPr lang="en-US" altLang="zh-CN" sz="1400" spc="-10" dirty="0">
                <a:solidFill>
                  <a:srgbClr val="364049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10" dirty="0">
                <a:solidFill>
                  <a:srgbClr val="364049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ea typeface="Times New Roman"/>
              </a:rPr>
              <a:t>Magic</a:t>
            </a:r>
            <a:r>
              <a:rPr lang="en-US" altLang="zh-CN" sz="1400" spc="-10" dirty="0">
                <a:solidFill>
                  <a:srgbClr val="364049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ea typeface="Times New Roman"/>
              </a:rPr>
              <a:t>Table.</a:t>
            </a:r>
            <a:r>
              <a:rPr lang="en-US" altLang="zh-CN" sz="1400" spc="-20" dirty="0">
                <a:solidFill>
                  <a:srgbClr val="364049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ea typeface="Times New Roman"/>
              </a:rPr>
              <a:t>Magic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ea typeface="Times New Roman"/>
              </a:rPr>
              <a:t>Tables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ea typeface="Times New Roman"/>
              </a:rPr>
              <a:t>invisible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ea typeface="Times New Roman"/>
              </a:rPr>
              <a:t>tables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ea typeface="Times New Roman"/>
              </a:rPr>
              <a:t>virtual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ea typeface="Times New Roman"/>
              </a:rPr>
              <a:t>tables.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You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see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them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help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323232"/>
                </a:solidFill>
                <a:latin typeface="Times New Roman"/>
                <a:ea typeface="Times New Roman"/>
              </a:rPr>
              <a:t>Triggers</a:t>
            </a:r>
            <a:r>
              <a:rPr lang="en-US" altLang="zh-CN" sz="1400" b="1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  <a:p>
            <a:pPr>
              <a:lnSpc>
                <a:spcPts val="1010"/>
              </a:lnSpc>
            </a:pPr>
            <a:endParaRPr lang="en-US" dirty="0"/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323232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9" dirty="0">
                <a:solidFill>
                  <a:srgbClr val="323232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ea typeface="Times New Roman"/>
              </a:rPr>
              <a:t>Magic</a:t>
            </a:r>
            <a:r>
              <a:rPr lang="en-US" altLang="zh-CN" sz="1400" spc="-44" dirty="0">
                <a:solidFill>
                  <a:srgbClr val="364049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s</a:t>
            </a:r>
            <a:r>
              <a:rPr lang="en-US" altLang="zh-CN" sz="1400" spc="-4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4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those</a:t>
            </a:r>
            <a:r>
              <a:rPr lang="en-US" altLang="zh-CN" sz="1400" spc="-5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tables</a:t>
            </a:r>
            <a:r>
              <a:rPr lang="en-US" altLang="zh-CN" sz="1400" spc="-4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spc="-4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allow</a:t>
            </a:r>
            <a:r>
              <a:rPr lang="en-US" altLang="zh-CN" sz="1400" spc="-4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you</a:t>
            </a:r>
            <a:r>
              <a:rPr lang="en-US" altLang="zh-CN" sz="1400" spc="-4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hold</a:t>
            </a:r>
            <a:r>
              <a:rPr lang="en-US" altLang="zh-CN" sz="1400" spc="-4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inserted,</a:t>
            </a:r>
            <a:r>
              <a:rPr lang="en-US" altLang="zh-CN" sz="1400" spc="-5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deleted</a:t>
            </a:r>
            <a:r>
              <a:rPr lang="en-US" altLang="zh-CN" sz="1400" spc="-5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updated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during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DML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operations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6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-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Server.</a:t>
            </a:r>
          </a:p>
          <a:p>
            <a:pPr marL="457149" indent="-228549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9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Basically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there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magic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namely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magic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help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twos.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Picture 2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019" y="6332220"/>
            <a:ext cx="5661660" cy="2446020"/>
          </a:xfrm>
          <a:prstGeom prst="rect">
            <a:avLst/>
          </a:prstGeom>
        </p:spPr>
      </p:pic>
      <p:sp>
        <p:nvSpPr>
          <p:cNvPr id="2" name="TextBox 296"/>
          <p:cNvSpPr txBox="1"/>
          <p:nvPr/>
        </p:nvSpPr>
        <p:spPr>
          <a:xfrm>
            <a:off x="914704" y="896709"/>
            <a:ext cx="5766080" cy="52676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149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Generally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help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Trigger's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server.</a:t>
            </a:r>
          </a:p>
          <a:p>
            <a:pPr>
              <a:lnSpc>
                <a:spcPts val="1519"/>
              </a:lnSpc>
            </a:pPr>
            <a:endParaRPr lang="en-US" dirty="0"/>
          </a:p>
          <a:p>
            <a:pPr marL="0" hangingPunct="0">
              <a:lnSpc>
                <a:spcPct val="95416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Inserted</a:t>
            </a:r>
            <a:r>
              <a:rPr lang="en-US" altLang="zh-CN" sz="18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Magic</a:t>
            </a:r>
            <a:r>
              <a:rPr lang="en-US" altLang="zh-CN" sz="1800" b="1" u="sng" spc="-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Table:</a:t>
            </a:r>
            <a:r>
              <a:rPr lang="en-US" altLang="zh-CN" sz="1800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Whenever</a:t>
            </a:r>
            <a:r>
              <a:rPr lang="en-US" altLang="zh-CN" sz="1400" spc="-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you</a:t>
            </a:r>
            <a:r>
              <a:rPr lang="en-US" altLang="zh-CN" sz="1400" spc="-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spc="-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record</a:t>
            </a:r>
            <a:r>
              <a:rPr lang="en-US" altLang="zh-CN" sz="1400" spc="-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spc="-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spc="-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table,</a:t>
            </a:r>
            <a:r>
              <a:rPr lang="en-US" altLang="zh-CN" sz="1400" spc="-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record</a:t>
            </a:r>
            <a:r>
              <a:rPr lang="en-US" altLang="zh-CN" sz="1400" spc="-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spc="-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shown</a:t>
            </a:r>
            <a:r>
              <a:rPr lang="en-US" altLang="zh-CN" sz="1400" spc="-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323232"/>
                </a:solidFill>
                <a:latin typeface="Times New Roman"/>
                <a:ea typeface="Times New Roman"/>
              </a:rPr>
              <a:t>INSERTED</a:t>
            </a:r>
            <a:r>
              <a:rPr lang="en-US" altLang="zh-CN" sz="1400" b="1" spc="-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Magic</a:t>
            </a:r>
            <a:r>
              <a:rPr lang="en-US" altLang="zh-CN" sz="1400" spc="-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Table.</a:t>
            </a:r>
            <a:r>
              <a:rPr lang="en-US" altLang="zh-CN" sz="1400" spc="-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Now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creating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Magic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>
              <a:lnSpc>
                <a:spcPts val="139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ample:</a:t>
            </a:r>
          </a:p>
          <a:p>
            <a:pPr>
              <a:lnSpc>
                <a:spcPts val="1330"/>
              </a:lnSpc>
            </a:pPr>
            <a:endParaRPr lang="en-US" dirty="0"/>
          </a:p>
          <a:p>
            <a:pPr marL="0" hangingPunct="0">
              <a:lnSpc>
                <a:spcPct val="970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_ForInsertmagic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400" spc="34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spc="-15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 marL="0">
              <a:lnSpc>
                <a:spcPct val="96666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egin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400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Inserted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virtual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ables.</a:t>
            </a:r>
          </a:p>
          <a:p>
            <a:pPr>
              <a:lnSpc>
                <a:spcPts val="1360"/>
              </a:lnSpc>
            </a:pPr>
            <a:endParaRPr lang="en-US" dirty="0"/>
          </a:p>
          <a:p>
            <a:pPr marL="0" hangingPunct="0">
              <a:lnSpc>
                <a:spcPct val="970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b="1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(12,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'Rahul',</a:t>
            </a:r>
            <a:r>
              <a:rPr lang="en-US" altLang="zh-CN" sz="1400" spc="-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25000,‟HYD‟)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36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Now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press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F5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execute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it.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Box 297"/>
          <p:cNvSpPr txBox="1"/>
          <p:nvPr/>
        </p:nvSpPr>
        <p:spPr>
          <a:xfrm>
            <a:off x="914704" y="909680"/>
            <a:ext cx="5917969" cy="81386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95833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Deleted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Magic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Table: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Whenever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you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record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table,</a:t>
            </a:r>
            <a:r>
              <a:rPr lang="en-US" altLang="zh-CN" sz="1400" spc="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record</a:t>
            </a:r>
            <a:r>
              <a:rPr lang="en-US" altLang="zh-CN" sz="1400" spc="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spc="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shown</a:t>
            </a:r>
            <a:r>
              <a:rPr lang="en-US" altLang="zh-CN" sz="1400" spc="2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323232"/>
                </a:solidFill>
                <a:latin typeface="Times New Roman"/>
                <a:ea typeface="Times New Roman"/>
              </a:rPr>
              <a:t>DELETED</a:t>
            </a:r>
            <a:r>
              <a:rPr lang="en-US" altLang="zh-CN" sz="1400" b="1" spc="2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Magic</a:t>
            </a:r>
            <a:r>
              <a:rPr lang="en-US" altLang="zh-CN" sz="1400" spc="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Only.</a:t>
            </a:r>
            <a:r>
              <a:rPr lang="en-US" altLang="zh-CN" sz="1400" spc="2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Magic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following,</a:t>
            </a:r>
          </a:p>
          <a:p>
            <a:pPr>
              <a:lnSpc>
                <a:spcPts val="13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ample:</a:t>
            </a:r>
          </a:p>
          <a:p>
            <a:pPr>
              <a:lnSpc>
                <a:spcPts val="1330"/>
              </a:lnSpc>
            </a:pPr>
            <a:endParaRPr lang="en-US" dirty="0"/>
          </a:p>
          <a:p>
            <a:pPr marL="0" hangingPunct="0">
              <a:lnSpc>
                <a:spcPct val="970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_Fordeletemagic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</a:p>
          <a:p>
            <a:pPr marL="0" hangingPunct="0">
              <a:lnSpc>
                <a:spcPct val="95833"/>
              </a:lnSpc>
            </a:pPr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spc="-1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 marL="0">
              <a:lnSpc>
                <a:spcPct val="96249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egin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53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Deleted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virtual</a:t>
            </a:r>
          </a:p>
          <a:p>
            <a:pPr marL="0">
              <a:lnSpc>
                <a:spcPct val="96666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ables.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Eid=12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</a:p>
          <a:p>
            <a:pPr>
              <a:lnSpc>
                <a:spcPts val="1385"/>
              </a:lnSpc>
            </a:pPr>
            <a:endParaRPr lang="en-US" dirty="0"/>
          </a:p>
          <a:p>
            <a:pPr marL="0" hangingPunct="0">
              <a:lnSpc>
                <a:spcPct val="95416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Update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the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Record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Table: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virtual/Magic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shows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other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shows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defines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inserted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table:</a:t>
            </a:r>
          </a:p>
          <a:p>
            <a:pPr>
              <a:lnSpc>
                <a:spcPts val="140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Example</a:t>
            </a:r>
            <a:r>
              <a:rPr lang="en-US" altLang="zh-CN" sz="14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:</a:t>
            </a:r>
          </a:p>
          <a:p>
            <a:pPr>
              <a:lnSpc>
                <a:spcPts val="150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_ForInsertdeletemagic</a:t>
            </a:r>
          </a:p>
          <a:p>
            <a:pPr marL="0" hangingPunct="0">
              <a:lnSpc>
                <a:spcPct val="95833"/>
              </a:lnSpc>
            </a:pPr>
            <a:r>
              <a:rPr lang="en-US" altLang="zh-CN" sz="1400" spc="44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spc="-15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spc="-1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 marL="0">
              <a:lnSpc>
                <a:spcPct val="96666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egin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400"/>
              </a:lnSpc>
            </a:pPr>
            <a:endParaRPr lang="en-US" dirty="0"/>
          </a:p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inserted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virtual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tables.</a:t>
            </a:r>
          </a:p>
          <a:p>
            <a:pPr>
              <a:lnSpc>
                <a:spcPts val="1425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ename=‟sai‟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Eid=12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Picture 29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019" y="1287780"/>
            <a:ext cx="4655820" cy="2407920"/>
          </a:xfrm>
          <a:prstGeom prst="rect">
            <a:avLst/>
          </a:prstGeom>
        </p:spPr>
      </p:pic>
      <p:sp>
        <p:nvSpPr>
          <p:cNvPr id="2" name="TextBox 299"/>
          <p:cNvSpPr txBox="1"/>
          <p:nvPr/>
        </p:nvSpPr>
        <p:spPr>
          <a:xfrm>
            <a:off x="914704" y="905853"/>
            <a:ext cx="5885317" cy="792581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press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F5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it.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339"/>
              </a:lnSpc>
            </a:pPr>
            <a:endParaRPr lang="en-US" dirty="0"/>
          </a:p>
          <a:p>
            <a:pPr marL="0" hangingPunct="0">
              <a:lnSpc>
                <a:spcPct val="110833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Exception</a:t>
            </a:r>
            <a:r>
              <a:rPr lang="en-US" altLang="zh-CN" sz="20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Handling:</a:t>
            </a:r>
            <a:r>
              <a:rPr lang="en-US" altLang="zh-CN" sz="20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handle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errors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both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programming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also.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handling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error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programming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needs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stopping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abnormal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termination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allowing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error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handling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error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means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stopping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error</a:t>
            </a:r>
          </a:p>
          <a:p>
            <a:pPr>
              <a:lnSpc>
                <a:spcPts val="930"/>
              </a:lnSpc>
            </a:pPr>
            <a:endParaRPr lang="en-US" dirty="0"/>
          </a:p>
          <a:p>
            <a:pPr marL="0" hangingPunct="0">
              <a:lnSpc>
                <a:spcPct val="111666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Handling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Errors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SQL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Server: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2005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provided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structure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error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handling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mechanism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help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TRY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CATCH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blocks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should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following,</a:t>
            </a:r>
          </a:p>
          <a:p>
            <a:pPr>
              <a:lnSpc>
                <a:spcPts val="525"/>
              </a:lnSpc>
            </a:pPr>
            <a:endParaRPr lang="en-US" dirty="0"/>
          </a:p>
          <a:p>
            <a:pPr marL="457149" hangingPunct="0">
              <a:lnSpc>
                <a:spcPct val="169166"/>
              </a:lnSpc>
            </a:pPr>
            <a:r>
              <a:rPr lang="en-US" altLang="zh-CN" sz="1400" spc="44" dirty="0">
                <a:solidFill>
                  <a:srgbClr val="000000"/>
                </a:solidFill>
                <a:latin typeface="Times New Roman"/>
                <a:ea typeface="Times New Roman"/>
              </a:rPr>
              <a:t>Begin</a:t>
            </a:r>
            <a:r>
              <a:rPr lang="en-US" altLang="zh-CN" sz="1400" spc="-1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44" dirty="0">
                <a:solidFill>
                  <a:srgbClr val="000000"/>
                </a:solidFill>
                <a:latin typeface="Times New Roman"/>
                <a:ea typeface="Times New Roman"/>
              </a:rPr>
              <a:t>Try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&lt;State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ments&gt;</a:t>
            </a:r>
          </a:p>
          <a:p>
            <a:pPr>
              <a:lnSpc>
                <a:spcPts val="60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Try</a:t>
            </a:r>
          </a:p>
          <a:p>
            <a:pPr>
              <a:lnSpc>
                <a:spcPts val="590"/>
              </a:lnSpc>
            </a:pPr>
            <a:endParaRPr lang="en-US" dirty="0"/>
          </a:p>
          <a:p>
            <a:pPr marL="457149" hangingPunct="0">
              <a:lnSpc>
                <a:spcPct val="169166"/>
              </a:lnSpc>
            </a:pPr>
            <a:r>
              <a:rPr lang="en-US" altLang="zh-CN" sz="1400" spc="34" dirty="0">
                <a:solidFill>
                  <a:srgbClr val="000000"/>
                </a:solidFill>
                <a:latin typeface="Times New Roman"/>
                <a:ea typeface="Times New Roman"/>
              </a:rPr>
              <a:t>Begin</a:t>
            </a:r>
            <a:r>
              <a:rPr lang="en-US" altLang="zh-CN" sz="1400" spc="-1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ea typeface="Times New Roman"/>
              </a:rPr>
              <a:t>Catch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&lt;State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ments&gt;</a:t>
            </a:r>
          </a:p>
          <a:p>
            <a:pPr>
              <a:lnSpc>
                <a:spcPts val="594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Catch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Freeform 300"/>
          <p:cNvSpPr/>
          <p:nvPr/>
        </p:nvSpPr>
        <p:spPr>
          <a:xfrm>
            <a:off x="902207" y="6744207"/>
            <a:ext cx="4076192" cy="37592"/>
          </a:xfrm>
          <a:custGeom>
            <a:avLst/>
            <a:gdLst>
              <a:gd name="connsiteX0" fmla="*/ 12496 w 4076192"/>
              <a:gd name="connsiteY0" fmla="*/ 17145 h 37592"/>
              <a:gd name="connsiteX1" fmla="*/ 4076116 w 4076192"/>
              <a:gd name="connsiteY1" fmla="*/ 17145 h 37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76192" h="37592">
                <a:moveTo>
                  <a:pt x="12496" y="17145"/>
                </a:moveTo>
                <a:lnTo>
                  <a:pt x="4076116" y="17145"/>
                </a:lnTo>
              </a:path>
            </a:pathLst>
          </a:custGeom>
          <a:ln w="2133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1" name="TextBox 301"/>
          <p:cNvSpPr txBox="1"/>
          <p:nvPr/>
        </p:nvSpPr>
        <p:spPr>
          <a:xfrm>
            <a:off x="914704" y="907483"/>
            <a:ext cx="5979317" cy="77984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dividing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numbers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hangingPunct="0">
              <a:lnSpc>
                <a:spcPct val="970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PDIV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(@X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INT,@Y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 marL="0">
              <a:lnSpc>
                <a:spcPct val="93333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 marL="0">
              <a:lnSpc>
                <a:spcPct val="983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@Z</a:t>
            </a:r>
            <a:r>
              <a:rPr lang="en-US" altLang="zh-CN" sz="140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</a:p>
          <a:p>
            <a:pPr marL="0">
              <a:lnSpc>
                <a:spcPct val="929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BEGIN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TRY</a:t>
            </a:r>
          </a:p>
          <a:p>
            <a:pPr marL="0">
              <a:lnSpc>
                <a:spcPct val="966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@Z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=@X/@Y</a:t>
            </a:r>
          </a:p>
          <a:p>
            <a:pPr marL="0" hangingPunct="0">
              <a:lnSpc>
                <a:spcPct val="970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'THE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RESULT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IS:-'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+CAST(@Z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TRY</a:t>
            </a:r>
          </a:p>
          <a:p>
            <a:pPr marL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BEGIN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CATCH</a:t>
            </a:r>
          </a:p>
          <a:p>
            <a:pPr marL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ERROR_Message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()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400" spc="34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  <a:r>
              <a:rPr lang="en-US" altLang="zh-CN" sz="1400" spc="-1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ea typeface="Times New Roman"/>
              </a:rPr>
              <a:t>CATCH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21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PDIV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100,5</a:t>
            </a:r>
          </a:p>
          <a:p>
            <a:pPr>
              <a:lnSpc>
                <a:spcPts val="115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Error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Message():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information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about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error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occurred.</a:t>
            </a:r>
          </a:p>
          <a:p>
            <a:pPr>
              <a:lnSpc>
                <a:spcPts val="1130"/>
              </a:lnSpc>
            </a:pPr>
            <a:endParaRPr lang="en-US" dirty="0"/>
          </a:p>
          <a:p>
            <a:pPr marL="0" hangingPunct="0">
              <a:lnSpc>
                <a:spcPct val="97916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CURSOR</a:t>
            </a:r>
            <a:r>
              <a:rPr lang="en-US" altLang="zh-CN" sz="2000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memory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location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is</a:t>
            </a:r>
            <a:r>
              <a:rPr lang="en-US" altLang="zh-CN" sz="1400" spc="-3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temporary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work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area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allotted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client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executed.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information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accessed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it.</a:t>
            </a:r>
          </a:p>
          <a:p>
            <a:pPr>
              <a:lnSpc>
                <a:spcPts val="1460"/>
              </a:lnSpc>
            </a:pPr>
            <a:endParaRPr lang="en-US" dirty="0"/>
          </a:p>
          <a:p>
            <a:pPr marL="0" hangingPunct="0">
              <a:lnSpc>
                <a:spcPct val="975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temporary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retrieved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database,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manipulate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hold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process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holds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i="1" dirty="0">
                <a:solidFill>
                  <a:srgbClr val="000000"/>
                </a:solidFill>
                <a:latin typeface="Times New Roman"/>
                <a:ea typeface="Times New Roman"/>
              </a:rPr>
              <a:t>Result</a:t>
            </a:r>
            <a:r>
              <a:rPr lang="en-US" altLang="zh-CN" sz="1400" i="1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i="1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  <a:p>
            <a:pPr>
              <a:lnSpc>
                <a:spcPts val="1355"/>
              </a:lnSpc>
            </a:pPr>
            <a:endParaRPr lang="en-US" dirty="0"/>
          </a:p>
          <a:p>
            <a:pPr marL="0" indent="44195">
              <a:lnSpc>
                <a:spcPct val="100000"/>
              </a:lnSpc>
            </a:pPr>
            <a:r>
              <a:rPr lang="en-US" altLang="zh-CN" sz="1800" b="1" dirty="0">
                <a:solidFill>
                  <a:srgbClr val="000000"/>
                </a:solidFill>
                <a:latin typeface="Times New Roman"/>
                <a:ea typeface="Times New Roman"/>
              </a:rPr>
              <a:t>There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ea typeface="Times New Roman"/>
              </a:rPr>
              <a:t>types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ea typeface="Times New Roman"/>
              </a:rPr>
              <a:t>cursors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800" b="1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ea typeface="Times New Roman"/>
              </a:rPr>
              <a:t>T/SQL:</a:t>
            </a:r>
          </a:p>
          <a:p>
            <a:pPr>
              <a:lnSpc>
                <a:spcPts val="1335"/>
              </a:lnSpc>
            </a:pPr>
            <a:endParaRPr lang="en-US" dirty="0"/>
          </a:p>
          <a:p>
            <a:pPr marL="0" hangingPunct="0">
              <a:lnSpc>
                <a:spcPct val="97916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Implicit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Cursors: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default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executed.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show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result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set.</a:t>
            </a:r>
          </a:p>
          <a:p>
            <a:pPr>
              <a:lnSpc>
                <a:spcPts val="1364"/>
              </a:lnSpc>
            </a:pPr>
            <a:endParaRPr lang="en-US" dirty="0"/>
          </a:p>
          <a:p>
            <a:pPr marL="0" hangingPunct="0">
              <a:lnSpc>
                <a:spcPct val="97916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Explicit</a:t>
            </a:r>
            <a:r>
              <a:rPr lang="en-US" altLang="zh-CN" sz="18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Cursors:</a:t>
            </a:r>
            <a:r>
              <a:rPr lang="en-US" altLang="zh-CN" sz="18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memory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location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Explicit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Cursors.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access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Whenever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manipulation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explicit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TextBox 302"/>
          <p:cNvSpPr txBox="1"/>
          <p:nvPr/>
        </p:nvSpPr>
        <p:spPr>
          <a:xfrm>
            <a:off x="914704" y="905891"/>
            <a:ext cx="4135401" cy="6797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Steps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Create</a:t>
            </a:r>
            <a:r>
              <a:rPr lang="en-US" altLang="zh-CN" sz="1800" b="1" u="sng" spc="-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Cursor:</a:t>
            </a:r>
          </a:p>
          <a:p>
            <a:pPr>
              <a:lnSpc>
                <a:spcPts val="151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1)Declaring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:In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define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cursor.</a:t>
            </a:r>
          </a:p>
        </p:txBody>
      </p:sp>
      <p:sp>
        <p:nvSpPr>
          <p:cNvPr id="303" name="TextBox 303"/>
          <p:cNvSpPr txBox="1"/>
          <p:nvPr/>
        </p:nvSpPr>
        <p:spPr>
          <a:xfrm>
            <a:off x="914704" y="1780735"/>
            <a:ext cx="4761742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850341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&lt;cursorname&gt;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statement&gt;</a:t>
            </a:r>
          </a:p>
        </p:txBody>
      </p:sp>
      <p:sp>
        <p:nvSpPr>
          <p:cNvPr id="304" name="TextBox 304"/>
          <p:cNvSpPr txBox="1"/>
          <p:nvPr/>
        </p:nvSpPr>
        <p:spPr>
          <a:xfrm>
            <a:off x="914704" y="2186441"/>
            <a:ext cx="5914332" cy="68510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44195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2)Opening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Cursor: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internally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associated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load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cursor.</a:t>
            </a:r>
          </a:p>
          <a:p>
            <a:pPr>
              <a:lnSpc>
                <a:spcPts val="1494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806145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cursorname&gt;</a:t>
            </a:r>
          </a:p>
          <a:p>
            <a:pPr>
              <a:lnSpc>
                <a:spcPts val="1550"/>
              </a:lnSpc>
            </a:pPr>
            <a:endParaRPr lang="en-US" dirty="0"/>
          </a:p>
          <a:p>
            <a:pPr marL="0" hangingPunct="0">
              <a:lnSpc>
                <a:spcPct val="9708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3)Fetching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Data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From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The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Cursor: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access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ursor.</a:t>
            </a:r>
          </a:p>
          <a:p>
            <a:pPr>
              <a:lnSpc>
                <a:spcPts val="1535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806145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first/last/next/prior/absolute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n/relative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&lt;cursorname&gt;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</a:p>
          <a:p>
            <a:pPr marL="0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&lt;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variables&gt;</a:t>
            </a:r>
          </a:p>
          <a:p>
            <a:pPr>
              <a:lnSpc>
                <a:spcPts val="1494"/>
              </a:lnSpc>
            </a:pPr>
            <a:endParaRPr lang="en-US" dirty="0"/>
          </a:p>
          <a:p>
            <a:pPr marL="0" hangingPunct="0">
              <a:lnSpc>
                <a:spcPct val="9708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4)Closing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Cursor: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Process,it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releases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current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result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leaving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datastructure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available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reopening.</a:t>
            </a:r>
          </a:p>
          <a:p>
            <a:pPr>
              <a:lnSpc>
                <a:spcPts val="1544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806145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Close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&lt;cursorname&gt;</a:t>
            </a:r>
          </a:p>
          <a:p>
            <a:pPr>
              <a:lnSpc>
                <a:spcPts val="1560"/>
              </a:lnSpc>
            </a:pPr>
            <a:endParaRPr lang="en-US" dirty="0"/>
          </a:p>
          <a:p>
            <a:pPr marL="0" hangingPunct="0">
              <a:lnSpc>
                <a:spcPct val="9708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5)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Deallocate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Cursor: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removes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reference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deallocate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destroye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structure.</a:t>
            </a:r>
          </a:p>
          <a:p>
            <a:pPr>
              <a:lnSpc>
                <a:spcPts val="1544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806145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Deallocate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&lt;cursorname&gt;</a:t>
            </a:r>
          </a:p>
          <a:p>
            <a:pPr>
              <a:lnSpc>
                <a:spcPts val="1560"/>
              </a:lnSpc>
            </a:pPr>
            <a:endParaRPr lang="en-US" dirty="0"/>
          </a:p>
          <a:p>
            <a:pPr marL="0" hangingPunct="0">
              <a:lnSpc>
                <a:spcPct val="96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@@Fetch_Status: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global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variable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check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wheather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variable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not.if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zero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other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-1.</a:t>
            </a:r>
          </a:p>
          <a:p>
            <a:pPr marL="0">
              <a:lnSpc>
                <a:spcPct val="100000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Example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Work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with</a:t>
            </a:r>
            <a:r>
              <a:rPr lang="en-US" altLang="zh-CN" sz="20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Cursor: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155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explicit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>
              <a:lnSpc>
                <a:spcPts val="148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Sol:</a:t>
            </a:r>
            <a:r>
              <a:rPr lang="en-US" altLang="zh-CN" sz="1400" b="1" spc="20" dirty="0">
                <a:solidFill>
                  <a:srgbClr val="000000"/>
                </a:solidFill>
                <a:latin typeface="Times New Roman"/>
                <a:cs typeface="Times New Roman"/>
              </a:rPr>
              <a:t>  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6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@dno</a:t>
            </a:r>
            <a:r>
              <a:rPr lang="en-US" altLang="zh-CN" sz="1600" b="1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int,@dname</a:t>
            </a:r>
            <a:r>
              <a:rPr lang="en-US" altLang="zh-CN" sz="16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char(20),@loc</a:t>
            </a:r>
            <a:r>
              <a:rPr lang="en-US" altLang="zh-CN" sz="16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varchar(20)</a:t>
            </a:r>
          </a:p>
          <a:p>
            <a:pPr marL="457149" hangingPunct="0">
              <a:lnSpc>
                <a:spcPct val="95416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c1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dept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open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c1</a:t>
            </a:r>
          </a:p>
          <a:p>
            <a:pPr marL="0" indent="457149">
              <a:lnSpc>
                <a:spcPct val="10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next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c1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6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@dno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,@dname,@loc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TextBox 305"/>
          <p:cNvSpPr txBox="1"/>
          <p:nvPr/>
        </p:nvSpPr>
        <p:spPr>
          <a:xfrm>
            <a:off x="914704" y="899404"/>
            <a:ext cx="5983495" cy="81744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457149">
              <a:lnSpc>
                <a:spcPct val="10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while</a:t>
            </a:r>
            <a:r>
              <a:rPr lang="en-US" altLang="zh-CN" sz="160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@@FETCH_STATUS=0</a:t>
            </a:r>
          </a:p>
          <a:p>
            <a:pPr marL="0" indent="457149">
              <a:lnSpc>
                <a:spcPct val="94583"/>
              </a:lnSpc>
            </a:pPr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beg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</a:p>
          <a:p>
            <a:pPr marL="457149" hangingPunct="0">
              <a:lnSpc>
                <a:spcPct val="95416"/>
              </a:lnSpc>
            </a:pPr>
            <a:r>
              <a:rPr lang="en-US" altLang="zh-CN" sz="1600" spc="3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600" spc="-1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60" dirty="0">
                <a:solidFill>
                  <a:srgbClr val="000000"/>
                </a:solidFill>
                <a:latin typeface="Times New Roman"/>
                <a:ea typeface="Times New Roman"/>
              </a:rPr>
              <a:t>@dno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600" spc="2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600" spc="-17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34" dirty="0">
                <a:solidFill>
                  <a:srgbClr val="000000"/>
                </a:solidFill>
                <a:latin typeface="Times New Roman"/>
                <a:ea typeface="Times New Roman"/>
              </a:rPr>
              <a:t>@dname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6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@loc</a:t>
            </a:r>
          </a:p>
          <a:p>
            <a:pPr marL="0" indent="457149">
              <a:lnSpc>
                <a:spcPct val="9875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next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c1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6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@dno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,@dname,@loc</a:t>
            </a:r>
          </a:p>
          <a:p>
            <a:pPr marL="0" indent="457149">
              <a:lnSpc>
                <a:spcPct val="92916"/>
              </a:lnSpc>
            </a:pPr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 marL="455625" hangingPunct="0">
              <a:lnSpc>
                <a:spcPct val="96249"/>
              </a:lnSpc>
            </a:pPr>
            <a:r>
              <a:rPr lang="en-US" altLang="zh-CN" sz="1600" spc="55" dirty="0">
                <a:solidFill>
                  <a:srgbClr val="000000"/>
                </a:solidFill>
                <a:latin typeface="Times New Roman"/>
                <a:ea typeface="Times New Roman"/>
              </a:rPr>
              <a:t>close</a:t>
            </a:r>
            <a:r>
              <a:rPr lang="en-US" altLang="zh-CN" sz="1600" spc="-1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60" dirty="0">
                <a:solidFill>
                  <a:srgbClr val="000000"/>
                </a:solidFill>
                <a:latin typeface="Times New Roman"/>
                <a:ea typeface="Times New Roman"/>
              </a:rPr>
              <a:t>c1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deallocate</a:t>
            </a:r>
            <a:r>
              <a:rPr lang="en-US" altLang="zh-CN" sz="16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-15" dirty="0">
                <a:solidFill>
                  <a:srgbClr val="000000"/>
                </a:solidFill>
                <a:latin typeface="Times New Roman"/>
                <a:ea typeface="Times New Roman"/>
              </a:rPr>
              <a:t>c1</a:t>
            </a:r>
          </a:p>
          <a:p>
            <a:pPr>
              <a:lnSpc>
                <a:spcPts val="1800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explicit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salaries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each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>
              <a:lnSpc>
                <a:spcPts val="171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@ename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varchar(50),@sal</a:t>
            </a:r>
            <a:r>
              <a:rPr lang="en-US" altLang="zh-CN" sz="16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money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empcur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,sal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open</a:t>
            </a:r>
            <a:r>
              <a:rPr lang="en-US" altLang="zh-CN" sz="16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empcur</a:t>
            </a:r>
          </a:p>
          <a:p>
            <a:pPr marL="0" hangingPunct="0">
              <a:lnSpc>
                <a:spcPct val="96666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next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empcur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6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@ename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,@sal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while</a:t>
            </a:r>
            <a:r>
              <a:rPr lang="en-US" altLang="zh-CN" sz="160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@@FETCH_STATUS=0</a:t>
            </a:r>
          </a:p>
          <a:p>
            <a:pPr marL="0">
              <a:lnSpc>
                <a:spcPct val="97083"/>
              </a:lnSpc>
            </a:pPr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beg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'Salary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Of'+'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'+@ename+'is:-'+cast(@sal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6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varchar)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next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empcur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6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@ename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,@sal</a:t>
            </a:r>
          </a:p>
          <a:p>
            <a:pPr marL="0">
              <a:lnSpc>
                <a:spcPct val="94166"/>
              </a:lnSpc>
            </a:pPr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600" spc="30" dirty="0">
                <a:solidFill>
                  <a:srgbClr val="000000"/>
                </a:solidFill>
                <a:latin typeface="Times New Roman"/>
                <a:ea typeface="Times New Roman"/>
              </a:rPr>
              <a:t>close</a:t>
            </a:r>
            <a:r>
              <a:rPr lang="en-US" altLang="zh-CN" sz="1600" spc="-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40" dirty="0">
                <a:solidFill>
                  <a:srgbClr val="000000"/>
                </a:solidFill>
                <a:latin typeface="Times New Roman"/>
                <a:ea typeface="Times New Roman"/>
              </a:rPr>
              <a:t>empcur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deallocate</a:t>
            </a:r>
            <a:r>
              <a:rPr lang="en-US" altLang="zh-CN" sz="16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empcur</a:t>
            </a:r>
          </a:p>
          <a:p>
            <a:pPr>
              <a:lnSpc>
                <a:spcPts val="1825"/>
              </a:lnSpc>
            </a:pPr>
            <a:endParaRPr lang="en-US" dirty="0"/>
          </a:p>
          <a:p>
            <a:pPr marL="0" hangingPunct="0">
              <a:lnSpc>
                <a:spcPct val="96666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program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increment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salaries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600" spc="-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basing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following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criteria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President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10%,Manager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5%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others</a:t>
            </a:r>
            <a:r>
              <a:rPr lang="en-US" altLang="zh-CN" sz="16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3%.</a:t>
            </a:r>
          </a:p>
          <a:p>
            <a:pPr>
              <a:lnSpc>
                <a:spcPts val="175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@eno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int,@job</a:t>
            </a:r>
            <a:r>
              <a:rPr lang="en-US" altLang="zh-CN" sz="16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varchar(20)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Delcare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empcur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Eid,Job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Open</a:t>
            </a:r>
            <a:r>
              <a:rPr lang="en-US" altLang="zh-CN" sz="16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empcur</a:t>
            </a:r>
          </a:p>
          <a:p>
            <a:pPr marL="0">
              <a:lnSpc>
                <a:spcPct val="975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next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empcur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6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@eno,@job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600" spc="15" dirty="0">
                <a:solidFill>
                  <a:srgbClr val="000000"/>
                </a:solidFill>
                <a:latin typeface="Times New Roman"/>
                <a:ea typeface="Times New Roman"/>
              </a:rPr>
              <a:t>While</a:t>
            </a:r>
            <a:r>
              <a:rPr lang="en-US" altLang="zh-CN" sz="1600" spc="-17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spc="15" dirty="0">
                <a:solidFill>
                  <a:srgbClr val="000000"/>
                </a:solidFill>
                <a:latin typeface="Times New Roman"/>
                <a:ea typeface="Times New Roman"/>
              </a:rPr>
              <a:t>@@Fetch_Status=0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Beg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</a:p>
          <a:p>
            <a:pPr marL="0">
              <a:lnSpc>
                <a:spcPct val="96666"/>
              </a:lnSpc>
            </a:pPr>
            <a:r>
              <a:rPr lang="en-US" altLang="zh-CN" sz="1600" spc="-15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6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spc="-20" dirty="0">
                <a:solidFill>
                  <a:srgbClr val="000000"/>
                </a:solidFill>
                <a:latin typeface="Times New Roman"/>
                <a:ea typeface="Times New Roman"/>
              </a:rPr>
              <a:t>@job=‟president‟</a:t>
            </a:r>
          </a:p>
          <a:p>
            <a:pPr marL="0">
              <a:lnSpc>
                <a:spcPct val="10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sal+=sal*0.10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6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eid=@eno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TextBox 306"/>
          <p:cNvSpPr txBox="1"/>
          <p:nvPr/>
        </p:nvSpPr>
        <p:spPr>
          <a:xfrm>
            <a:off x="914704" y="899061"/>
            <a:ext cx="5845878" cy="81967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600" spc="-15" dirty="0">
                <a:solidFill>
                  <a:srgbClr val="000000"/>
                </a:solidFill>
                <a:latin typeface="Times New Roman"/>
                <a:ea typeface="Times New Roman"/>
              </a:rPr>
              <a:t>Else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spc="-15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6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spc="-20" dirty="0">
                <a:solidFill>
                  <a:srgbClr val="000000"/>
                </a:solidFill>
                <a:latin typeface="Times New Roman"/>
                <a:ea typeface="Times New Roman"/>
              </a:rPr>
              <a:t>@job=‟Manager‟</a:t>
            </a:r>
          </a:p>
          <a:p>
            <a:pPr marL="0">
              <a:lnSpc>
                <a:spcPct val="975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sal+=sal*0.05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6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eid=@eno</a:t>
            </a:r>
          </a:p>
          <a:p>
            <a:pPr marL="0">
              <a:lnSpc>
                <a:spcPct val="95833"/>
              </a:lnSpc>
            </a:pPr>
            <a:r>
              <a:rPr lang="en-US" altLang="zh-CN" sz="1600" spc="-10" dirty="0">
                <a:solidFill>
                  <a:srgbClr val="000000"/>
                </a:solidFill>
                <a:latin typeface="Times New Roman"/>
                <a:ea typeface="Times New Roman"/>
              </a:rPr>
              <a:t>El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se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sal+=sal*0.03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6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eid=@eno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next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empcur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6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@eno,@job</a:t>
            </a:r>
          </a:p>
          <a:p>
            <a:pPr marL="0">
              <a:lnSpc>
                <a:spcPct val="96666"/>
              </a:lnSpc>
            </a:pPr>
            <a:r>
              <a:rPr lang="en-US" altLang="zh-CN" sz="1600" spc="-10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600" spc="30" dirty="0">
                <a:solidFill>
                  <a:srgbClr val="000000"/>
                </a:solidFill>
                <a:latin typeface="Times New Roman"/>
                <a:ea typeface="Times New Roman"/>
              </a:rPr>
              <a:t>Close</a:t>
            </a:r>
            <a:r>
              <a:rPr lang="en-US" altLang="zh-CN" sz="1600" spc="-1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spc="40" dirty="0">
                <a:solidFill>
                  <a:srgbClr val="000000"/>
                </a:solidFill>
                <a:latin typeface="Times New Roman"/>
                <a:ea typeface="Times New Roman"/>
              </a:rPr>
              <a:t>empcur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Deallocate</a:t>
            </a:r>
            <a:r>
              <a:rPr lang="en-US" altLang="zh-CN" sz="16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empcur</a:t>
            </a:r>
          </a:p>
          <a:p>
            <a:pPr>
              <a:lnSpc>
                <a:spcPts val="179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Forward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only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and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Scroll</a:t>
            </a:r>
            <a:r>
              <a:rPr lang="en-US" altLang="zh-CN" sz="2000" b="1" u="sng" spc="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Cursors:</a:t>
            </a:r>
          </a:p>
          <a:p>
            <a:pPr>
              <a:lnSpc>
                <a:spcPts val="1555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forward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you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navigate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next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sequential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order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supports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singleton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fashion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method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next(one-by-one)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scroll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you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navigate/fetch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Bidirectionally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top-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bottam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bottom-top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also.And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supports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six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different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methods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Next,Fetch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First,Fetch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Last,Fetch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Prior,Fetch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Absolute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,Fetch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Relative.</a:t>
            </a:r>
          </a:p>
          <a:p>
            <a:pPr>
              <a:lnSpc>
                <a:spcPts val="169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explicit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One-by-One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manner(First-Last)</a:t>
            </a:r>
          </a:p>
          <a:p>
            <a:pPr marL="0">
              <a:lnSpc>
                <a:spcPct val="925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 marL="0">
              <a:lnSpc>
                <a:spcPct val="96249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Sol:</a:t>
            </a:r>
            <a:r>
              <a:rPr lang="en-US" altLang="zh-CN" sz="1400" b="1" spc="15" dirty="0">
                <a:solidFill>
                  <a:srgbClr val="000000"/>
                </a:solidFill>
                <a:latin typeface="Times New Roman"/>
                <a:cs typeface="Times New Roman"/>
              </a:rPr>
              <a:t>  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6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c1</a:t>
            </a:r>
            <a:r>
              <a:rPr lang="en-US" altLang="zh-CN" sz="1600" b="1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6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6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6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6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dept</a:t>
            </a:r>
          </a:p>
          <a:p>
            <a:pPr marL="0" indent="457149">
              <a:lnSpc>
                <a:spcPct val="9583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open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c1</a:t>
            </a:r>
          </a:p>
          <a:p>
            <a:pPr marL="0" indent="457149">
              <a:lnSpc>
                <a:spcPct val="9833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next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c1</a:t>
            </a:r>
          </a:p>
          <a:p>
            <a:pPr marL="0" indent="457149">
              <a:lnSpc>
                <a:spcPct val="96249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while</a:t>
            </a:r>
            <a:r>
              <a:rPr lang="en-US" altLang="zh-CN" sz="160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@@FETCH_STATUS=0</a:t>
            </a:r>
          </a:p>
          <a:p>
            <a:pPr marL="0" indent="457149">
              <a:lnSpc>
                <a:spcPct val="92916"/>
              </a:lnSpc>
            </a:pPr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beg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</a:p>
          <a:p>
            <a:pPr marL="0" indent="457149">
              <a:lnSpc>
                <a:spcPct val="9833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next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c1</a:t>
            </a:r>
          </a:p>
          <a:p>
            <a:pPr marL="0" indent="457149">
              <a:lnSpc>
                <a:spcPct val="93333"/>
              </a:lnSpc>
            </a:pPr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 marL="455625" hangingPunct="0">
              <a:lnSpc>
                <a:spcPct val="95416"/>
              </a:lnSpc>
            </a:pPr>
            <a:r>
              <a:rPr lang="en-US" altLang="zh-CN" sz="1600" spc="55" dirty="0">
                <a:solidFill>
                  <a:srgbClr val="000000"/>
                </a:solidFill>
                <a:latin typeface="Times New Roman"/>
                <a:ea typeface="Times New Roman"/>
              </a:rPr>
              <a:t>close</a:t>
            </a:r>
            <a:r>
              <a:rPr lang="en-US" altLang="zh-CN" sz="1600" spc="-1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60" dirty="0">
                <a:solidFill>
                  <a:srgbClr val="000000"/>
                </a:solidFill>
                <a:latin typeface="Times New Roman"/>
                <a:ea typeface="Times New Roman"/>
              </a:rPr>
              <a:t>c1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deallocate</a:t>
            </a:r>
            <a:r>
              <a:rPr lang="en-US" altLang="zh-CN" sz="16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-15" dirty="0">
                <a:solidFill>
                  <a:srgbClr val="000000"/>
                </a:solidFill>
                <a:latin typeface="Times New Roman"/>
                <a:ea typeface="Times New Roman"/>
              </a:rPr>
              <a:t>c1</a:t>
            </a:r>
          </a:p>
          <a:p>
            <a:pPr>
              <a:lnSpc>
                <a:spcPts val="1875"/>
              </a:lnSpc>
            </a:pPr>
            <a:endParaRPr lang="en-US" dirty="0"/>
          </a:p>
          <a:p>
            <a:pPr marL="0" hangingPunct="0">
              <a:lnSpc>
                <a:spcPct val="95416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explicit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bottom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-first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(Last-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First)from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>
              <a:lnSpc>
                <a:spcPts val="151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Sol:</a:t>
            </a:r>
            <a:r>
              <a:rPr lang="en-US" altLang="zh-CN" sz="1400" b="1" spc="15" dirty="0">
                <a:solidFill>
                  <a:srgbClr val="000000"/>
                </a:solidFill>
                <a:latin typeface="Times New Roman"/>
                <a:cs typeface="Times New Roman"/>
              </a:rPr>
              <a:t>  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6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c1</a:t>
            </a:r>
            <a:r>
              <a:rPr lang="en-US" altLang="zh-CN" sz="1600" b="1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6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scroll</a:t>
            </a:r>
            <a:r>
              <a:rPr lang="en-US" altLang="zh-CN" sz="1600" b="1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6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6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600" b="1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dept</a:t>
            </a:r>
          </a:p>
          <a:p>
            <a:pPr marL="0" indent="457149">
              <a:lnSpc>
                <a:spcPct val="95416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open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c1</a:t>
            </a:r>
          </a:p>
          <a:p>
            <a:pPr marL="0" indent="457149">
              <a:lnSpc>
                <a:spcPct val="10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last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c1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TextBox 307"/>
          <p:cNvSpPr txBox="1"/>
          <p:nvPr/>
        </p:nvSpPr>
        <p:spPr>
          <a:xfrm>
            <a:off x="914704" y="899404"/>
            <a:ext cx="5865471" cy="82129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457149">
              <a:lnSpc>
                <a:spcPct val="10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while</a:t>
            </a:r>
            <a:r>
              <a:rPr lang="en-US" altLang="zh-CN" sz="160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@@FETCH_STATUS=0</a:t>
            </a:r>
          </a:p>
          <a:p>
            <a:pPr marL="0" indent="457149">
              <a:lnSpc>
                <a:spcPct val="94583"/>
              </a:lnSpc>
            </a:pPr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beg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</a:p>
          <a:p>
            <a:pPr marL="0" indent="457149">
              <a:lnSpc>
                <a:spcPct val="9833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prior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c1</a:t>
            </a:r>
          </a:p>
          <a:p>
            <a:pPr marL="0" indent="457149">
              <a:lnSpc>
                <a:spcPct val="92916"/>
              </a:lnSpc>
            </a:pPr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 marL="457149" hangingPunct="0">
              <a:lnSpc>
                <a:spcPct val="96249"/>
              </a:lnSpc>
            </a:pPr>
            <a:r>
              <a:rPr lang="en-US" altLang="zh-CN" sz="1600" spc="55" dirty="0">
                <a:solidFill>
                  <a:srgbClr val="000000"/>
                </a:solidFill>
                <a:latin typeface="Times New Roman"/>
                <a:ea typeface="Times New Roman"/>
              </a:rPr>
              <a:t>close</a:t>
            </a:r>
            <a:r>
              <a:rPr lang="en-US" altLang="zh-CN" sz="1600" spc="-1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60" dirty="0">
                <a:solidFill>
                  <a:srgbClr val="000000"/>
                </a:solidFill>
                <a:latin typeface="Times New Roman"/>
                <a:ea typeface="Times New Roman"/>
              </a:rPr>
              <a:t>c1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deallocate</a:t>
            </a:r>
            <a:r>
              <a:rPr lang="en-US" altLang="zh-CN" sz="16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-15" dirty="0">
                <a:solidFill>
                  <a:srgbClr val="000000"/>
                </a:solidFill>
                <a:latin typeface="Times New Roman"/>
                <a:ea typeface="Times New Roman"/>
              </a:rPr>
              <a:t>c1</a:t>
            </a:r>
          </a:p>
          <a:p>
            <a:pPr>
              <a:lnSpc>
                <a:spcPts val="182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explicit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fetching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methods.</a:t>
            </a:r>
          </a:p>
          <a:p>
            <a:pPr>
              <a:lnSpc>
                <a:spcPts val="1444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@id</a:t>
            </a:r>
            <a:r>
              <a:rPr lang="en-US" altLang="zh-CN" sz="160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</a:p>
          <a:p>
            <a:pPr marL="0" indent="457149">
              <a:lnSpc>
                <a:spcPct val="95416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6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scroll</a:t>
            </a:r>
          </a:p>
          <a:p>
            <a:pPr marL="0" indent="457149">
              <a:lnSpc>
                <a:spcPct val="96249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sid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student</a:t>
            </a:r>
          </a:p>
          <a:p>
            <a:pPr marL="0" indent="457149">
              <a:lnSpc>
                <a:spcPct val="9583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open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-10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</a:p>
          <a:p>
            <a:pPr marL="457149" hangingPunct="0">
              <a:lnSpc>
                <a:spcPct val="95416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next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6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@id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@id</a:t>
            </a:r>
          </a:p>
          <a:p>
            <a:pPr marL="457149" hangingPunct="0">
              <a:lnSpc>
                <a:spcPct val="94999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last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6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@id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@id</a:t>
            </a:r>
          </a:p>
          <a:p>
            <a:pPr marL="0" indent="457149">
              <a:lnSpc>
                <a:spcPct val="96666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prior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6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@id</a:t>
            </a:r>
          </a:p>
          <a:p>
            <a:pPr marL="0" indent="457149">
              <a:lnSpc>
                <a:spcPct val="9583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@id</a:t>
            </a:r>
          </a:p>
          <a:p>
            <a:pPr marL="457149" hangingPunct="0">
              <a:lnSpc>
                <a:spcPct val="95416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absolute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6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@id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@id</a:t>
            </a:r>
          </a:p>
          <a:p>
            <a:pPr marL="0" indent="457149">
              <a:lnSpc>
                <a:spcPct val="9583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relative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-1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6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@id</a:t>
            </a:r>
          </a:p>
          <a:p>
            <a:pPr marL="0" indent="457149">
              <a:lnSpc>
                <a:spcPct val="95416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@id</a:t>
            </a:r>
          </a:p>
          <a:p>
            <a:pPr marL="0" indent="457149">
              <a:lnSpc>
                <a:spcPct val="96249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first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6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@id</a:t>
            </a:r>
          </a:p>
          <a:p>
            <a:pPr marL="457149" hangingPunct="0">
              <a:lnSpc>
                <a:spcPct val="95416"/>
              </a:lnSpc>
            </a:pPr>
            <a:r>
              <a:rPr lang="en-US" altLang="zh-CN" sz="1600" spc="4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600" spc="-1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64" dirty="0">
                <a:solidFill>
                  <a:srgbClr val="000000"/>
                </a:solidFill>
                <a:latin typeface="Times New Roman"/>
                <a:ea typeface="Times New Roman"/>
              </a:rPr>
              <a:t>@id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600" spc="64" dirty="0">
                <a:solidFill>
                  <a:srgbClr val="000000"/>
                </a:solidFill>
                <a:latin typeface="Times New Roman"/>
                <a:ea typeface="Times New Roman"/>
              </a:rPr>
              <a:t>close</a:t>
            </a:r>
            <a:r>
              <a:rPr lang="en-US" altLang="zh-CN" sz="1600" spc="-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80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deallocate</a:t>
            </a:r>
            <a:r>
              <a:rPr lang="en-US" altLang="zh-CN" sz="16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-30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</a:p>
          <a:p>
            <a:pPr>
              <a:lnSpc>
                <a:spcPts val="1745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Static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&amp;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Dynamic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Cursors: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after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opening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modifications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reflected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old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it.</a:t>
            </a:r>
          </a:p>
          <a:p>
            <a:pPr>
              <a:lnSpc>
                <a:spcPts val="153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@sal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money</a:t>
            </a:r>
          </a:p>
          <a:p>
            <a:pPr marL="0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eid=100</a:t>
            </a:r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c1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TextBox 308"/>
          <p:cNvSpPr txBox="1"/>
          <p:nvPr/>
        </p:nvSpPr>
        <p:spPr>
          <a:xfrm>
            <a:off x="914704" y="911695"/>
            <a:ext cx="5995470" cy="79344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sal=25000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eid=100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next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@sal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400" spc="25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-1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ea typeface="Times New Roman"/>
              </a:rPr>
              <a:t>@sal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Close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c1</a:t>
            </a:r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locate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c1</a:t>
            </a:r>
          </a:p>
          <a:p>
            <a:pPr>
              <a:lnSpc>
                <a:spcPts val="1550"/>
              </a:lnSpc>
            </a:pPr>
            <a:endParaRPr lang="en-US" dirty="0"/>
          </a:p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Before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above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verify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even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old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alue.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reflected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after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opening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dynamic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25"/>
              </a:lnSpc>
            </a:pPr>
            <a:endParaRPr lang="en-US" dirty="0"/>
          </a:p>
          <a:p>
            <a:pPr marL="0" indent="1171905">
              <a:lnSpc>
                <a:spcPct val="100000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DATA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CONTROL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LANGUAGE</a:t>
            </a:r>
          </a:p>
          <a:p>
            <a:pPr>
              <a:lnSpc>
                <a:spcPts val="1804"/>
              </a:lnSpc>
            </a:pPr>
            <a:endParaRPr lang="en-US" dirty="0"/>
          </a:p>
          <a:p>
            <a:pPr marL="0" hangingPunct="0">
              <a:lnSpc>
                <a:spcPct val="117499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Authentication:</a:t>
            </a:r>
            <a:r>
              <a:rPr lang="en-US" altLang="zh-CN" sz="1800" b="1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Authentication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is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process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verifying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credentials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login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system.</a:t>
            </a:r>
          </a:p>
          <a:p>
            <a:pPr>
              <a:lnSpc>
                <a:spcPts val="980"/>
              </a:lnSpc>
            </a:pPr>
            <a:endParaRPr lang="en-US" dirty="0"/>
          </a:p>
          <a:p>
            <a:pPr marL="0" hangingPunct="0">
              <a:lnSpc>
                <a:spcPct val="117499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Authorization:</a:t>
            </a:r>
            <a:r>
              <a:rPr lang="en-US" altLang="zh-CN" sz="1800" b="1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Authorization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is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process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verifying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whether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user</a:t>
            </a:r>
            <a:r>
              <a:rPr lang="en-US" altLang="zh-CN" sz="140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permissions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perform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operation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database.</a:t>
            </a:r>
          </a:p>
          <a:p>
            <a:pPr>
              <a:lnSpc>
                <a:spcPts val="989"/>
              </a:lnSpc>
            </a:pPr>
            <a:endParaRPr lang="en-US" dirty="0"/>
          </a:p>
          <a:p>
            <a:pPr marL="0" hangingPunct="0">
              <a:lnSpc>
                <a:spcPct val="116666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Data</a:t>
            </a:r>
            <a:r>
              <a:rPr lang="en-US" altLang="zh-CN" sz="18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Control</a:t>
            </a:r>
            <a:r>
              <a:rPr lang="en-US" altLang="zh-CN" sz="1800" b="1" u="sng" spc="-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Language:</a:t>
            </a:r>
            <a:r>
              <a:rPr lang="en-US" altLang="zh-CN" sz="1800" b="1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DCL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commands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are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used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to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enforce</a:t>
            </a:r>
            <a:r>
              <a:rPr lang="en-US" altLang="zh-CN" sz="140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security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multiple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users’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environment.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These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two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types….</a:t>
            </a:r>
          </a:p>
          <a:p>
            <a:pPr>
              <a:lnSpc>
                <a:spcPts val="989"/>
              </a:lnSpc>
            </a:pPr>
            <a:endParaRPr lang="en-US" dirty="0"/>
          </a:p>
          <a:p>
            <a:pPr marL="0" indent="228600">
              <a:lnSpc>
                <a:spcPts val="176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34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GRANT</a:t>
            </a:r>
          </a:p>
          <a:p>
            <a:pPr marL="0" indent="228600">
              <a:lnSpc>
                <a:spcPts val="1760"/>
              </a:lnSpc>
              <a:spcBef>
                <a:spcPts val="29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3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REVOKE</a:t>
            </a:r>
          </a:p>
          <a:p>
            <a:pPr>
              <a:lnSpc>
                <a:spcPts val="1285"/>
              </a:lnSpc>
            </a:pPr>
            <a:endParaRPr lang="en-US" dirty="0"/>
          </a:p>
          <a:p>
            <a:pPr marL="0" hangingPunct="0">
              <a:lnSpc>
                <a:spcPct val="116666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GRANT:</a:t>
            </a:r>
            <a:r>
              <a:rPr lang="en-US" altLang="zh-CN" sz="1800" b="1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Grant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command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is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used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for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giving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privilege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or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permission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for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user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perform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operations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database.</a:t>
            </a:r>
          </a:p>
          <a:p>
            <a:pPr>
              <a:lnSpc>
                <a:spcPts val="115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Syntax:</a:t>
            </a:r>
            <a:r>
              <a:rPr lang="en-US" altLang="zh-CN" sz="1400" b="1" spc="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GRANT</a:t>
            </a:r>
            <a:r>
              <a:rPr lang="en-US" altLang="zh-CN" sz="1400" spc="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&lt;Privilege</a:t>
            </a:r>
            <a:r>
              <a:rPr lang="en-US" altLang="zh-CN" sz="1400" spc="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Name&gt;</a:t>
            </a:r>
            <a:r>
              <a:rPr lang="en-US" altLang="zh-CN" sz="1400" spc="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on</a:t>
            </a:r>
            <a:r>
              <a:rPr lang="en-US" altLang="zh-CN" sz="1400" spc="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&lt;object</a:t>
            </a:r>
            <a:r>
              <a:rPr lang="en-US" altLang="zh-CN" sz="1400" spc="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name&gt;</a:t>
            </a:r>
          </a:p>
          <a:p>
            <a:pPr>
              <a:lnSpc>
                <a:spcPts val="1280"/>
              </a:lnSpc>
            </a:pPr>
            <a:endParaRPr lang="en-US" dirty="0"/>
          </a:p>
          <a:p>
            <a:pPr marL="0" indent="576021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{User}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[With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GRANT</a:t>
            </a:r>
            <a:r>
              <a:rPr lang="en-US" altLang="zh-CN" sz="140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OPTION]</a:t>
            </a:r>
          </a:p>
          <a:p>
            <a:pPr>
              <a:lnSpc>
                <a:spcPts val="1135"/>
              </a:lnSpc>
            </a:pPr>
            <a:endParaRPr lang="en-US" dirty="0"/>
          </a:p>
          <a:p>
            <a:pPr marL="0" hangingPunct="0">
              <a:lnSpc>
                <a:spcPct val="11708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Privilege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Name: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granted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permission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users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some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rights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are</a:t>
            </a:r>
            <a:r>
              <a:rPr lang="en-US" altLang="zh-CN" sz="1400" spc="-6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ALL,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EXECUTE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and</a:t>
            </a:r>
            <a:r>
              <a:rPr lang="en-US" altLang="zh-CN" sz="140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SELECT.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TextBox 309"/>
          <p:cNvSpPr txBox="1"/>
          <p:nvPr/>
        </p:nvSpPr>
        <p:spPr>
          <a:xfrm>
            <a:off x="914704" y="913511"/>
            <a:ext cx="5998454" cy="7955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749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Object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Name: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name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objects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like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Table,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Views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and</a:t>
            </a:r>
            <a:r>
              <a:rPr lang="en-US" altLang="zh-CN" sz="140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Stored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Procedure</a:t>
            </a:r>
            <a:r>
              <a:rPr lang="en-US" altLang="zh-CN" sz="140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Calibri"/>
                <a:ea typeface="Calibri"/>
              </a:rPr>
              <a:t>etc….</a:t>
            </a:r>
          </a:p>
          <a:p>
            <a:pPr>
              <a:lnSpc>
                <a:spcPts val="114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User: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whom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access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rights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being</a:t>
            </a:r>
            <a:r>
              <a:rPr lang="en-US" altLang="zh-CN" sz="140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granted.</a:t>
            </a:r>
          </a:p>
          <a:p>
            <a:pPr>
              <a:lnSpc>
                <a:spcPts val="128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With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Grant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Option: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Allows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grant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access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rights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other</a:t>
            </a:r>
            <a:r>
              <a:rPr lang="en-US" altLang="zh-CN" sz="140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users.</a:t>
            </a:r>
          </a:p>
          <a:p>
            <a:pPr>
              <a:lnSpc>
                <a:spcPts val="1125"/>
              </a:lnSpc>
            </a:pPr>
            <a:endParaRPr lang="en-US" dirty="0"/>
          </a:p>
          <a:p>
            <a:pPr marL="0" hangingPunct="0">
              <a:lnSpc>
                <a:spcPct val="117499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REVOKE:</a:t>
            </a:r>
            <a:r>
              <a:rPr lang="en-US" altLang="zh-CN" sz="1800" b="1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Revoke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command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removes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user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access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rights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/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privileges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to</a:t>
            </a:r>
            <a:r>
              <a:rPr lang="en-US" altLang="zh-CN" sz="140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taking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back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permission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given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user.</a:t>
            </a:r>
          </a:p>
          <a:p>
            <a:pPr>
              <a:lnSpc>
                <a:spcPts val="113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Syntax: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Revoke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&lt;privilege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name&gt;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&lt;object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name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&gt;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from</a:t>
            </a:r>
            <a:r>
              <a:rPr lang="en-US" altLang="zh-CN" sz="140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{user}</a:t>
            </a:r>
          </a:p>
          <a:p>
            <a:pPr>
              <a:lnSpc>
                <a:spcPts val="1489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Normalization:</a:t>
            </a:r>
            <a:r>
              <a:rPr lang="en-US" altLang="zh-CN" sz="200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Normalization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process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efficiently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organizing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goals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normalization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process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are,</a:t>
            </a:r>
          </a:p>
          <a:p>
            <a:pPr>
              <a:lnSpc>
                <a:spcPts val="1339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9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Eliminating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redundant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(for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example,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storing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same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more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</a:p>
          <a:p>
            <a:pPr marL="0" indent="457149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table)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8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Ensuring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dependencies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make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sense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(only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storing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related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table).</a:t>
            </a:r>
          </a:p>
          <a:p>
            <a:pPr>
              <a:lnSpc>
                <a:spcPts val="1255"/>
              </a:lnSpc>
            </a:pPr>
            <a:endParaRPr lang="en-US" dirty="0"/>
          </a:p>
          <a:p>
            <a:pPr marL="0" indent="44195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worthy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goals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reduce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amount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space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consumes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ensure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logically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stored.</a:t>
            </a:r>
          </a:p>
          <a:p>
            <a:pPr>
              <a:lnSpc>
                <a:spcPts val="128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several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benefits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Normalization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Database.</a:t>
            </a:r>
          </a:p>
          <a:p>
            <a:pPr>
              <a:lnSpc>
                <a:spcPts val="133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spc="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B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enefits:</a:t>
            </a:r>
          </a:p>
          <a:p>
            <a:pPr>
              <a:lnSpc>
                <a:spcPts val="128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a.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Eliminate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redundancy</a:t>
            </a:r>
          </a:p>
          <a:p>
            <a:pPr marL="0" indent="228600">
              <a:lnSpc>
                <a:spcPct val="970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Improve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performance</a:t>
            </a:r>
          </a:p>
          <a:p>
            <a:pPr marL="0" indent="22860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c.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optimization</a:t>
            </a:r>
          </a:p>
          <a:p>
            <a:pPr marL="0" indent="22860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Faster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number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e.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Index</a:t>
            </a:r>
            <a:r>
              <a:rPr lang="en-US" altLang="zh-CN" sz="1400" spc="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improvement</a:t>
            </a:r>
          </a:p>
          <a:p>
            <a:pPr>
              <a:lnSpc>
                <a:spcPts val="1310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There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different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Normalizations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form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available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Database.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Let‟s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one.</a:t>
            </a:r>
          </a:p>
          <a:p>
            <a:pPr>
              <a:lnSpc>
                <a:spcPts val="1389"/>
              </a:lnSpc>
            </a:pPr>
            <a:endParaRPr lang="en-US" dirty="0"/>
          </a:p>
          <a:p>
            <a:pPr marL="0" hangingPunct="0">
              <a:lnSpc>
                <a:spcPct val="95416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1.</a:t>
            </a:r>
            <a:r>
              <a:rPr lang="en-US" altLang="zh-CN" sz="18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First</a:t>
            </a:r>
            <a:r>
              <a:rPr lang="en-US" altLang="zh-CN" sz="18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Normal</a:t>
            </a:r>
            <a:r>
              <a:rPr lang="en-US" altLang="zh-CN" sz="18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Form</a:t>
            </a:r>
            <a:r>
              <a:rPr lang="en-US" altLang="zh-CN" sz="18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(1NF):</a:t>
            </a:r>
            <a:r>
              <a:rPr lang="en-US" altLang="zh-CN" sz="18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First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normal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form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(1NF)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sets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very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rules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organized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database:</a:t>
            </a:r>
          </a:p>
          <a:p>
            <a:pPr>
              <a:lnSpc>
                <a:spcPts val="1439"/>
              </a:lnSpc>
            </a:pPr>
            <a:endParaRPr lang="en-US" dirty="0"/>
          </a:p>
          <a:p>
            <a:pPr marL="0" indent="228600">
              <a:lnSpc>
                <a:spcPts val="1589"/>
              </a:lnSpc>
              <a:tabLst>
                <a:tab pos="457149" algn="l"/>
              </a:tabLst>
            </a:pPr>
            <a:r>
              <a:rPr lang="en-US" altLang="zh-CN" sz="1000" spc="-5" dirty="0">
                <a:solidFill>
                  <a:srgbClr val="000000"/>
                </a:solidFill>
                <a:latin typeface="Symbol"/>
                <a:ea typeface="Symbol"/>
              </a:rPr>
              <a:t>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Eliminate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duplicative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  <a:hlinkClick r:id="rId2"/>
              </a:rPr>
              <a:t>columns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same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TextBox 310"/>
          <p:cNvSpPr txBox="1"/>
          <p:nvPr/>
        </p:nvSpPr>
        <p:spPr>
          <a:xfrm>
            <a:off x="914704" y="913046"/>
            <a:ext cx="5896661" cy="59415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228600">
              <a:lnSpc>
                <a:spcPts val="1589"/>
              </a:lnSpc>
              <a:tabLst>
                <a:tab pos="457149" algn="l"/>
              </a:tabLst>
            </a:pPr>
            <a:r>
              <a:rPr lang="en-US" altLang="zh-CN" sz="1000" spc="-5" dirty="0">
                <a:solidFill>
                  <a:srgbClr val="000000"/>
                </a:solidFill>
                <a:latin typeface="Symbol"/>
                <a:ea typeface="Symbol"/>
              </a:rPr>
              <a:t>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separate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each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group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identify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each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  <a:hlinkClick r:id="rId2"/>
              </a:rPr>
              <a:t>row</a:t>
            </a:r>
          </a:p>
          <a:p>
            <a:pPr marL="0" indent="457149">
              <a:lnSpc>
                <a:spcPct val="966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unique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  <a:hlinkClick r:id="rId3"/>
              </a:rPr>
              <a:t>primary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  <a:hlinkClick r:id="rId2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).</a:t>
            </a:r>
          </a:p>
          <a:p>
            <a:pPr marL="0" indent="685749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a.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Remove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repetitive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groups</a:t>
            </a:r>
          </a:p>
          <a:p>
            <a:pPr marL="0" indent="6857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Primary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</a:p>
          <a:p>
            <a:pPr marL="0">
              <a:lnSpc>
                <a:spcPct val="100000"/>
              </a:lnSpc>
              <a:spcBef>
                <a:spcPts val="120"/>
              </a:spcBef>
            </a:pPr>
            <a:r>
              <a:rPr lang="en-US" altLang="zh-CN" sz="16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Exampl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e: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970"/>
              </a:lnSpc>
            </a:pPr>
            <a:endParaRPr lang="en-US" dirty="0"/>
          </a:p>
          <a:p>
            <a:pPr marL="0" hangingPunct="0">
              <a:lnSpc>
                <a:spcPct val="95416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2.</a:t>
            </a:r>
            <a:r>
              <a:rPr lang="en-US" altLang="zh-CN" sz="1800" b="1" u="sng" spc="-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323232"/>
                </a:solidFill>
                <a:uFill>
                  <a:solidFill>
                    <a:srgbClr val="323232"/>
                  </a:solidFill>
                </a:uFill>
                <a:latin typeface="Times New Roman"/>
                <a:ea typeface="Times New Roman"/>
              </a:rPr>
              <a:t>Second</a:t>
            </a:r>
            <a:r>
              <a:rPr lang="en-US" altLang="zh-CN" sz="1800" b="1" u="sng" spc="-20" dirty="0">
                <a:solidFill>
                  <a:srgbClr val="323232"/>
                </a:solidFill>
                <a:uFill>
                  <a:solidFill>
                    <a:srgbClr val="323232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323232"/>
                </a:solidFill>
                <a:uFill>
                  <a:solidFill>
                    <a:srgbClr val="323232"/>
                  </a:solidFill>
                </a:uFill>
                <a:latin typeface="Times New Roman"/>
                <a:ea typeface="Times New Roman"/>
              </a:rPr>
              <a:t>Normal</a:t>
            </a:r>
            <a:r>
              <a:rPr lang="en-US" altLang="zh-CN" sz="1800" b="1" u="sng" spc="-25" dirty="0">
                <a:solidFill>
                  <a:srgbClr val="323232"/>
                </a:solidFill>
                <a:uFill>
                  <a:solidFill>
                    <a:srgbClr val="323232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323232"/>
                </a:solidFill>
                <a:uFill>
                  <a:solidFill>
                    <a:srgbClr val="323232"/>
                  </a:solidFill>
                </a:uFill>
                <a:latin typeface="Times New Roman"/>
                <a:ea typeface="Times New Roman"/>
              </a:rPr>
              <a:t>Form</a:t>
            </a:r>
            <a:r>
              <a:rPr lang="en-US" altLang="zh-CN" sz="1800" b="1" u="sng" spc="-20" dirty="0">
                <a:solidFill>
                  <a:srgbClr val="323232"/>
                </a:solidFill>
                <a:uFill>
                  <a:solidFill>
                    <a:srgbClr val="323232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323232"/>
                </a:solidFill>
                <a:uFill>
                  <a:solidFill>
                    <a:srgbClr val="323232"/>
                  </a:solidFill>
                </a:uFill>
                <a:latin typeface="Times New Roman"/>
                <a:ea typeface="Times New Roman"/>
              </a:rPr>
              <a:t>(2NF):</a:t>
            </a:r>
            <a:r>
              <a:rPr lang="en-US" altLang="zh-CN" sz="1800" b="1" spc="-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Second</a:t>
            </a:r>
            <a:r>
              <a:rPr lang="en-US" altLang="zh-CN" sz="1400" spc="-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normal</a:t>
            </a:r>
            <a:r>
              <a:rPr lang="en-US" altLang="zh-CN" sz="1400" spc="-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form</a:t>
            </a:r>
            <a:r>
              <a:rPr lang="en-US" altLang="zh-CN" sz="1400" spc="-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(2NF)</a:t>
            </a:r>
            <a:r>
              <a:rPr lang="en-US" altLang="zh-CN" sz="1400" spc="-2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further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addresses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concept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removing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duplicative</a:t>
            </a:r>
            <a:r>
              <a:rPr lang="en-US" altLang="zh-CN" sz="1400" spc="-3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data:</a:t>
            </a:r>
          </a:p>
          <a:p>
            <a:pPr>
              <a:lnSpc>
                <a:spcPts val="1400"/>
              </a:lnSpc>
            </a:pPr>
            <a:endParaRPr lang="en-US" dirty="0"/>
          </a:p>
          <a:p>
            <a:pPr marL="0" indent="172211">
              <a:lnSpc>
                <a:spcPts val="1714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Meet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requirements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first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normal</a:t>
            </a:r>
            <a:r>
              <a:rPr lang="en-US" altLang="zh-CN" sz="1400" spc="7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form.</a:t>
            </a:r>
          </a:p>
          <a:p>
            <a:pPr marL="0" indent="172211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Remove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subsets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apply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multiple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rows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place</a:t>
            </a:r>
            <a:r>
              <a:rPr lang="en-US" altLang="zh-CN" sz="1400" spc="7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them</a:t>
            </a:r>
          </a:p>
          <a:p>
            <a:pPr marL="0" indent="400761">
              <a:lnSpc>
                <a:spcPct val="100000"/>
              </a:lnSpc>
            </a:pP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separate</a:t>
            </a:r>
            <a:r>
              <a:rPr lang="en-US" altLang="zh-CN" sz="1400" spc="-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tables.</a:t>
            </a:r>
          </a:p>
          <a:p>
            <a:pPr>
              <a:lnSpc>
                <a:spcPts val="1300"/>
              </a:lnSpc>
            </a:pPr>
            <a:endParaRPr lang="en-US" dirty="0"/>
          </a:p>
          <a:p>
            <a:pPr marL="0" hangingPunct="0">
              <a:lnSpc>
                <a:spcPct val="96249"/>
              </a:lnSpc>
            </a:pP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Remove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columns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which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create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duplicate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data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in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a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table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and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related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a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new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table</a:t>
            </a:r>
            <a:r>
              <a:rPr lang="en-US" altLang="zh-CN" sz="1200" spc="-89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with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Primary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Key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–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Foreign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Key</a:t>
            </a:r>
            <a:r>
              <a:rPr lang="en-US" altLang="zh-CN" sz="120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relationship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08608" y="2147570"/>
          <a:ext cx="6543749" cy="2726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3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9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0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26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27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3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1355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1356"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b="1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Na</a:t>
                      </a:r>
                      <a:r>
                        <a:rPr lang="en-US" altLang="zh-CN" sz="1200" b="1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me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b="1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Sta</a:t>
                      </a:r>
                      <a:r>
                        <a:rPr lang="en-US" altLang="zh-CN" sz="12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te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b="1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Cou</a:t>
                      </a:r>
                      <a:r>
                        <a:rPr lang="en-US" altLang="zh-CN" sz="12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ntry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332231">
                        <a:lnSpc>
                          <a:spcPct val="95833"/>
                        </a:lnSpc>
                      </a:pPr>
                      <a:r>
                        <a:rPr lang="en-US" altLang="zh-CN" sz="1200" b="1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Ph</a:t>
                      </a:r>
                      <a:r>
                        <a:rPr lang="en-US" altLang="zh-CN" sz="12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one1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332231">
                        <a:lnSpc>
                          <a:spcPct val="95833"/>
                        </a:lnSpc>
                      </a:pPr>
                      <a:r>
                        <a:rPr lang="en-US" altLang="zh-CN" sz="1200" b="1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Ph</a:t>
                      </a:r>
                      <a:r>
                        <a:rPr lang="en-US" altLang="zh-CN" sz="12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one2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332231">
                        <a:lnSpc>
                          <a:spcPct val="95833"/>
                        </a:lnSpc>
                      </a:pPr>
                      <a:r>
                        <a:rPr lang="en-US" altLang="zh-CN" sz="1200" b="1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Ph</a:t>
                      </a:r>
                      <a:r>
                        <a:rPr lang="en-US" altLang="zh-CN" sz="12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one3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79">
                <a:tc>
                  <a:txBody>
                    <a:bodyPr/>
                    <a:lstStyle/>
                    <a:p>
                      <a:pPr marL="0">
                        <a:lnSpc>
                          <a:spcPct val="96249"/>
                        </a:lnSpc>
                      </a:pPr>
                      <a:r>
                        <a:rPr lang="en-US" altLang="zh-CN" sz="12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Jo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hn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6249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101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6249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6249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488-511-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32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58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6249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781-896-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98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97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6249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425-983-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98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12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1356"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spc="-2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Bob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102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861-856-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69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87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1355">
                <a:tc>
                  <a:txBody>
                    <a:bodyPr/>
                    <a:lstStyle/>
                    <a:p>
                      <a:pPr marL="0">
                        <a:lnSpc>
                          <a:spcPct val="95416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Rob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416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201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416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416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587-963-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84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25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416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425-698-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96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84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997">
                <a:tc gridSpan="6">
                  <a:txBody>
                    <a:bodyPr/>
                    <a:lstStyle/>
                    <a:p>
                      <a:pPr marL="0" indent="38100">
                        <a:lnSpc>
                          <a:spcPct val="92916"/>
                        </a:lnSpc>
                        <a:tabLst>
                          <a:tab pos="3196158" algn="l"/>
                        </a:tabLst>
                      </a:pPr>
                      <a:r>
                        <a:rPr lang="en-US" altLang="zh-CN" sz="12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PK	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[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Phone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No’s</a:t>
                      </a:r>
                      <a:r>
                        <a:rPr lang="en-US" altLang="zh-CN" sz="1200" b="1" spc="-4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]</a:t>
                      </a:r>
                    </a:p>
                    <a:p>
                      <a:pPr marL="0" indent="112775">
                        <a:lnSpc>
                          <a:spcPct val="98750"/>
                        </a:lnSpc>
                        <a:tabLst>
                          <a:tab pos="3841063" algn="l"/>
                        </a:tabLst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?	</a:t>
                      </a:r>
                      <a:r>
                        <a:rPr lang="en-US" altLang="zh-CN" sz="1200" spc="-4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?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1355"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b="1" spc="-3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ID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b="1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Na</a:t>
                      </a:r>
                      <a:r>
                        <a:rPr lang="en-US" altLang="zh-CN" sz="1200" b="1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me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b="1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Sta</a:t>
                      </a:r>
                      <a:r>
                        <a:rPr lang="en-US" altLang="zh-CN" sz="12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te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b="1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Cou</a:t>
                      </a:r>
                      <a:r>
                        <a:rPr lang="en-US" altLang="zh-CN" sz="12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ntry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b="1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Pho</a:t>
                      </a:r>
                      <a:r>
                        <a:rPr lang="en-US" altLang="zh-CN" sz="12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ne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1356"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Jo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hn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488-511-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32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58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79">
                <a:tc>
                  <a:txBody>
                    <a:bodyPr/>
                    <a:lstStyle/>
                    <a:p>
                      <a:pPr marL="0">
                        <a:lnSpc>
                          <a:spcPct val="96249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6249"/>
                        </a:lnSpc>
                      </a:pPr>
                      <a:r>
                        <a:rPr lang="en-US" altLang="zh-CN" sz="12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Jo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hn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6249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6249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6249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781-896-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98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97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1356"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Jo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hn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425-983-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98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12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1355">
                <a:tc>
                  <a:txBody>
                    <a:bodyPr/>
                    <a:lstStyle/>
                    <a:p>
                      <a:pPr marL="0">
                        <a:lnSpc>
                          <a:spcPct val="95416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416"/>
                        </a:lnSpc>
                      </a:pPr>
                      <a:r>
                        <a:rPr lang="en-US" altLang="zh-CN" sz="1200" spc="-2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Bob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416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102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416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416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861-856-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69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87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1356"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Rob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587-963-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84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25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1355">
                <a:tc>
                  <a:txBody>
                    <a:bodyPr/>
                    <a:lstStyle/>
                    <a:p>
                      <a:pPr marL="0">
                        <a:lnSpc>
                          <a:spcPct val="95416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6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416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Rob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416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416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416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425-698-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96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84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0500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08608" y="6866509"/>
          <a:ext cx="3979747" cy="13125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0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6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2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5928">
                <a:tc>
                  <a:txBody>
                    <a:bodyPr/>
                    <a:lstStyle/>
                    <a:p>
                      <a:pPr marL="0" indent="39623">
                        <a:lnSpc>
                          <a:spcPct val="98333"/>
                        </a:lnSpc>
                      </a:pPr>
                      <a:r>
                        <a:rPr lang="en-US" altLang="zh-CN" sz="1200" spc="-4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ID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8333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</a:t>
                      </a:r>
                      <a:r>
                        <a:rPr lang="en-US" altLang="zh-CN" sz="12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ame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8333"/>
                        </a:lnSpc>
                      </a:pPr>
                      <a:r>
                        <a:rPr lang="en-US" altLang="zh-CN" sz="12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tate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8333"/>
                        </a:lnSpc>
                      </a:pP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Cou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ntry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8333"/>
                        </a:lnSpc>
                      </a:pPr>
                      <a:r>
                        <a:rPr lang="en-US" altLang="zh-CN" sz="12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hone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B6D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1">
                <a:tc>
                  <a:txBody>
                    <a:bodyPr/>
                    <a:lstStyle/>
                    <a:p>
                      <a:pPr marL="0">
                        <a:lnSpc>
                          <a:spcPct val="98750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8750"/>
                        </a:lnSpc>
                      </a:pPr>
                      <a:r>
                        <a:rPr lang="en-US" altLang="zh-CN" sz="12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Jo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hn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8750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101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8750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8750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488-511-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258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B6D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marL="0">
                        <a:lnSpc>
                          <a:spcPct val="97916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7916"/>
                        </a:lnSpc>
                      </a:pPr>
                      <a:r>
                        <a:rPr lang="en-US" altLang="zh-CN" sz="12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Jo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hn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7916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101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7916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7916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781-896-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897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  <a:solidFill>
                      <a:srgbClr val="B6D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833">
                <a:tc>
                  <a:txBody>
                    <a:bodyPr/>
                    <a:lstStyle/>
                    <a:p>
                      <a:pPr marL="0">
                        <a:lnSpc>
                          <a:spcPct val="99166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9166"/>
                        </a:lnSpc>
                      </a:pPr>
                      <a:r>
                        <a:rPr lang="en-US" altLang="zh-CN" sz="12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Jo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hn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9166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101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9166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9166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425-983-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812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  <a:solidFill>
                      <a:srgbClr val="B6D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5928">
                <a:tc>
                  <a:txBody>
                    <a:bodyPr/>
                    <a:lstStyle/>
                    <a:p>
                      <a:pPr marL="0">
                        <a:lnSpc>
                          <a:spcPct val="97916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7916"/>
                        </a:lnSpc>
                      </a:pPr>
                      <a:r>
                        <a:rPr lang="en-US" altLang="zh-CN" sz="1200" spc="-2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Bob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7916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102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7916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7916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861-856-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6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987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B6D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>
                        <a:lnSpc>
                          <a:spcPct val="99166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9166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Rob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9166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201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9166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9166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587-963-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8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425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B6D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2023"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6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Rob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201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425-698-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684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B6D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Freeform 313"/>
          <p:cNvSpPr/>
          <p:nvPr/>
        </p:nvSpPr>
        <p:spPr>
          <a:xfrm>
            <a:off x="902207" y="5105907"/>
            <a:ext cx="1383792" cy="177292"/>
          </a:xfrm>
          <a:custGeom>
            <a:avLst/>
            <a:gdLst>
              <a:gd name="connsiteX0" fmla="*/ 12496 w 1383792"/>
              <a:gd name="connsiteY0" fmla="*/ 189103 h 177292"/>
              <a:gd name="connsiteX1" fmla="*/ 1394764 w 1383792"/>
              <a:gd name="connsiteY1" fmla="*/ 189103 h 177292"/>
              <a:gd name="connsiteX2" fmla="*/ 1394764 w 1383792"/>
              <a:gd name="connsiteY2" fmla="*/ 13843 h 177292"/>
              <a:gd name="connsiteX3" fmla="*/ 12496 w 1383792"/>
              <a:gd name="connsiteY3" fmla="*/ 13843 h 177292"/>
              <a:gd name="connsiteX4" fmla="*/ 12496 w 1383792"/>
              <a:gd name="connsiteY4" fmla="*/ 189103 h 177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83792" h="177292">
                <a:moveTo>
                  <a:pt x="12496" y="189103"/>
                </a:moveTo>
                <a:lnTo>
                  <a:pt x="1394764" y="189103"/>
                </a:lnTo>
                <a:lnTo>
                  <a:pt x="1394764" y="13843"/>
                </a:lnTo>
                <a:lnTo>
                  <a:pt x="12496" y="13843"/>
                </a:lnTo>
                <a:lnTo>
                  <a:pt x="12496" y="189103"/>
                </a:lnTo>
                <a:close/>
              </a:path>
            </a:pathLst>
          </a:custGeom>
          <a:solidFill>
            <a:srgbClr val="91CF4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4" name="Freeform 314"/>
          <p:cNvSpPr/>
          <p:nvPr/>
        </p:nvSpPr>
        <p:spPr>
          <a:xfrm>
            <a:off x="5055107" y="5105907"/>
            <a:ext cx="1485392" cy="177292"/>
          </a:xfrm>
          <a:custGeom>
            <a:avLst/>
            <a:gdLst>
              <a:gd name="connsiteX0" fmla="*/ 20701 w 1485392"/>
              <a:gd name="connsiteY0" fmla="*/ 189103 h 177292"/>
              <a:gd name="connsiteX1" fmla="*/ 1490091 w 1485392"/>
              <a:gd name="connsiteY1" fmla="*/ 189103 h 177292"/>
              <a:gd name="connsiteX2" fmla="*/ 1490091 w 1485392"/>
              <a:gd name="connsiteY2" fmla="*/ 13843 h 177292"/>
              <a:gd name="connsiteX3" fmla="*/ 20701 w 1485392"/>
              <a:gd name="connsiteY3" fmla="*/ 13843 h 177292"/>
              <a:gd name="connsiteX4" fmla="*/ 20701 w 1485392"/>
              <a:gd name="connsiteY4" fmla="*/ 189103 h 177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5392" h="177292">
                <a:moveTo>
                  <a:pt x="20701" y="189103"/>
                </a:moveTo>
                <a:lnTo>
                  <a:pt x="1490091" y="189103"/>
                </a:lnTo>
                <a:lnTo>
                  <a:pt x="1490091" y="13843"/>
                </a:lnTo>
                <a:lnTo>
                  <a:pt x="20701" y="13843"/>
                </a:lnTo>
                <a:lnTo>
                  <a:pt x="20701" y="189103"/>
                </a:lnTo>
                <a:close/>
              </a:path>
            </a:pathLst>
          </a:custGeom>
          <a:solidFill>
            <a:srgbClr val="FE00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5" name="TextBox 315"/>
          <p:cNvSpPr txBox="1"/>
          <p:nvPr/>
        </p:nvSpPr>
        <p:spPr>
          <a:xfrm>
            <a:off x="914704" y="2756133"/>
            <a:ext cx="5940037" cy="62413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8100" hangingPunct="0">
              <a:lnSpc>
                <a:spcPct val="95833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3.</a:t>
            </a:r>
            <a:r>
              <a:rPr lang="en-US" altLang="zh-CN" sz="18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323232"/>
                </a:solidFill>
                <a:uFill>
                  <a:solidFill>
                    <a:srgbClr val="323232"/>
                  </a:solidFill>
                </a:uFill>
                <a:latin typeface="Times New Roman"/>
                <a:ea typeface="Times New Roman"/>
              </a:rPr>
              <a:t>Third</a:t>
            </a:r>
            <a:r>
              <a:rPr lang="en-US" altLang="zh-CN" sz="1800" b="1" u="sng" spc="-15" dirty="0">
                <a:solidFill>
                  <a:srgbClr val="323232"/>
                </a:solidFill>
                <a:uFill>
                  <a:solidFill>
                    <a:srgbClr val="323232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323232"/>
                </a:solidFill>
                <a:uFill>
                  <a:solidFill>
                    <a:srgbClr val="323232"/>
                  </a:solidFill>
                </a:uFill>
                <a:latin typeface="Times New Roman"/>
                <a:ea typeface="Times New Roman"/>
              </a:rPr>
              <a:t>Normal</a:t>
            </a:r>
            <a:r>
              <a:rPr lang="en-US" altLang="zh-CN" sz="1800" b="1" u="sng" spc="-10" dirty="0">
                <a:solidFill>
                  <a:srgbClr val="323232"/>
                </a:solidFill>
                <a:uFill>
                  <a:solidFill>
                    <a:srgbClr val="323232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323232"/>
                </a:solidFill>
                <a:uFill>
                  <a:solidFill>
                    <a:srgbClr val="323232"/>
                  </a:solidFill>
                </a:uFill>
                <a:latin typeface="Times New Roman"/>
                <a:ea typeface="Times New Roman"/>
              </a:rPr>
              <a:t>Form</a:t>
            </a:r>
            <a:r>
              <a:rPr lang="en-US" altLang="zh-CN" sz="1800" b="1" u="sng" spc="-15" dirty="0">
                <a:solidFill>
                  <a:srgbClr val="323232"/>
                </a:solidFill>
                <a:uFill>
                  <a:solidFill>
                    <a:srgbClr val="323232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323232"/>
                </a:solidFill>
                <a:uFill>
                  <a:solidFill>
                    <a:srgbClr val="323232"/>
                  </a:solidFill>
                </a:uFill>
                <a:latin typeface="Times New Roman"/>
                <a:ea typeface="Times New Roman"/>
              </a:rPr>
              <a:t>(3NF):</a:t>
            </a:r>
            <a:r>
              <a:rPr lang="en-US" altLang="zh-CN" sz="1800" b="1" spc="-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Third</a:t>
            </a:r>
            <a:r>
              <a:rPr lang="en-US" altLang="zh-CN" sz="1400" spc="-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normal</a:t>
            </a:r>
            <a:r>
              <a:rPr lang="en-US" altLang="zh-CN" sz="1400" spc="-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form</a:t>
            </a:r>
            <a:r>
              <a:rPr lang="en-US" altLang="zh-CN" sz="1400" spc="-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(3NF)</a:t>
            </a:r>
            <a:r>
              <a:rPr lang="en-US" altLang="zh-CN" sz="1400" spc="-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goes</a:t>
            </a:r>
            <a:r>
              <a:rPr lang="en-US" altLang="zh-CN" sz="1400" spc="-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spc="-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large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step</a:t>
            </a:r>
            <a:r>
              <a:rPr lang="en-US" altLang="zh-CN" sz="1400" spc="-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further:</a:t>
            </a:r>
          </a:p>
          <a:p>
            <a:pPr>
              <a:lnSpc>
                <a:spcPts val="1394"/>
              </a:lnSpc>
            </a:pPr>
            <a:endParaRPr lang="en-US" dirty="0"/>
          </a:p>
          <a:p>
            <a:pPr marL="0" indent="172211">
              <a:lnSpc>
                <a:spcPts val="17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Meet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requirements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second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normal</a:t>
            </a:r>
            <a:r>
              <a:rPr lang="en-US" altLang="zh-CN" sz="1400" spc="7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form.</a:t>
            </a:r>
          </a:p>
          <a:p>
            <a:pPr marL="0" indent="172211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Remove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columns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those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dependent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upon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primary</a:t>
            </a:r>
            <a:r>
              <a:rPr lang="en-US" altLang="zh-CN" sz="1400" spc="89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key.</a:t>
            </a:r>
          </a:p>
          <a:p>
            <a:pPr>
              <a:lnSpc>
                <a:spcPts val="1385"/>
              </a:lnSpc>
            </a:pPr>
            <a:endParaRPr lang="en-US" dirty="0"/>
          </a:p>
          <a:p>
            <a:pPr marL="0" indent="88391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Country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derived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also…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removing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country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604"/>
              </a:lnSpc>
            </a:pPr>
            <a:endParaRPr lang="en-US" dirty="0"/>
          </a:p>
          <a:p>
            <a:pPr marL="0" indent="38100" hangingPunct="0">
              <a:lnSpc>
                <a:spcPct val="95833"/>
              </a:lnSpc>
            </a:pPr>
            <a:r>
              <a:rPr lang="en-US" altLang="zh-CN" sz="1800" b="1" u="sng" dirty="0">
                <a:solidFill>
                  <a:srgbClr val="323232"/>
                </a:solidFill>
                <a:uFill>
                  <a:solidFill>
                    <a:srgbClr val="323232"/>
                  </a:solidFill>
                </a:uFill>
                <a:latin typeface="Times New Roman"/>
                <a:ea typeface="Times New Roman"/>
              </a:rPr>
              <a:t>4.</a:t>
            </a:r>
            <a:r>
              <a:rPr lang="en-US" altLang="zh-CN" sz="1800" b="1" u="sng" spc="-15" dirty="0">
                <a:solidFill>
                  <a:srgbClr val="323232"/>
                </a:solidFill>
                <a:uFill>
                  <a:solidFill>
                    <a:srgbClr val="323232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323232"/>
                </a:solidFill>
                <a:uFill>
                  <a:solidFill>
                    <a:srgbClr val="323232"/>
                  </a:solidFill>
                </a:uFill>
                <a:latin typeface="Times New Roman"/>
                <a:ea typeface="Times New Roman"/>
              </a:rPr>
              <a:t>Fourth</a:t>
            </a:r>
            <a:r>
              <a:rPr lang="en-US" altLang="zh-CN" sz="1800" b="1" u="sng" spc="-15" dirty="0">
                <a:solidFill>
                  <a:srgbClr val="323232"/>
                </a:solidFill>
                <a:uFill>
                  <a:solidFill>
                    <a:srgbClr val="323232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323232"/>
                </a:solidFill>
                <a:uFill>
                  <a:solidFill>
                    <a:srgbClr val="323232"/>
                  </a:solidFill>
                </a:uFill>
                <a:latin typeface="Times New Roman"/>
                <a:ea typeface="Times New Roman"/>
              </a:rPr>
              <a:t>Normal</a:t>
            </a:r>
            <a:r>
              <a:rPr lang="en-US" altLang="zh-CN" sz="1800" b="1" u="sng" spc="-15" dirty="0">
                <a:solidFill>
                  <a:srgbClr val="323232"/>
                </a:solidFill>
                <a:uFill>
                  <a:solidFill>
                    <a:srgbClr val="323232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323232"/>
                </a:solidFill>
                <a:uFill>
                  <a:solidFill>
                    <a:srgbClr val="323232"/>
                  </a:solidFill>
                </a:uFill>
                <a:latin typeface="Times New Roman"/>
                <a:ea typeface="Times New Roman"/>
              </a:rPr>
              <a:t>Form</a:t>
            </a:r>
            <a:r>
              <a:rPr lang="en-US" altLang="zh-CN" sz="1800" b="1" u="sng" spc="-20" dirty="0">
                <a:solidFill>
                  <a:srgbClr val="323232"/>
                </a:solidFill>
                <a:uFill>
                  <a:solidFill>
                    <a:srgbClr val="323232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323232"/>
                </a:solidFill>
                <a:uFill>
                  <a:solidFill>
                    <a:srgbClr val="323232"/>
                  </a:solidFill>
                </a:uFill>
                <a:latin typeface="Times New Roman"/>
                <a:ea typeface="Times New Roman"/>
              </a:rPr>
              <a:t>(4NF):</a:t>
            </a:r>
            <a:r>
              <a:rPr lang="en-US" altLang="zh-CN" sz="1800" b="1" spc="-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Finally,</a:t>
            </a:r>
            <a:r>
              <a:rPr lang="en-US" altLang="zh-CN" sz="1400" spc="-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fourth</a:t>
            </a:r>
            <a:r>
              <a:rPr lang="en-US" altLang="zh-CN" sz="1400" spc="-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normal</a:t>
            </a:r>
            <a:r>
              <a:rPr lang="en-US" altLang="zh-CN" sz="1400" spc="-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form</a:t>
            </a:r>
            <a:r>
              <a:rPr lang="en-US" altLang="zh-CN" sz="1400" spc="-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(4NF)</a:t>
            </a:r>
            <a:r>
              <a:rPr lang="en-US" altLang="zh-CN" sz="1400" spc="-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has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additional</a:t>
            </a:r>
            <a:r>
              <a:rPr lang="en-US" altLang="zh-CN" sz="1400" spc="-2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requirement:</a:t>
            </a:r>
          </a:p>
          <a:p>
            <a:pPr>
              <a:lnSpc>
                <a:spcPts val="1800"/>
              </a:lnSpc>
            </a:pPr>
            <a:endParaRPr lang="en-US" dirty="0"/>
          </a:p>
          <a:p>
            <a:pPr marL="0" indent="172211">
              <a:lnSpc>
                <a:spcPts val="1714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Meet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requirements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third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normal</a:t>
            </a:r>
            <a:r>
              <a:rPr lang="en-US" altLang="zh-CN" sz="1400" spc="69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form.</a:t>
            </a:r>
          </a:p>
          <a:p>
            <a:pPr marL="0" indent="172211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5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relation</a:t>
            </a:r>
            <a:r>
              <a:rPr lang="en-US" altLang="zh-CN" sz="1400" spc="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4NF</a:t>
            </a:r>
            <a:r>
              <a:rPr lang="en-US" altLang="zh-CN" sz="1400" spc="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spc="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has</a:t>
            </a:r>
            <a:r>
              <a:rPr lang="en-US" altLang="zh-CN" sz="1400" spc="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no</a:t>
            </a:r>
            <a:r>
              <a:rPr lang="en-US" altLang="zh-CN" sz="1400" spc="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multi-valued</a:t>
            </a:r>
            <a:r>
              <a:rPr lang="en-US" altLang="zh-CN" sz="1400" spc="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dependencies.</a:t>
            </a:r>
          </a:p>
          <a:p>
            <a:pPr>
              <a:lnSpc>
                <a:spcPts val="1369"/>
              </a:lnSpc>
            </a:pPr>
            <a:endParaRPr lang="en-US" dirty="0"/>
          </a:p>
          <a:p>
            <a:pPr marL="172211" indent="36575" hangingPunct="0">
              <a:lnSpc>
                <a:spcPct val="96249"/>
              </a:lnSpc>
            </a:pP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If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PK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is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composed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of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multiple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columns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then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all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non-key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attributes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should</a:t>
            </a:r>
            <a:r>
              <a:rPr lang="en-US" altLang="zh-CN" sz="12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be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br>
              <a:rPr dirty="0"/>
            </a:b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derived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from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FULL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PK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only.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If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some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non-key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attribute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can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be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derived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from</a:t>
            </a:r>
            <a:r>
              <a:rPr lang="en-US" altLang="zh-CN" sz="1200" spc="-5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partial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PK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then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remove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it.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The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4NF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also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known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as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BCNF</a:t>
            </a:r>
            <a:r>
              <a:rPr lang="en-US" altLang="zh-CN" sz="120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NF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225"/>
              </a:lnSpc>
            </a:pPr>
            <a:endParaRPr lang="en-US" dirty="0"/>
          </a:p>
          <a:p>
            <a:pPr marL="228600" hangingPunct="0">
              <a:lnSpc>
                <a:spcPct val="95833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5.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Fifth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Normal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Form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(5NF):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5NF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4NF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redundant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5NF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4NF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dependencies.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08608" y="1278890"/>
          <a:ext cx="3002609" cy="7528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0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6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5928">
                <a:tc>
                  <a:txBody>
                    <a:bodyPr/>
                    <a:lstStyle/>
                    <a:p>
                      <a:pPr marL="0">
                        <a:lnSpc>
                          <a:spcPct val="98333"/>
                        </a:lnSpc>
                      </a:pPr>
                      <a:r>
                        <a:rPr lang="en-US" altLang="zh-CN" sz="1200" spc="-4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ID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91CF4F"/>
                    </a:solidFill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8333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</a:t>
                      </a:r>
                      <a:r>
                        <a:rPr lang="en-US" altLang="zh-CN" sz="12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ame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8333"/>
                        </a:lnSpc>
                      </a:pPr>
                      <a:r>
                        <a:rPr lang="en-US" altLang="zh-CN" sz="12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tate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8333"/>
                        </a:lnSpc>
                      </a:pP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Cou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ntry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FE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>
                        <a:lnSpc>
                          <a:spcPct val="99166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91CF4F"/>
                    </a:solidFill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9166"/>
                        </a:lnSpc>
                      </a:pPr>
                      <a:r>
                        <a:rPr lang="en-US" altLang="zh-CN" sz="12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Jo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hn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9166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101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FE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marL="0">
                        <a:lnSpc>
                          <a:spcPct val="97916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91CF4F"/>
                    </a:solidFill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7916"/>
                        </a:lnSpc>
                      </a:pPr>
                      <a:r>
                        <a:rPr lang="en-US" altLang="zh-CN" sz="1200" spc="-2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Bob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7916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102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FE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547"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91CF4F"/>
                    </a:solidFill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Rob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201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FE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876165" y="1275842"/>
          <a:ext cx="2606673" cy="13106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7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3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1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8976"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</a:pPr>
                      <a:r>
                        <a:rPr lang="en-US" altLang="zh-CN" sz="12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Pho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neID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</a:pPr>
                      <a:r>
                        <a:rPr lang="en-US" altLang="zh-CN" sz="1200" spc="-4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ID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91C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-12191">
                        <a:lnSpc>
                          <a:spcPct val="100000"/>
                        </a:lnSpc>
                      </a:pPr>
                      <a:r>
                        <a:rPr lang="en-US" altLang="zh-CN" sz="12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hone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B6D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>
                        <a:lnSpc>
                          <a:spcPct val="99166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9166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91C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-12191">
                        <a:lnSpc>
                          <a:spcPct val="99166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488-511-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32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58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B6D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marL="0">
                        <a:lnSpc>
                          <a:spcPct val="97916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7916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91C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-12191">
                        <a:lnSpc>
                          <a:spcPct val="97916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781-896-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98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97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B6D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>
                        <a:lnSpc>
                          <a:spcPct val="99166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9166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91C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-12191">
                        <a:lnSpc>
                          <a:spcPct val="99166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425-983-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98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12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B6D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5928">
                <a:tc>
                  <a:txBody>
                    <a:bodyPr/>
                    <a:lstStyle/>
                    <a:p>
                      <a:pPr marL="0">
                        <a:lnSpc>
                          <a:spcPct val="98333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8333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91C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-12191">
                        <a:lnSpc>
                          <a:spcPct val="98333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587-963-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84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25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B6D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1355">
                <a:tc>
                  <a:txBody>
                    <a:bodyPr/>
                    <a:lstStyle/>
                    <a:p>
                      <a:pPr marL="0">
                        <a:lnSpc>
                          <a:spcPct val="95416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416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91C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-12191">
                        <a:lnSpc>
                          <a:spcPct val="95416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587-963-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84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25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B6D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547"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6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-12191">
                        <a:lnSpc>
                          <a:spcPct val="100000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425-698-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96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84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08608" y="4401947"/>
          <a:ext cx="5660973" cy="925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13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8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7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3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1648">
                <a:tc>
                  <a:txBody>
                    <a:bodyPr/>
                    <a:lstStyle/>
                    <a:p>
                      <a:pPr marL="0" indent="77723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lang="en-US" altLang="zh-CN" sz="1200" spc="-4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ID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24384">
                      <a:solidFill>
                        <a:srgbClr val="4FCF9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70104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</a:t>
                      </a:r>
                      <a:r>
                        <a:rPr lang="en-US" altLang="zh-CN" sz="12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ame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70104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lang="en-US" altLang="zh-CN" sz="12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tate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70104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Cou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ntry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121">
                <a:tc>
                  <a:txBody>
                    <a:bodyPr/>
                    <a:lstStyle/>
                    <a:p>
                      <a:pPr marL="0" indent="76200">
                        <a:lnSpc>
                          <a:spcPct val="100000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24384">
                      <a:solidFill>
                        <a:srgbClr val="4FCF91"/>
                      </a:solidFill>
                      <a:prstDash val="solid"/>
                    </a:lnT>
                    <a:lnB w="22859">
                      <a:solidFill>
                        <a:srgbClr val="4FCF91"/>
                      </a:solidFill>
                      <a:prstDash val="solid"/>
                    </a:lnB>
                    <a:solidFill>
                      <a:srgbClr val="91C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70104">
                        <a:lnSpc>
                          <a:spcPct val="100000"/>
                        </a:lnSpc>
                        <a:spcBef>
                          <a:spcPts val="104"/>
                        </a:spcBef>
                      </a:pPr>
                      <a:r>
                        <a:rPr lang="en-US" altLang="zh-CN" sz="12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Jo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hn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108204">
                        <a:lnSpc>
                          <a:spcPct val="100000"/>
                        </a:lnSpc>
                        <a:spcBef>
                          <a:spcPts val="104"/>
                        </a:spcBef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101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222504">
                        <a:lnSpc>
                          <a:spcPct val="100000"/>
                        </a:lnSpc>
                        <a:spcBef>
                          <a:spcPts val="104"/>
                        </a:spcBef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  <a:solidFill>
                      <a:srgbClr val="FE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361">
                <a:tc>
                  <a:txBody>
                    <a:bodyPr/>
                    <a:lstStyle/>
                    <a:p>
                      <a:pPr marL="0" indent="76200">
                        <a:lnSpc>
                          <a:spcPct val="100000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22859">
                      <a:solidFill>
                        <a:srgbClr val="4FCF91"/>
                      </a:solidFill>
                      <a:prstDash val="solid"/>
                    </a:lnT>
                    <a:lnB w="24384">
                      <a:solidFill>
                        <a:srgbClr val="4FCF91"/>
                      </a:solidFill>
                      <a:prstDash val="solid"/>
                    </a:lnB>
                    <a:solidFill>
                      <a:srgbClr val="91C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70104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lang="en-US" altLang="zh-CN" sz="1200" spc="-2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Bob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108204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102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222504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  <a:solidFill>
                      <a:srgbClr val="FE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190">
                <a:tc>
                  <a:txBody>
                    <a:bodyPr/>
                    <a:lstStyle/>
                    <a:p>
                      <a:pPr marL="0" indent="76200">
                        <a:lnSpc>
                          <a:spcPct val="100000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24384">
                      <a:solidFill>
                        <a:srgbClr val="4FCF91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70104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Rob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108204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201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222504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08608" y="7345045"/>
          <a:ext cx="5837885" cy="8111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44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1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11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7643">
                <a:tc>
                  <a:txBody>
                    <a:bodyPr/>
                    <a:lstStyle/>
                    <a:p>
                      <a:pPr marL="0" indent="117347">
                        <a:lnSpc>
                          <a:spcPct val="100000"/>
                        </a:lnSpc>
                      </a:pPr>
                      <a:r>
                        <a:rPr lang="en-US" altLang="zh-CN" sz="1200" spc="-4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ID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13716">
                      <a:solidFill>
                        <a:srgbClr val="4FCF9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70103">
                        <a:lnSpc>
                          <a:spcPct val="100000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</a:t>
                      </a:r>
                      <a:r>
                        <a:rPr lang="en-US" altLang="zh-CN" sz="12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ame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70103">
                        <a:lnSpc>
                          <a:spcPct val="100000"/>
                        </a:lnSpc>
                      </a:pPr>
                      <a:r>
                        <a:rPr lang="en-US" altLang="zh-CN" sz="12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tate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264">
                <a:tc>
                  <a:txBody>
                    <a:bodyPr/>
                    <a:lstStyle/>
                    <a:p>
                      <a:pPr marL="0" indent="76200">
                        <a:lnSpc>
                          <a:spcPct val="100000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13716">
                      <a:solidFill>
                        <a:srgbClr val="4FCF91"/>
                      </a:solidFill>
                      <a:prstDash val="solid"/>
                    </a:lnT>
                    <a:lnB w="13716">
                      <a:solidFill>
                        <a:srgbClr val="4FCF91"/>
                      </a:solidFill>
                      <a:prstDash val="solid"/>
                    </a:lnB>
                    <a:solidFill>
                      <a:srgbClr val="91C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70103">
                        <a:lnSpc>
                          <a:spcPct val="100000"/>
                        </a:lnSpc>
                      </a:pPr>
                      <a:r>
                        <a:rPr lang="en-US" altLang="zh-CN" sz="12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Jo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hn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108203">
                        <a:lnSpc>
                          <a:spcPct val="100000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264">
                <a:tc>
                  <a:txBody>
                    <a:bodyPr/>
                    <a:lstStyle/>
                    <a:p>
                      <a:pPr marL="0" indent="76200">
                        <a:lnSpc>
                          <a:spcPct val="100000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13716">
                      <a:solidFill>
                        <a:srgbClr val="4FCF91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91C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70103">
                        <a:lnSpc>
                          <a:spcPct val="100000"/>
                        </a:lnSpc>
                      </a:pPr>
                      <a:r>
                        <a:rPr lang="en-US" altLang="zh-CN" sz="1200" spc="-2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Bob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108203">
                        <a:lnSpc>
                          <a:spcPct val="100000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102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8976">
                <a:tc>
                  <a:txBody>
                    <a:bodyPr/>
                    <a:lstStyle/>
                    <a:p>
                      <a:pPr marL="0" indent="76200">
                        <a:lnSpc>
                          <a:spcPct val="100000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91C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70103">
                        <a:lnSpc>
                          <a:spcPct val="100000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Rob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108203">
                        <a:lnSpc>
                          <a:spcPct val="100000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TextBox 320"/>
          <p:cNvSpPr txBox="1"/>
          <p:nvPr/>
        </p:nvSpPr>
        <p:spPr>
          <a:xfrm>
            <a:off x="914704" y="3821302"/>
            <a:ext cx="5679908" cy="22832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4800" b="1" dirty="0">
                <a:solidFill>
                  <a:srgbClr val="000000"/>
                </a:solidFill>
                <a:latin typeface="Times New Roman"/>
                <a:ea typeface="Times New Roman"/>
              </a:rPr>
              <a:t>***</a:t>
            </a:r>
            <a:r>
              <a:rPr lang="en-US" altLang="zh-CN" sz="3600" b="1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3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600" b="1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3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600" b="1" dirty="0">
                <a:solidFill>
                  <a:srgbClr val="000000"/>
                </a:solidFill>
                <a:latin typeface="Times New Roman"/>
                <a:ea typeface="Times New Roman"/>
              </a:rPr>
              <a:t>BEST</a:t>
            </a:r>
            <a:r>
              <a:rPr lang="en-US" altLang="zh-CN" sz="4800" b="1" dirty="0">
                <a:solidFill>
                  <a:srgbClr val="000000"/>
                </a:solidFill>
                <a:latin typeface="Times New Roman"/>
                <a:ea typeface="Times New Roman"/>
              </a:rPr>
              <a:t>***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525"/>
              </a:lnSpc>
            </a:pPr>
            <a:endParaRPr lang="en-US" dirty="0"/>
          </a:p>
          <a:p>
            <a:pPr marL="0" indent="3275660">
              <a:lnSpc>
                <a:spcPct val="100000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Prepared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spc="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By</a:t>
            </a:r>
          </a:p>
          <a:p>
            <a:pPr>
              <a:lnSpc>
                <a:spcPts val="1235"/>
              </a:lnSpc>
            </a:pPr>
            <a:endParaRPr lang="en-US" dirty="0"/>
          </a:p>
          <a:p>
            <a:pPr marL="0" indent="2795346">
              <a:lnSpc>
                <a:spcPct val="10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Times New Roman"/>
              </a:rPr>
              <a:t>L.SUDHAKAR</a:t>
            </a:r>
            <a:r>
              <a:rPr lang="en-US" altLang="zh-CN" sz="20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M.C.A</a:t>
            </a:r>
          </a:p>
          <a:p>
            <a:pPr marL="0" indent="2286330">
              <a:lnSpc>
                <a:spcPct val="100000"/>
              </a:lnSpc>
              <a:spcBef>
                <a:spcPts val="250"/>
              </a:spcBef>
            </a:pP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Times New Roman"/>
              </a:rPr>
              <a:t>(MICROSOFT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Times New Roman"/>
              </a:rPr>
              <a:t>DEVELOPER)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9421</TotalTime>
  <Words>22266</Words>
  <Application>Microsoft Office PowerPoint</Application>
  <PresentationFormat>Custom</PresentationFormat>
  <Paragraphs>3132</Paragraphs>
  <Slides>100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8" baseType="lpstr">
      <vt:lpstr>Arial</vt:lpstr>
      <vt:lpstr>Calibri</vt:lpstr>
      <vt:lpstr>Courier New</vt:lpstr>
      <vt:lpstr>Symbol</vt:lpstr>
      <vt:lpstr>Times New Roman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Mallela Nagababu</dc:creator>
  <cp:lastModifiedBy>Mallela, Nagababu</cp:lastModifiedBy>
  <cp:revision>1</cp:revision>
  <dcterms:created xsi:type="dcterms:W3CDTF">2011-01-21T15:00:27Z</dcterms:created>
  <dcterms:modified xsi:type="dcterms:W3CDTF">2023-12-01T18:20:24Z</dcterms:modified>
</cp:coreProperties>
</file>